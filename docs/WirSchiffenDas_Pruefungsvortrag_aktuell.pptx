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93bdc67b01410e" /><Relationship Type="http://schemas.openxmlformats.org/officeDocument/2006/relationships/extended-properties" Target="/docProps/app.xml" Id="Re3715eb3249a41c6" /><Relationship Type="http://schemas.openxmlformats.org/officeDocument/2006/relationships/officeDocument" Target="/ppt/presentation.xml" Id="R1fc82c21c5404837" /></Relationships>
</file>

<file path=ppt/presentation.xml><?xml version="1.0" encoding="utf-8"?>
<p:presentation xmlns:p="http://schemas.openxmlformats.org/presentationml/2006/main">
  <p:sldMasterIdLst>
    <p:sldMasterId xmlns:r="http://schemas.openxmlformats.org/officeDocument/2006/relationships" id="2147483648" r:id="R2a78cf70837c4db3"/>
  </p:sldMasterIdLst>
  <p:notesMasterIdLst>
    <p:notesMasterId xmlns:r="http://schemas.openxmlformats.org/officeDocument/2006/relationships" r:id="R882e85b0620d4a79"/>
  </p:notesMasterIdLst>
  <p:sldIdLst>
    <p:sldId xmlns:r="http://schemas.openxmlformats.org/officeDocument/2006/relationships" id="256" r:id="R360f65bb0120412a"/>
    <p:sldId xmlns:r="http://schemas.openxmlformats.org/officeDocument/2006/relationships" id="257" r:id="R6f2b9f2f8c4c44de"/>
    <p:sldId xmlns:r="http://schemas.openxmlformats.org/officeDocument/2006/relationships" id="258" r:id="R99ba4a4274ab4a7f"/>
    <p:sldId xmlns:r="http://schemas.openxmlformats.org/officeDocument/2006/relationships" id="259" r:id="R4bbff63055bd4f4d"/>
    <p:sldId xmlns:r="http://schemas.openxmlformats.org/officeDocument/2006/relationships" id="260" r:id="Rb8d79cf5e4e94158"/>
    <p:sldId xmlns:r="http://schemas.openxmlformats.org/officeDocument/2006/relationships" id="261" r:id="R664890493b8c4138"/>
    <p:sldId xmlns:r="http://schemas.openxmlformats.org/officeDocument/2006/relationships" id="262" r:id="R120ed6bb1a9c44cb"/>
    <p:sldId xmlns:r="http://schemas.openxmlformats.org/officeDocument/2006/relationships" id="263" r:id="Rae2e9c8f824e4f7e"/>
    <p:sldId xmlns:r="http://schemas.openxmlformats.org/officeDocument/2006/relationships" id="264" r:id="R0752f622b9bd403d"/>
    <p:sldId xmlns:r="http://schemas.openxmlformats.org/officeDocument/2006/relationships" id="265" r:id="Rd2a915c577b84bba"/>
    <p:sldId xmlns:r="http://schemas.openxmlformats.org/officeDocument/2006/relationships" id="266" r:id="Ra7b4ce78a60346d1"/>
    <p:sldId xmlns:r="http://schemas.openxmlformats.org/officeDocument/2006/relationships" id="267" r:id="R8e6b5645e8514c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f65b3af30d5421f" /><Relationship Type="http://schemas.openxmlformats.org/officeDocument/2006/relationships/slideMaster" Target="/ppt/slideMasters/slideMaster1.xml" Id="R2a78cf70837c4db3" /><Relationship Type="http://schemas.openxmlformats.org/officeDocument/2006/relationships/notesMaster" Target="/ppt/notesMasters/notesMaster1.xml" Id="R882e85b0620d4a79" /><Relationship Type="http://schemas.openxmlformats.org/officeDocument/2006/relationships/presProps" Target="/ppt/presProps.xml" Id="R020e1260201f4add" /><Relationship Type="http://schemas.openxmlformats.org/officeDocument/2006/relationships/viewProps" Target="/ppt/viewProps.xml" Id="R0dd6c592548e41b3" /><Relationship Type="http://schemas.openxmlformats.org/officeDocument/2006/relationships/tableStyles" Target="/ppt/tableStyles.xml" Id="R38cbc0e8079f419b" /><Relationship Type="http://schemas.openxmlformats.org/officeDocument/2006/relationships/slide" Target="/ppt/slides/slide1.xml" Id="R360f65bb0120412a" /><Relationship Type="http://schemas.openxmlformats.org/officeDocument/2006/relationships/slide" Target="/ppt/slides/slide2.xml" Id="R6f2b9f2f8c4c44de" /><Relationship Type="http://schemas.openxmlformats.org/officeDocument/2006/relationships/slide" Target="/ppt/slides/slide3.xml" Id="R99ba4a4274ab4a7f" /><Relationship Type="http://schemas.openxmlformats.org/officeDocument/2006/relationships/slide" Target="/ppt/slides/slide4.xml" Id="R4bbff63055bd4f4d" /><Relationship Type="http://schemas.openxmlformats.org/officeDocument/2006/relationships/slide" Target="/ppt/slides/slide5.xml" Id="Rb8d79cf5e4e94158" /><Relationship Type="http://schemas.openxmlformats.org/officeDocument/2006/relationships/slide" Target="/ppt/slides/slide6.xml" Id="R664890493b8c4138" /><Relationship Type="http://schemas.openxmlformats.org/officeDocument/2006/relationships/slide" Target="/ppt/slides/slide7.xml" Id="R120ed6bb1a9c44cb" /><Relationship Type="http://schemas.openxmlformats.org/officeDocument/2006/relationships/slide" Target="/ppt/slides/slide8.xml" Id="Rae2e9c8f824e4f7e" /><Relationship Type="http://schemas.openxmlformats.org/officeDocument/2006/relationships/slide" Target="/ppt/slides/slide9.xml" Id="R0752f622b9bd403d" /><Relationship Type="http://schemas.openxmlformats.org/officeDocument/2006/relationships/slide" Target="/ppt/slides/slide10.xml" Id="Rd2a915c577b84bba" /><Relationship Type="http://schemas.openxmlformats.org/officeDocument/2006/relationships/slide" Target="/ppt/slides/slide11.xml" Id="Ra7b4ce78a60346d1" /><Relationship Type="http://schemas.openxmlformats.org/officeDocument/2006/relationships/slide" Target="/ppt/slides/slide12.xml" Id="R8e6b5645e8514c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1cd1713f3948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1dea37c6874370" /><Relationship Type="http://schemas.openxmlformats.org/officeDocument/2006/relationships/notesMaster" Target="/ppt/notesMasters/notesMaster1.xml" Id="R76b2d48accfb44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0ebbb4235144c4" /><Relationship Type="http://schemas.openxmlformats.org/officeDocument/2006/relationships/notesMaster" Target="/ppt/notesMasters/notesMaster1.xml" Id="R9a4d3a14a1044d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d6953c921d4a32" /><Relationship Type="http://schemas.openxmlformats.org/officeDocument/2006/relationships/notesMaster" Target="/ppt/notesMasters/notesMaster1.xml" Id="Rc7351940b86643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e77ca28cdd4537" /><Relationship Type="http://schemas.openxmlformats.org/officeDocument/2006/relationships/notesMaster" Target="/ppt/notesMasters/notesMaster1.xml" Id="R81fd5aeb58cd4f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a0bbc8b8c74d68" /><Relationship Type="http://schemas.openxmlformats.org/officeDocument/2006/relationships/notesMaster" Target="/ppt/notesMasters/notesMaster1.xml" Id="R3935ff8af8e44c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87feccb0214f5b" /><Relationship Type="http://schemas.openxmlformats.org/officeDocument/2006/relationships/notesMaster" Target="/ppt/notesMasters/notesMaster1.xml" Id="Rad92f4a7e2f943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83a3e281ae473d" /><Relationship Type="http://schemas.openxmlformats.org/officeDocument/2006/relationships/notesMaster" Target="/ppt/notesMasters/notesMaster1.xml" Id="R955199a843b742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b284212cd04b30" /><Relationship Type="http://schemas.openxmlformats.org/officeDocument/2006/relationships/notesMaster" Target="/ppt/notesMasters/notesMaster1.xml" Id="R8c127b1dadf74e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6cc3f9b465474a" /><Relationship Type="http://schemas.openxmlformats.org/officeDocument/2006/relationships/notesMaster" Target="/ppt/notesMasters/notesMaster1.xml" Id="Rfdd7f664fa544d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f77039f4394ae3" /><Relationship Type="http://schemas.openxmlformats.org/officeDocument/2006/relationships/notesMaster" Target="/ppt/notesMasters/notesMaster1.xml" Id="R48b970aac6554c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6664c18b824911" /><Relationship Type="http://schemas.openxmlformats.org/officeDocument/2006/relationships/notesMaster" Target="/ppt/notesMasters/notesMaster1.xml" Id="Rb4ea90b2036648f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003e07eda7c4b24" /><Relationship Type="http://schemas.openxmlformats.org/officeDocument/2006/relationships/notesMaster" Target="/ppt/notesMasters/notesMaster1.xml" Id="Rbe52a0940d5743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Einstieg, etwa 20 Sekunden. Ich zeige, wie der Prototyp eine Qualitätsanalyse fachlich zerlegt und mit Ausfällen umgeht. Die Algorithmen simulieren Validierungen. Sie führen keine echte Motorenberechnung aus.</a:t>
            </a:r>
          </a:p>
          <a:p xmlns:a="http://schemas.openxmlformats.org/drawingml/2006/main">
            <a:r>
              <a:t/>
            </a:r>
          </a:p>
          <a:p xmlns:a="http://schemas.openxmlformats.org/drawingml/2006/main">
            <a:r>
              <a:t>Quellen: Übung 8, Infos Semesterprojekt (13.07.2026), S. 1–3. Übung 5, Prototyp für WirSchiffenDas, S. 1–3. Übung 4, Modellierung Anforderungen. Case Study Baustein-Sicht WirSchiffenDas v3.0. Lokale Quellen im SEKA-Ordner. Implementierungsbelege: services/analysis-management-service, services/fluid-analysis-service, services/thermal-analysis-service, services/electrical-analysis-service, services/engine-management-analysis-service, frontend/src/App.tsx, docker-compose.yml.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Etwa 50 Sekunden. Die Architektur adressiert den Analysebereich der Fallstudie. Sie bildet nicht die gesamte Auftragsabwicklung ab. Fünf modellierte Equipment-Felder verteilen sich auf vier Worker: Öl und Kraftstoff in Fluid, Kühlung in Thermal, Elektrik in Electrical und Motorsteuerung in Engine Management. Die Oberfläche gehört zum tatsächlichen Umfang. Kafka ist für diese gewählte Umsetzung nicht nötig.</a:t>
            </a:r>
          </a:p>
          <a:p xmlns:a="http://schemas.openxmlformats.org/drawingml/2006/main">
            <a:r>
              <a:t/>
            </a:r>
          </a:p>
          <a:p xmlns:a="http://schemas.openxmlformats.org/drawingml/2006/main">
            <a:r>
              <a:t>Quellen: Übung 8, Infos Semesterprojekt (13.07.2026), S. 1–3. Übung 5, Prototyp für WirSchiffenDas, S. 1–3. Übung 4, Modellierung Anforderungen. Case Study Baustein-Sicht WirSchiffenDas v3.0. Lokale Quellen im SEKA-Ordner. Implementierungsbelege: services/analysis-management-service, services/fluid-analysis-service, services/thermal-analysis-service, services/electrical-analysis-service, services/engine-management-analysis-service, frontend/src/App.tsx, docker-compose.yml.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Etwa 35 Sekunden. In der Kontextsicht bleibt das System eine Blackbox. Der Berechnungsingenieur arbeitet über den Browser. Entwickler und Testskripte nutzen die REST-Schnittstellen. Die weiteren Fachsysteme der Fallstudie sind noch nicht angebunden. Das Browserprogramm ist hier ein Zugangskanal, keine zusätzliche fachliche Domäne.</a:t>
            </a:r>
          </a:p>
          <a:p xmlns:a="http://schemas.openxmlformats.org/drawingml/2006/main">
            <a:r>
              <a:t/>
            </a:r>
          </a:p>
          <a:p xmlns:a="http://schemas.openxmlformats.org/drawingml/2006/main">
            <a:r>
              <a:t>Quellen: Übung 8, Infos Semesterprojekt (13.07.2026), S. 1–3. Übung 5, Prototyp für WirSchiffenDas, S. 1–3. Übung 4, Modellierung Anforderungen. Case Study Baustein-Sicht WirSchiffenDas v3.0. Lokale Quellen im SEKA-Ordner. Implementierungsbelege: services/analysis-management-service, services/fluid-analysis-service, services/thermal-analysis-service, services/electrical-analysis-service, services/engine-management-analysis-service, frontend/src/App.tsx, docker-compose.yml.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Etwa 50 Sekunden. Blau kennzeichnet Aufrufe, Grün die Status- und Ergebnismeldungen. Die React-Oberfläche greift über Nginx auf die APIs zu. Configuration besitzt die Konfigurationsdaten. Analysis Management besitzt Laufzustände und Ergebnisse. Management lädt die Konfiguration, startet Fluid oder den gewählten Retry-Schritt. Die Vorwärtsfolge selbst liegt bei den Workern. Die gebündelte grüne Linie fasst vier Callback-Schnittstellen zusammen. Sie ist keine gemeinsame Datenbank. Konfiguration ist nach dem Anlegen unveränderlich.</a:t>
            </a:r>
          </a:p>
          <a:p xmlns:a="http://schemas.openxmlformats.org/drawingml/2006/main">
            <a:r>
              <a:t/>
            </a:r>
          </a:p>
          <a:p xmlns:a="http://schemas.openxmlformats.org/drawingml/2006/main">
            <a:r>
              <a:t>Quellen: Übung 8, Infos Semesterprojekt (13.07.2026), S. 1–3. Übung 5, Prototyp für WirSchiffenDas, S. 1–3. Übung 4, Modellierung Anforderungen. Case Study Baustein-Sicht WirSchiffenDas v3.0. Lokale Quellen im SEKA-Ordner. Implementierungsbelege: services/analysis-management-service, services/fluid-analysis-service, services/thermal-analysis-service, services/electrical-analysis-service, services/engine-management-analysis-service, frontend/src/App.tsx, docker-compose.yml.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Etwa 55 Sekunden. Das Sequenzdiagramm fasst Rückmeldungen zusammen, damit der Ablauf lesbar bleibt. Der Start liefert HTTP 202 mit Analyse-ID. Das bedeutet Annahme des Gesamtauftrags, nicht fachlichen Erfolg. Die Worker arbeiten asynchron. Ihre HTTP-Aufrufe sind einzeln synchron und zeitlich begrenzt. Fluid liefert beide Equipment-Ergebnisse, dann startet es Thermal. Thermal und Electrical melden ebenfalls Status und Ergebnis, bevor sie weitergeben. Engine Management verlangt genau je ein OK von Fluid, Thermal und Electrical. Die UI fragt den Fortschritt wiederholt ab. Für die vollständige Sequenz einschließlich Konfigurationsabfrage und aller Callbacks siehe docs/diagrams/runtime.puml.</a:t>
            </a:r>
          </a:p>
          <a:p xmlns:a="http://schemas.openxmlformats.org/drawingml/2006/main">
            <a:r>
              <a:t/>
            </a:r>
          </a:p>
          <a:p xmlns:a="http://schemas.openxmlformats.org/drawingml/2006/main">
            <a:r>
              <a:t>Quellen: Übung 8, Infos Semesterprojekt (13.07.2026), S. 1–3. Übung 5, Prototyp für WirSchiffenDas, S. 1–3. Übung 4, Modellierung Anforderungen. Case Study Baustein-Sicht WirSchiffenDas v3.0. Lokale Quellen im SEKA-Ordner. Implementierungsbelege: services/analysis-management-service, services/fluid-analysis-service, services/thermal-analysis-service, services/electrical-analysis-service, services/engine-management-analysis-service, frontend/src/App.tsx, docker-compose.yml.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Etwa 45 Sekunden. Die Knoten zeigen die physische Verteilung auf einem Rechner. Nginx liefert React aus und vermittelt die API-Aufrufe. Sechs Java-Prozesse laufen in getrennten Containern. Die beiden H2-Dateidatenbanken liegen auf unterschiedlichen Docker-Volumes. Worker-Zustand ist nur lokal im Prozess. Docker Compose startet aus lokalen Quellen. Die Readiness-Prüfung des Prozesses ist getrennt vom Circuit-Breaker-Zustand. Dieses Deployment beweist weder Hochverfügbarkeit noch horizontale Skalierbarkeit. Die Portnotation bei Nginx zeigt Hostport 3000 auf Containerport 80.</a:t>
            </a:r>
          </a:p>
          <a:p xmlns:a="http://schemas.openxmlformats.org/drawingml/2006/main">
            <a:r>
              <a:t/>
            </a:r>
          </a:p>
          <a:p xmlns:a="http://schemas.openxmlformats.org/drawingml/2006/main">
            <a:r>
              <a:t>Quellen: Übung 8, Infos Semesterprojekt (13.07.2026), S. 1–3. Übung 5, Prototyp für WirSchiffenDas, S. 1–3. Übung 4, Modellierung Anforderungen. Case Study Baustein-Sicht WirSchiffenDas v3.0. Lokale Quellen im SEKA-Ordner. Implementierungsbelege: services/analysis-management-service, services/fluid-analysis-service, services/thermal-analysis-service, services/electrical-analysis-service, services/engine-management-analysis-service, frontend/src/App.tsx, docker-compose.yml.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Etwa 60 Sekunden. Das ist eine fachliche Entwurfsentscheidung, keine Behauptung, dass mehr Services immer besser sind. Die Übung motiviert eine Choreographie. Ein Orchestrator wäre für komplexe Verzweigungen eine sinnvolle Alternative, würde hier aber die gewählte Aufgabeninterpretation ändern. Die beiden zustandsbehafteten Services besitzen lokale Domänenmodelle und separate Persistenz. Die Analyse-Worker sind fachlich abgegrenzt, aber ihre kleinen Simulationsmodelle rechtfertigen keine vollständige taktische DDD-Modellierung. Es gibt keine gemeinsame Domänenbibliothek, trotzdem erzeugen identische JSON-Verträge fachliche Kopplung. Die Context Map in docs/ddd.md bewertet diese Beziehungen ausdrücklich. Literatur: Schirgi &amp; Brenner (2021), Quality Assurance for Microservice Architectures, Abschnitte IV.A und IV.B. Literaturbestand: https://git.fslab.de/salda2m/ooka (papers). Vorlesung Kapitel 3, vier Architektursichten. </a:t>
            </a:r>
          </a:p>
          <a:p xmlns:a="http://schemas.openxmlformats.org/drawingml/2006/main">
            <a:r>
              <a:t/>
            </a:r>
          </a:p>
          <a:p xmlns:a="http://schemas.openxmlformats.org/drawingml/2006/main">
            <a:r>
              <a:t>Quellen: Übung 8, Infos Semesterprojekt (13.07.2026), S. 1–3. Übung 5, Prototyp für WirSchiffenDas, S. 1–3. Übung 4, Modellierung Anforderungen. Case Study Baustein-Sicht WirSchiffenDas v3.0. Lokale Quellen im SEKA-Ordner. Implementierungsbelege: services/analysis-management-service, services/fluid-analysis-service, services/thermal-analysis-service, services/electrical-analysis-service, services/engine-management-analysis-service, frontend/src/App.tsx, docker-compose.yml.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Etwa 65 Sekunden. Der Unterschied zwischen Ablehnung und unbekanntem Ausgang verhindert falsche terminale Fehler. Ein Read-Timeout beweist nicht, dass der Empfänger den Auftrag verworfen hat. Deshalb wartet Management auf eine Rückmeldung oder den Inaktivitäts-Watchdog. Standardwerte: HTTP Connect 2 Sekunden, Read 5 Sekunden, Inaktivität 30 Sekunden. Callback-Zustellung versucht bis zu drei Übertragungen. Management sperrt Laufänderungen in kurzen Datenbanktransaktionen und verwirft alte Versuch-IDs. Worker deduplizieren lokal. Das liefert keine Exactly-once-Zusage. Ein Broker mit Outbox und dauerhafter Inbox wäre ein anderer Aufwand und bleibt eine begründete Weiterentwicklung. Literatur: Schirgi &amp; Brenner (2021), Quality Assurance for Microservice Architectures, Abschnitte IV.A und IV.B. Literaturbestand: https://git.fslab.de/salda2m/ooka (papers). Vorlesung Kapitel 3, vier Architektursichten. </a:t>
            </a:r>
          </a:p>
          <a:p xmlns:a="http://schemas.openxmlformats.org/drawingml/2006/main">
            <a:r>
              <a:t/>
            </a:r>
          </a:p>
          <a:p xmlns:a="http://schemas.openxmlformats.org/drawingml/2006/main">
            <a:r>
              <a:t>Quellen: Übung 8, Infos Semesterprojekt (13.07.2026), S. 1–3. Übung 5, Prototyp für WirSchiffenDas, S. 1–3. Übung 4, Modellierung Anforderungen. Case Study Baustein-Sicht WirSchiffenDas v3.0. Lokale Quellen im SEKA-Ordner. Implementierungsbelege: services/analysis-management-service, services/fluid-analysis-service, services/thermal-analysis-service, services/electrical-analysis-service, services/engine-management-analysis-service, frontend/src/App.tsx, docker-compose.yml.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Etwa 75 Sekunden. Im Editor nur diese drei Stellen zeigen und wieder zu den Folien zurückkehren. 1: services/fluid-analysis-service/src/main/java/de/hbrs/seka/wirschiffendas/fluid/application/AnalysisWorker.java, execute, insbesondere die Equipment-Schleife und reportResult. 2: services/analysis-management-service/src/main/java/de/hbrs/seka/wirschiffendas/analysismanagement/domain/AnalysisRun.java, updateResult und retry, sowie AlgorithmExecution.complete für Vollständigkeit. 3: services/fluid-analysis-service/src/main/java/de/hbrs/seka/wirschiffendas/fluid/infrastructure/NextServiceClient.java, startNext und fallback. Keine langen Dateien vorlesen. Als Kernaussage erklären, warum Öl FAILED und Kraftstoff OK gleichzeitig möglich sind und warum ein alter Callback einen Retry nicht überschreiben darf.</a:t>
            </a:r>
          </a:p>
          <a:p xmlns:a="http://schemas.openxmlformats.org/drawingml/2006/main">
            <a:r>
              <a:t/>
            </a:r>
          </a:p>
          <a:p xmlns:a="http://schemas.openxmlformats.org/drawingml/2006/main">
            <a:r>
              <a:t>Quellen: Übung 8, Infos Semesterprojekt (13.07.2026), S. 1–3. Übung 5, Prototyp für WirSchiffenDas, S. 1–3. Übung 4, Modellierung Anforderungen. Case Study Baustein-Sicht WirSchiffenDas v3.0. Lokale Quellen im SEKA-Ordner. Implementierungsbelege: services/analysis-management-service, services/fluid-analysis-service, services/thermal-analysis-service, services/electrical-analysis-service, services/engine-management-analysis-service, frontend/src/App.tsx, docker-compose.yml.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Etwa 140 Sekunden mit vorbereiteter Oberfläche und zweitem Terminal. 1: Demo gültige Konfiguration wählen, speichern, Analyse starten, vollständige Ergebnisse zeigen. 2: Demo ungültiges Ölsystem wählen, neu speichern und starten. Öl FAILED und Kraftstoff OK zeigen. 3: Thermal mit docker compose stop thermal-analysis-service stoppen. Wieder eine gültige Konfiguration laden oder speichern und neue Analyse starten. Bei Fluid den Breaker nextService zeigen. Erreichbarkeit und Breakerzustand sind verschiedene Informationen. 4: Thermal wieder starten und Readiness abwarten. Thermal-Retry nutzt den eigenen Management-Breaker startThermal. Er schließt den Fluid-Breaker nicht. Nach dessen Wartezeit (10 Sekunden) einen neuen vollständigen Lauf starten, der die ursprüngliche Fluid-Thermal-Kante tatsächlich probeweise aufruft und bei Erfolg schließt. Auf ausgefallene Infrastruktur vorbereiten: PDF und vorher aufgezeichnete Lauf-IDs bereithalten, keine Testerfolge erfinden.</a:t>
            </a:r>
          </a:p>
          <a:p xmlns:a="http://schemas.openxmlformats.org/drawingml/2006/main">
            <a:r>
              <a:t/>
            </a:r>
          </a:p>
          <a:p xmlns:a="http://schemas.openxmlformats.org/drawingml/2006/main">
            <a:r>
              <a:t>Quellen: Übung 8, Infos Semesterprojekt (13.07.2026), S. 1–3. Übung 5, Prototyp für WirSchiffenDas, S. 1–3. Übung 4, Modellierung Anforderungen. Case Study Baustein-Sicht WirSchiffenDas v3.0. Lokale Quellen im SEKA-Ordner. Implementierungsbelege: services/analysis-management-service, services/fluid-analysis-service, services/thermal-analysis-service, services/electrical-analysis-service, services/engine-management-analysis-service, frontend/src/App.tsx, docker-compose.yml.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Etwa 50 Sekunden. Schirgi und Brenner liefern ein Raster für Architekturprobleme. Ich bewerte jeden Eintrag auf seine Relevanz und priorisiere konkrete Risiken. Shared Persistence ist hier durch getrennte Datenhoheit adressiert. Zeitgrenzen und Circuit Breaker behandeln unterschiedliche Fehlermechanismen. Monitoring ist nur begrenzt vorhanden. Ein fehlendes API-Gateway ist im kleinen Prototyp nicht automatisch ein Fehler, denn Nginx ist ein technischer Einstieg, keine vollständige API-Management-Lösung. Die genannten Testkategorien sind im Projekt vorhanden. Aktuelle Ausführungsnachweise stehen in docs/testing.md, auf der Folie stehen bewusst keine flüchtigen Testzahlen. Literatur: Schirgi &amp; Brenner (2021), Quality Assurance for Microservice Architectures, Abschnitte IV.A und IV.B. Literaturbestand: https://git.fslab.de/salda2m/ooka (papers). Vorlesung Kapitel 3, vier Architektursichten. </a:t>
            </a:r>
          </a:p>
          <a:p xmlns:a="http://schemas.openxmlformats.org/drawingml/2006/main">
            <a:r>
              <a:t/>
            </a:r>
          </a:p>
          <a:p xmlns:a="http://schemas.openxmlformats.org/drawingml/2006/main">
            <a:r>
              <a:t>Quellen: Übung 8, Infos Semesterprojekt (13.07.2026), S. 1–3. Übung 5, Prototyp für WirSchiffenDas, S. 1–3. Übung 4, Modellierung Anforderungen. Case Study Baustein-Sicht WirSchiffenDas v3.0. Lokale Quellen im SEKA-Ordner. Implementierungsbelege: services/analysis-management-service, services/fluid-analysis-service, services/thermal-analysis-service, services/electrical-analysis-service, services/engine-management-analysis-service, frontend/src/App.tsx, docker-compose.yml. Literatur: Schirgi &amp; Brenner (2021), Quality Assurance for Microservice Architectures, Abschnitte IV.A und IV.B. Literaturbestand: https://git.fslab.de/salda2m/ooka (papers). Vorlesung Kapitel 3, vier Architektursichten.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Etwa 45 Sekunden. Die wichtigste Erkenntnis ist, dass Verteilung zusätzliche Zustands- und Übertragungsprobleme erzeugt. Der Prototyp macht diese Entscheidungen sichtbar. Seine Grenzen bleiben bewusst konkret: Die Prüfungen simulieren fachliche Validierung, Worker verlieren ihre lokale Deduplizierung beim Neustart und der lokale Docker-Host ist kein hochverfügbares System. Eine spätere Ausbaustufe würde dauerhafte Nachrichtenübermittlung sowie korrelierte Logs und Tracing priorisieren. Danke, anschließend Fragen.</a:t>
            </a:r>
          </a:p>
          <a:p xmlns:a="http://schemas.openxmlformats.org/drawingml/2006/main">
            <a:r>
              <a:t/>
            </a:r>
          </a:p>
          <a:p xmlns:a="http://schemas.openxmlformats.org/drawingml/2006/main">
            <a:r>
              <a:t>Quellen: Übung 8, Infos Semesterprojekt (13.07.2026), S. 1–3. Übung 5, Prototyp für WirSchiffenDas, S. 1–3. Übung 4, Modellierung Anforderungen. Case Study Baustein-Sicht WirSchiffenDas v3.0. Lokale Quellen im SEKA-Ordner. Implementierungsbelege: services/analysis-management-service, services/fluid-analysis-service, services/thermal-analysis-service, services/electrical-analysis-service, services/engine-management-analysis-service, frontend/src/App.tsx, docker-compose.yml.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68e808363a45e5"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a4e52915c645e9" /><Relationship Type="http://schemas.openxmlformats.org/officeDocument/2006/relationships/slideLayout" Target="/ppt/slideLayouts/slideLayout1.xml" Id="R8aa323ae95494aa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a323ae95494aac"/>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a8e8920b2b49f4" /><Relationship Type="http://schemas.openxmlformats.org/officeDocument/2006/relationships/notesSlide" Target="/ppt/notesSlides/notesSlide1.xml" Id="Rc3a031befdff42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9a1c151873148f0" /><Relationship Type="http://schemas.openxmlformats.org/officeDocument/2006/relationships/notesSlide" Target="/ppt/notesSlides/notesSlide2.xml" Id="R467756abadb446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453b3ba5b64686" /><Relationship Type="http://schemas.openxmlformats.org/officeDocument/2006/relationships/notesSlide" Target="/ppt/notesSlides/notesSlide3.xml" Id="R864ac77061d447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ad6904ebff4de3" /><Relationship Type="http://schemas.openxmlformats.org/officeDocument/2006/relationships/notesSlide" Target="/ppt/notesSlides/notesSlide4.xml" Id="R63384e9dc09a4b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a1e4ad0d424c23" /><Relationship Type="http://schemas.openxmlformats.org/officeDocument/2006/relationships/notesSlide" Target="/ppt/notesSlides/notesSlide5.xml" Id="R7cf655f521ef49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6c81e87227a494d" /><Relationship Type="http://schemas.openxmlformats.org/officeDocument/2006/relationships/notesSlide" Target="/ppt/notesSlides/notesSlide6.xml" Id="R8069315d16174c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583769e1bab4439" /><Relationship Type="http://schemas.openxmlformats.org/officeDocument/2006/relationships/notesSlide" Target="/ppt/notesSlides/notesSlide7.xml" Id="Rd93e9d0be3744f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cb5c7aac27496b" /><Relationship Type="http://schemas.openxmlformats.org/officeDocument/2006/relationships/notesSlide" Target="/ppt/notesSlides/notesSlide8.xml" Id="R66f47b1c9e3149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02ccdf989934877" /><Relationship Type="http://schemas.openxmlformats.org/officeDocument/2006/relationships/notesSlide" Target="/ppt/notesSlides/notesSlide9.xml" Id="R059b5ff6f74c4c7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fad653ee87a416b" /><Relationship Type="http://schemas.openxmlformats.org/officeDocument/2006/relationships/notesSlide" Target="/ppt/notesSlides/notesSlide10.xml" Id="R5cbd7f0e7aea4c6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1976163e98441c3" /><Relationship Type="http://schemas.openxmlformats.org/officeDocument/2006/relationships/notesSlide" Target="/ppt/notesSlides/notesSlide11.xml" Id="Rb87221f2086948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ff6c96393ff4db6" /><Relationship Type="http://schemas.openxmlformats.org/officeDocument/2006/relationships/notesSlide" Target="/ppt/notesSlides/notesSlide12.xml" Id="R96f30589064a4f85"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923B8AE-AE45-4C9D-B067-91E88CC437CC}"/>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246BFE"/>
          </a:solidFill>
          <a:ln xmlns:a="http://schemas.openxmlformats.org/drawingml/2006/main" w="12700">
            <a:solidFill>
              <a:srgbClr val="246BFE">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WirSchiffenDas">
            <a:extLst xmlns:a="http://schemas.openxmlformats.org/drawingml/2006/main">
              <a:ext uri="{FF2B5EF4-FFF2-40B4-BE49-F238E27FC236}">
                <a16:creationId xmlns:a16="http://schemas.microsoft.com/office/drawing/2014/main" id="{06047C81-ECC4-46EC-9AC9-51275DB96822}"/>
              </a:ext>
            </a:extLst>
          </p:cNvPr>
          <p:cNvSpPr>
            <a:spLocks xmlns:a="http://schemas.openxmlformats.org/drawingml/2006/main" noGrp="1"/>
          </p:cNvSpPr>
          <p:nvPr/>
        </p:nvSpPr>
        <p:spPr>
          <a:xfrm xmlns:a="http://schemas.openxmlformats.org/drawingml/2006/main">
            <a:off x="514350" y="3429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2440"/>
                </a:solidFill>
                <a:latin typeface="Aptos"/>
                <a:ea typeface="Aptos"/>
                <a:cs typeface="Aptos"/>
              </a:defRPr>
            </a:pPr>
            <a:r>
              <a:rPr sz="3000" b="1">
                <a:solidFill>
                  <a:srgbClr val="172440"/>
                </a:solidFill>
                <a:latin typeface="Aptos"/>
                <a:ea typeface="Aptos"/>
                <a:cs typeface="Aptos"/>
              </a:rPr>
              <a:t>WirSchiffenDas</a:t>
            </a:r>
          </a:p>
        </p:txBody>
      </p:sp>
      <p:sp>
        <p:nvSpPr>
          <p:cNvPr id="4" name="WirSchiffenDas  SEKA">
            <a:extLst xmlns:a="http://schemas.openxmlformats.org/drawingml/2006/main">
              <a:ext uri="{FF2B5EF4-FFF2-40B4-BE49-F238E27FC236}">
                <a16:creationId xmlns:a16="http://schemas.microsoft.com/office/drawing/2014/main" id="{2046E2B7-E346-4192-AD4E-D2BD4D8E347D}"/>
              </a:ext>
            </a:extLst>
          </p:cNvPr>
          <p:cNvSpPr>
            <a:spLocks xmlns:a="http://schemas.openxmlformats.org/drawingml/2006/main" noGrp="1"/>
          </p:cNvSpPr>
          <p:nvPr/>
        </p:nvSpPr>
        <p:spPr>
          <a:xfrm xmlns:a="http://schemas.openxmlformats.org/drawingml/2006/main">
            <a:off x="514350" y="64770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WirSchiffenDas  SEKA</a:t>
            </a:r>
          </a:p>
        </p:txBody>
      </p:sp>
      <p:sp>
        <p:nvSpPr>
          <p:cNvPr id="5" name="1/12">
            <a:extLst xmlns:a="http://schemas.openxmlformats.org/drawingml/2006/main">
              <a:ext uri="{FF2B5EF4-FFF2-40B4-BE49-F238E27FC236}">
                <a16:creationId xmlns:a16="http://schemas.microsoft.com/office/drawing/2014/main" id="{F459F427-1F16-4DD6-BFB6-6CAD6EDDD21D}"/>
              </a:ext>
            </a:extLst>
          </p:cNvPr>
          <p:cNvSpPr>
            <a:spLocks xmlns:a="http://schemas.openxmlformats.org/drawingml/2006/main" noGrp="1"/>
          </p:cNvSpPr>
          <p:nvPr/>
        </p:nvSpPr>
        <p:spPr>
          <a:xfrm xmlns:a="http://schemas.openxmlformats.org/drawingml/2006/main">
            <a:off x="10668000" y="64770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1/12</a:t>
            </a:r>
          </a:p>
        </p:txBody>
      </p:sp>
      <p:sp>
        <p:nvSpPr>
          <p:cNvPr id="6" name="Qualitätsanalyse als">
            <a:extLst xmlns:a="http://schemas.openxmlformats.org/drawingml/2006/main">
              <a:ext uri="{FF2B5EF4-FFF2-40B4-BE49-F238E27FC236}">
                <a16:creationId xmlns:a16="http://schemas.microsoft.com/office/drawing/2014/main" id="{94B6D3CF-D744-4E62-B024-032A69EDD19B}"/>
              </a:ext>
            </a:extLst>
          </p:cNvPr>
          <p:cNvSpPr>
            <a:spLocks xmlns:a="http://schemas.openxmlformats.org/drawingml/2006/main" noGrp="1"/>
          </p:cNvSpPr>
          <p:nvPr/>
        </p:nvSpPr>
        <p:spPr>
          <a:xfrm xmlns:a="http://schemas.openxmlformats.org/drawingml/2006/main">
            <a:off x="666750" y="1619250"/>
            <a:ext cx="10191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2440"/>
                </a:solidFill>
                <a:latin typeface="Aptos"/>
                <a:ea typeface="Aptos"/>
                <a:cs typeface="Aptos"/>
              </a:defRPr>
            </a:pPr>
            <a:r>
              <a:rPr sz="3900" b="1">
                <a:solidFill>
                  <a:srgbClr val="172440"/>
                </a:solidFill>
                <a:latin typeface="Aptos"/>
                <a:ea typeface="Aptos"/>
                <a:cs typeface="Aptos"/>
              </a:rPr>
              <a:t>Qualitätsanalyse als</a:t>
            </a:r>
          </a:p>
          <a:p xmlns:a="http://schemas.openxmlformats.org/drawingml/2006/main">
            <a:pPr algn="l">
              <a:defRPr sz="3900" b="1">
                <a:solidFill>
                  <a:srgbClr val="172440"/>
                </a:solidFill>
                <a:latin typeface="Aptos"/>
                <a:ea typeface="Aptos"/>
                <a:cs typeface="Aptos"/>
              </a:defRPr>
            </a:pPr>
            <a:r>
              <a:rPr sz="3900" b="1">
                <a:solidFill>
                  <a:srgbClr val="172440"/>
                </a:solidFill>
                <a:latin typeface="Aptos"/>
                <a:ea typeface="Aptos"/>
                <a:cs typeface="Aptos"/>
              </a:rPr>
              <a:t>Microservice-Prototyp</a:t>
            </a:r>
          </a:p>
        </p:txBody>
      </p:sp>
      <p:sp>
        <p:nvSpPr>
          <p:cNvPr id="7" name="Vier Analyse-Services prüfen eine Engine-Konfiguration.">
            <a:extLst xmlns:a="http://schemas.openxmlformats.org/drawingml/2006/main">
              <a:ext uri="{FF2B5EF4-FFF2-40B4-BE49-F238E27FC236}">
                <a16:creationId xmlns:a16="http://schemas.microsoft.com/office/drawing/2014/main" id="{ABE995C8-0FDE-4029-8F94-64A2E9889507}"/>
              </a:ext>
            </a:extLst>
          </p:cNvPr>
          <p:cNvSpPr>
            <a:spLocks xmlns:a="http://schemas.openxmlformats.org/drawingml/2006/main" noGrp="1"/>
          </p:cNvSpPr>
          <p:nvPr/>
        </p:nvSpPr>
        <p:spPr>
          <a:xfrm xmlns:a="http://schemas.openxmlformats.org/drawingml/2006/main">
            <a:off x="695325" y="3476625"/>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B82"/>
                </a:solidFill>
                <a:latin typeface="Aptos"/>
                <a:ea typeface="Aptos"/>
                <a:cs typeface="Aptos"/>
              </a:defRPr>
            </a:pPr>
            <a:r>
              <a:rPr sz="2100" b="0">
                <a:solidFill>
                  <a:srgbClr val="5B6B82"/>
                </a:solidFill>
                <a:latin typeface="Aptos"/>
                <a:ea typeface="Aptos"/>
                <a:cs typeface="Aptos"/>
              </a:rPr>
              <a:t>Vier Analyse-Services prüfen eine Engine-Konfiguration.</a:t>
            </a:r>
          </a:p>
          <a:p xmlns:a="http://schemas.openxmlformats.org/drawingml/2006/main">
            <a:pPr algn="l">
              <a:defRPr sz="2100" b="0">
                <a:solidFill>
                  <a:srgbClr val="5B6B82"/>
                </a:solidFill>
                <a:latin typeface="Aptos"/>
                <a:ea typeface="Aptos"/>
                <a:cs typeface="Aptos"/>
              </a:defRPr>
            </a:pPr>
            <a:r>
              <a:rPr sz="2100" b="0">
                <a:solidFill>
                  <a:srgbClr val="5B6B82"/>
                </a:solidFill>
                <a:latin typeface="Aptos"/>
                <a:ea typeface="Aptos"/>
                <a:cs typeface="Aptos"/>
              </a:rPr>
              <a:t>Status, Einzelresultate und Wiederholungen bleiben sichtbar.</a:t>
            </a:r>
          </a:p>
        </p:txBody>
      </p:sp>
      <p:sp>
        <p:nvSpPr>
          <p:cNvPr id="8" name="REST-Choreographie mit Spring Boot, React und Docker Compose">
            <a:extLst xmlns:a="http://schemas.openxmlformats.org/drawingml/2006/main">
              <a:ext uri="{FF2B5EF4-FFF2-40B4-BE49-F238E27FC236}">
                <a16:creationId xmlns:a16="http://schemas.microsoft.com/office/drawing/2014/main" id="{BB6C2D27-CFF4-4758-8FF4-A01DEF80EC42}"/>
              </a:ext>
            </a:extLst>
          </p:cNvPr>
          <p:cNvSpPr>
            <a:spLocks xmlns:a="http://schemas.openxmlformats.org/drawingml/2006/main" noGrp="1"/>
          </p:cNvSpPr>
          <p:nvPr/>
        </p:nvSpPr>
        <p:spPr>
          <a:xfrm xmlns:a="http://schemas.openxmlformats.org/drawingml/2006/main">
            <a:off x="695325" y="514350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6BFF"/>
                </a:solidFill>
                <a:latin typeface="Aptos"/>
                <a:ea typeface="Aptos"/>
                <a:cs typeface="Aptos"/>
              </a:defRPr>
            </a:pPr>
            <a:r>
              <a:rPr sz="1875" b="0">
                <a:solidFill>
                  <a:srgbClr val="246BFF"/>
                </a:solidFill>
                <a:latin typeface="Aptos"/>
                <a:ea typeface="Aptos"/>
                <a:cs typeface="Aptos"/>
              </a:rPr>
              <a:t>REST-Choreographie mit Spring Boot, React und Docker Compose</a:t>
            </a:r>
          </a:p>
        </p:txBody>
      </p:sp>
    </p:spTree>
    <p:extLst>
      <p:ext uri="{BB962C8B-B14F-4D97-AF65-F5344CB8AC3E}">
        <p14:creationId xmlns:p14="http://schemas.microsoft.com/office/powerpoint/2010/main" val="1530874521"/>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BA7ABD8-38A6-44DE-9EAF-5B9BA4C724B3}"/>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246BFE"/>
          </a:solidFill>
          <a:ln xmlns:a="http://schemas.openxmlformats.org/drawingml/2006/main" w="12700">
            <a:solidFill>
              <a:srgbClr val="246BFE">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Fallstudie und Anforderungen">
            <a:extLst xmlns:a="http://schemas.openxmlformats.org/drawingml/2006/main">
              <a:ext uri="{FF2B5EF4-FFF2-40B4-BE49-F238E27FC236}">
                <a16:creationId xmlns:a16="http://schemas.microsoft.com/office/drawing/2014/main" id="{23B4D11B-B9AD-46C5-86E0-3315E41EC56E}"/>
              </a:ext>
            </a:extLst>
          </p:cNvPr>
          <p:cNvSpPr>
            <a:spLocks xmlns:a="http://schemas.openxmlformats.org/drawingml/2006/main" noGrp="1"/>
          </p:cNvSpPr>
          <p:nvPr/>
        </p:nvSpPr>
        <p:spPr>
          <a:xfrm xmlns:a="http://schemas.openxmlformats.org/drawingml/2006/main">
            <a:off x="514350" y="3429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2440"/>
                </a:solidFill>
                <a:latin typeface="Aptos"/>
                <a:ea typeface="Aptos"/>
                <a:cs typeface="Aptos"/>
              </a:defRPr>
            </a:pPr>
            <a:r>
              <a:rPr sz="3000" b="1">
                <a:solidFill>
                  <a:srgbClr val="172440"/>
                </a:solidFill>
                <a:latin typeface="Aptos"/>
                <a:ea typeface="Aptos"/>
                <a:cs typeface="Aptos"/>
              </a:rPr>
              <a:t>Fallstudie und Anforderungen</a:t>
            </a:r>
          </a:p>
        </p:txBody>
      </p:sp>
      <p:sp>
        <p:nvSpPr>
          <p:cNvPr id="4" name="WirSchiffenDas  SEKA">
            <a:extLst xmlns:a="http://schemas.openxmlformats.org/drawingml/2006/main">
              <a:ext uri="{FF2B5EF4-FFF2-40B4-BE49-F238E27FC236}">
                <a16:creationId xmlns:a16="http://schemas.microsoft.com/office/drawing/2014/main" id="{BFBC0C68-D2A5-40AF-90CE-86A72D16FAFD}"/>
              </a:ext>
            </a:extLst>
          </p:cNvPr>
          <p:cNvSpPr>
            <a:spLocks xmlns:a="http://schemas.openxmlformats.org/drawingml/2006/main" noGrp="1"/>
          </p:cNvSpPr>
          <p:nvPr/>
        </p:nvSpPr>
        <p:spPr>
          <a:xfrm xmlns:a="http://schemas.openxmlformats.org/drawingml/2006/main">
            <a:off x="514350" y="64770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WirSchiffenDas  SEKA</a:t>
            </a:r>
          </a:p>
        </p:txBody>
      </p:sp>
      <p:sp>
        <p:nvSpPr>
          <p:cNvPr id="5" name="2/12">
            <a:extLst xmlns:a="http://schemas.openxmlformats.org/drawingml/2006/main">
              <a:ext uri="{FF2B5EF4-FFF2-40B4-BE49-F238E27FC236}">
                <a16:creationId xmlns:a16="http://schemas.microsoft.com/office/drawing/2014/main" id="{F1245EFC-1812-4A98-8651-7C128933759D}"/>
              </a:ext>
            </a:extLst>
          </p:cNvPr>
          <p:cNvSpPr>
            <a:spLocks xmlns:a="http://schemas.openxmlformats.org/drawingml/2006/main" noGrp="1"/>
          </p:cNvSpPr>
          <p:nvPr/>
        </p:nvSpPr>
        <p:spPr>
          <a:xfrm xmlns:a="http://schemas.openxmlformats.org/drawingml/2006/main">
            <a:off x="10668000" y="64770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2/12</a:t>
            </a:r>
          </a:p>
        </p:txBody>
      </p:sp>
      <p:sp>
        <p:nvSpPr>
          <p:cNvPr id="6" name="Ausgangslage">
            <a:extLst xmlns:a="http://schemas.openxmlformats.org/drawingml/2006/main">
              <a:ext uri="{FF2B5EF4-FFF2-40B4-BE49-F238E27FC236}">
                <a16:creationId xmlns:a16="http://schemas.microsoft.com/office/drawing/2014/main" id="{6A9CC913-016F-467D-BABE-DD0502BCA0B0}"/>
              </a:ext>
            </a:extLst>
          </p:cNvPr>
          <p:cNvSpPr>
            <a:spLocks xmlns:a="http://schemas.openxmlformats.org/drawingml/2006/main" noGrp="1"/>
          </p:cNvSpPr>
          <p:nvPr/>
        </p:nvSpPr>
        <p:spPr>
          <a:xfrm xmlns:a="http://schemas.openxmlformats.org/drawingml/2006/main">
            <a:off x="619125" y="1695450"/>
            <a:ext cx="3762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440"/>
                </a:solidFill>
                <a:latin typeface="Aptos"/>
                <a:ea typeface="Aptos"/>
                <a:cs typeface="Aptos"/>
              </a:defRPr>
            </a:pPr>
            <a:r>
              <a:rPr sz="2025" b="1">
                <a:solidFill>
                  <a:srgbClr val="172440"/>
                </a:solidFill>
                <a:latin typeface="Aptos"/>
                <a:ea typeface="Aptos"/>
                <a:cs typeface="Aptos"/>
              </a:rPr>
              <a:t>Ausgangslage</a:t>
            </a:r>
          </a:p>
        </p:txBody>
      </p:sp>
      <p:sp>
        <p:nvSpPr>
          <p:cNvPr id="7" name="Die Fallstudie bündelt Analysen in einer gekoppelten Komponente. Lange">
            <a:extLst xmlns:a="http://schemas.openxmlformats.org/drawingml/2006/main">
              <a:ext uri="{FF2B5EF4-FFF2-40B4-BE49-F238E27FC236}">
                <a16:creationId xmlns:a16="http://schemas.microsoft.com/office/drawing/2014/main" id="{8E469F88-042E-4CFF-82A3-CE4D1321A1CB}"/>
              </a:ext>
            </a:extLst>
          </p:cNvPr>
          <p:cNvSpPr>
            <a:spLocks xmlns:a="http://schemas.openxmlformats.org/drawingml/2006/main" noGrp="1"/>
          </p:cNvSpPr>
          <p:nvPr/>
        </p:nvSpPr>
        <p:spPr>
          <a:xfrm xmlns:a="http://schemas.openxmlformats.org/drawingml/2006/main">
            <a:off x="619125" y="2124075"/>
            <a:ext cx="37623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Die Fallstudie bündelt Analysen in einer gekoppelten Komponente. Lange Läufe und Ausfälle erschweren die Bedienung.</a:t>
            </a:r>
          </a:p>
        </p:txBody>
      </p:sp>
      <p:sp>
        <p:nvSpPr>
          <p:cNvPr id="8" name="Ziel des Prototyps">
            <a:extLst xmlns:a="http://schemas.openxmlformats.org/drawingml/2006/main">
              <a:ext uri="{FF2B5EF4-FFF2-40B4-BE49-F238E27FC236}">
                <a16:creationId xmlns:a16="http://schemas.microsoft.com/office/drawing/2014/main" id="{AFD685B9-B5FD-4790-9EDC-F894D980280A}"/>
              </a:ext>
            </a:extLst>
          </p:cNvPr>
          <p:cNvSpPr>
            <a:spLocks xmlns:a="http://schemas.openxmlformats.org/drawingml/2006/main" noGrp="1"/>
          </p:cNvSpPr>
          <p:nvPr/>
        </p:nvSpPr>
        <p:spPr>
          <a:xfrm xmlns:a="http://schemas.openxmlformats.org/drawingml/2006/main">
            <a:off x="619125" y="38766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46BFF"/>
                </a:solidFill>
                <a:latin typeface="Aptos"/>
                <a:ea typeface="Aptos"/>
                <a:cs typeface="Aptos"/>
              </a:defRPr>
            </a:pPr>
            <a:r>
              <a:rPr sz="2100" b="1">
                <a:solidFill>
                  <a:srgbClr val="246BFF"/>
                </a:solidFill>
                <a:latin typeface="Aptos"/>
                <a:ea typeface="Aptos"/>
                <a:cs typeface="Aptos"/>
              </a:rPr>
              <a:t>Ziel des Prototyps</a:t>
            </a:r>
          </a:p>
        </p:txBody>
      </p:sp>
      <p:sp>
        <p:nvSpPr>
          <p:cNvPr id="9" name="Eigenständige Analyse-Services mit nachvollziehbarem Zustand und kontr">
            <a:extLst xmlns:a="http://schemas.openxmlformats.org/drawingml/2006/main">
              <a:ext uri="{FF2B5EF4-FFF2-40B4-BE49-F238E27FC236}">
                <a16:creationId xmlns:a16="http://schemas.microsoft.com/office/drawing/2014/main" id="{B98903F0-21D5-445F-AEF7-A9444A295C4F}"/>
              </a:ext>
            </a:extLst>
          </p:cNvPr>
          <p:cNvSpPr>
            <a:spLocks xmlns:a="http://schemas.openxmlformats.org/drawingml/2006/main" noGrp="1"/>
          </p:cNvSpPr>
          <p:nvPr/>
        </p:nvSpPr>
        <p:spPr>
          <a:xfrm xmlns:a="http://schemas.openxmlformats.org/drawingml/2006/main">
            <a:off x="619125" y="4429125"/>
            <a:ext cx="3762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440"/>
                </a:solidFill>
                <a:latin typeface="Aptos"/>
                <a:ea typeface="Aptos"/>
                <a:cs typeface="Aptos"/>
              </a:defRPr>
            </a:pPr>
            <a:r>
              <a:rPr sz="1950" b="0">
                <a:solidFill>
                  <a:srgbClr val="172440"/>
                </a:solidFill>
                <a:latin typeface="Aptos"/>
                <a:ea typeface="Aptos"/>
                <a:cs typeface="Aptos"/>
              </a:rPr>
              <a:t>Eigenständige Analyse-Services mit nachvollziehbarem Zustand und kontrollierter Wiederholung.</a:t>
            </a:r>
          </a:p>
        </p:txBody>
      </p:sp>
      <p:sp>
        <p:nvSpPr>
          <p:cNvPr id="10" name="Konfiguration">
            <a:extLst xmlns:a="http://schemas.openxmlformats.org/drawingml/2006/main">
              <a:ext uri="{FF2B5EF4-FFF2-40B4-BE49-F238E27FC236}">
                <a16:creationId xmlns:a16="http://schemas.microsoft.com/office/drawing/2014/main" id="{C1D8EA4E-DCD1-43FA-97DA-AE198C7BE9AD}"/>
              </a:ext>
            </a:extLst>
          </p:cNvPr>
          <p:cNvSpPr>
            <a:spLocks xmlns:a="http://schemas.openxmlformats.org/drawingml/2006/main" noGrp="1"/>
          </p:cNvSpPr>
          <p:nvPr/>
        </p:nvSpPr>
        <p:spPr>
          <a:xfrm xmlns:a="http://schemas.openxmlformats.org/drawingml/2006/main">
            <a:off x="5286375" y="169545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2440"/>
                </a:solidFill>
                <a:latin typeface="Aptos"/>
                <a:ea typeface="Aptos"/>
                <a:cs typeface="Aptos"/>
              </a:defRPr>
            </a:pPr>
            <a:r>
              <a:rPr sz="1950" b="1">
                <a:solidFill>
                  <a:srgbClr val="172440"/>
                </a:solidFill>
                <a:latin typeface="Aptos"/>
                <a:ea typeface="Aptos"/>
                <a:cs typeface="Aptos"/>
              </a:rPr>
              <a:t>Konfiguration</a:t>
            </a:r>
          </a:p>
        </p:txBody>
      </p:sp>
      <p:sp>
        <p:nvSpPr>
          <p:cNvPr id="11" name="Fünf Equipment-Felder persistent speichern">
            <a:extLst xmlns:a="http://schemas.openxmlformats.org/drawingml/2006/main">
              <a:ext uri="{FF2B5EF4-FFF2-40B4-BE49-F238E27FC236}">
                <a16:creationId xmlns:a16="http://schemas.microsoft.com/office/drawing/2014/main" id="{881C73BC-A242-4EA5-801A-D92F45B474AC}"/>
              </a:ext>
            </a:extLst>
          </p:cNvPr>
          <p:cNvSpPr>
            <a:spLocks xmlns:a="http://schemas.openxmlformats.org/drawingml/2006/main" noGrp="1"/>
          </p:cNvSpPr>
          <p:nvPr/>
        </p:nvSpPr>
        <p:spPr>
          <a:xfrm xmlns:a="http://schemas.openxmlformats.org/drawingml/2006/main">
            <a:off x="5286375" y="2066925"/>
            <a:ext cx="619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B6B82"/>
                </a:solidFill>
                <a:latin typeface="Aptos"/>
                <a:ea typeface="Aptos"/>
                <a:cs typeface="Aptos"/>
              </a:defRPr>
            </a:pPr>
            <a:r>
              <a:rPr sz="1875" b="0">
                <a:solidFill>
                  <a:srgbClr val="5B6B82"/>
                </a:solidFill>
                <a:latin typeface="Aptos"/>
                <a:ea typeface="Aptos"/>
                <a:cs typeface="Aptos"/>
              </a:rPr>
              <a:t>Fünf Equipment-Felder persistent speichern</a:t>
            </a:r>
          </a:p>
        </p:txBody>
      </p:sp>
      <p:sp>
        <p:nvSpPr>
          <p:cNvPr id="12" name="Ablauf">
            <a:extLst xmlns:a="http://schemas.openxmlformats.org/drawingml/2006/main">
              <a:ext uri="{FF2B5EF4-FFF2-40B4-BE49-F238E27FC236}">
                <a16:creationId xmlns:a16="http://schemas.microsoft.com/office/drawing/2014/main" id="{7354D776-9C65-49BE-9A91-607B32808FF3}"/>
              </a:ext>
            </a:extLst>
          </p:cNvPr>
          <p:cNvSpPr>
            <a:spLocks xmlns:a="http://schemas.openxmlformats.org/drawingml/2006/main" noGrp="1"/>
          </p:cNvSpPr>
          <p:nvPr/>
        </p:nvSpPr>
        <p:spPr>
          <a:xfrm xmlns:a="http://schemas.openxmlformats.org/drawingml/2006/main">
            <a:off x="5286375" y="275272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2440"/>
                </a:solidFill>
                <a:latin typeface="Aptos"/>
                <a:ea typeface="Aptos"/>
                <a:cs typeface="Aptos"/>
              </a:defRPr>
            </a:pPr>
            <a:r>
              <a:rPr sz="1950" b="1">
                <a:solidFill>
                  <a:srgbClr val="172440"/>
                </a:solidFill>
                <a:latin typeface="Aptos"/>
                <a:ea typeface="Aptos"/>
                <a:cs typeface="Aptos"/>
              </a:rPr>
              <a:t>Ablauf</a:t>
            </a:r>
          </a:p>
        </p:txBody>
      </p:sp>
      <p:sp>
        <p:nvSpPr>
          <p:cNvPr id="13" name="Vier Services in einer REST-Choreographie">
            <a:extLst xmlns:a="http://schemas.openxmlformats.org/drawingml/2006/main">
              <a:ext uri="{FF2B5EF4-FFF2-40B4-BE49-F238E27FC236}">
                <a16:creationId xmlns:a16="http://schemas.microsoft.com/office/drawing/2014/main" id="{B37AF8CD-BE89-40E5-A5FF-29E24BCAAA97}"/>
              </a:ext>
            </a:extLst>
          </p:cNvPr>
          <p:cNvSpPr>
            <a:spLocks xmlns:a="http://schemas.openxmlformats.org/drawingml/2006/main" noGrp="1"/>
          </p:cNvSpPr>
          <p:nvPr/>
        </p:nvSpPr>
        <p:spPr>
          <a:xfrm xmlns:a="http://schemas.openxmlformats.org/drawingml/2006/main">
            <a:off x="5286375" y="3124200"/>
            <a:ext cx="619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B6B82"/>
                </a:solidFill>
                <a:latin typeface="Aptos"/>
                <a:ea typeface="Aptos"/>
                <a:cs typeface="Aptos"/>
              </a:defRPr>
            </a:pPr>
            <a:r>
              <a:rPr sz="1875" b="0">
                <a:solidFill>
                  <a:srgbClr val="5B6B82"/>
                </a:solidFill>
                <a:latin typeface="Aptos"/>
                <a:ea typeface="Aptos"/>
                <a:cs typeface="Aptos"/>
              </a:rPr>
              <a:t>Vier Services in einer REST-Choreographie</a:t>
            </a:r>
          </a:p>
        </p:txBody>
      </p:sp>
      <p:sp>
        <p:nvSpPr>
          <p:cNvPr id="14" name="Ergebnisse">
            <a:extLst xmlns:a="http://schemas.openxmlformats.org/drawingml/2006/main">
              <a:ext uri="{FF2B5EF4-FFF2-40B4-BE49-F238E27FC236}">
                <a16:creationId xmlns:a16="http://schemas.microsoft.com/office/drawing/2014/main" id="{F4904FB2-AB9A-4975-A0FD-2012AED694BE}"/>
              </a:ext>
            </a:extLst>
          </p:cNvPr>
          <p:cNvSpPr>
            <a:spLocks xmlns:a="http://schemas.openxmlformats.org/drawingml/2006/main" noGrp="1"/>
          </p:cNvSpPr>
          <p:nvPr/>
        </p:nvSpPr>
        <p:spPr>
          <a:xfrm xmlns:a="http://schemas.openxmlformats.org/drawingml/2006/main">
            <a:off x="5286375" y="381000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2440"/>
                </a:solidFill>
                <a:latin typeface="Aptos"/>
                <a:ea typeface="Aptos"/>
                <a:cs typeface="Aptos"/>
              </a:defRPr>
            </a:pPr>
            <a:r>
              <a:rPr sz="1950" b="1">
                <a:solidFill>
                  <a:srgbClr val="172440"/>
                </a:solidFill>
                <a:latin typeface="Aptos"/>
                <a:ea typeface="Aptos"/>
                <a:cs typeface="Aptos"/>
              </a:rPr>
              <a:t>Ergebnisse</a:t>
            </a:r>
          </a:p>
        </p:txBody>
      </p:sp>
      <p:sp>
        <p:nvSpPr>
          <p:cNvPr id="15" name="Einzelresultate je Equipment und ein Gesamtergebnis">
            <a:extLst xmlns:a="http://schemas.openxmlformats.org/drawingml/2006/main">
              <a:ext uri="{FF2B5EF4-FFF2-40B4-BE49-F238E27FC236}">
                <a16:creationId xmlns:a16="http://schemas.microsoft.com/office/drawing/2014/main" id="{B032D01B-E662-420C-8DAF-C9E6C7FB66FD}"/>
              </a:ext>
            </a:extLst>
          </p:cNvPr>
          <p:cNvSpPr>
            <a:spLocks xmlns:a="http://schemas.openxmlformats.org/drawingml/2006/main" noGrp="1"/>
          </p:cNvSpPr>
          <p:nvPr/>
        </p:nvSpPr>
        <p:spPr>
          <a:xfrm xmlns:a="http://schemas.openxmlformats.org/drawingml/2006/main">
            <a:off x="5286375" y="4181475"/>
            <a:ext cx="619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B6B82"/>
                </a:solidFill>
                <a:latin typeface="Aptos"/>
                <a:ea typeface="Aptos"/>
                <a:cs typeface="Aptos"/>
              </a:defRPr>
            </a:pPr>
            <a:r>
              <a:rPr sz="1875" b="0">
                <a:solidFill>
                  <a:srgbClr val="5B6B82"/>
                </a:solidFill>
                <a:latin typeface="Aptos"/>
                <a:ea typeface="Aptos"/>
                <a:cs typeface="Aptos"/>
              </a:rPr>
              <a:t>Einzelresultate je Equipment und ein Gesamtergebnis</a:t>
            </a:r>
          </a:p>
        </p:txBody>
      </p:sp>
      <p:sp>
        <p:nvSpPr>
          <p:cNvPr id="16" name="Fehlerfall">
            <a:extLst xmlns:a="http://schemas.openxmlformats.org/drawingml/2006/main">
              <a:ext uri="{FF2B5EF4-FFF2-40B4-BE49-F238E27FC236}">
                <a16:creationId xmlns:a16="http://schemas.microsoft.com/office/drawing/2014/main" id="{5C4E9A47-4B7E-4999-8A32-2794A56DEEBB}"/>
              </a:ext>
            </a:extLst>
          </p:cNvPr>
          <p:cNvSpPr>
            <a:spLocks xmlns:a="http://schemas.openxmlformats.org/drawingml/2006/main" noGrp="1"/>
          </p:cNvSpPr>
          <p:nvPr/>
        </p:nvSpPr>
        <p:spPr>
          <a:xfrm xmlns:a="http://schemas.openxmlformats.org/drawingml/2006/main">
            <a:off x="5286375" y="486727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2440"/>
                </a:solidFill>
                <a:latin typeface="Aptos"/>
                <a:ea typeface="Aptos"/>
                <a:cs typeface="Aptos"/>
              </a:defRPr>
            </a:pPr>
            <a:r>
              <a:rPr sz="1950" b="1">
                <a:solidFill>
                  <a:srgbClr val="172440"/>
                </a:solidFill>
                <a:latin typeface="Aptos"/>
                <a:ea typeface="Aptos"/>
                <a:cs typeface="Aptos"/>
              </a:rPr>
              <a:t>Fehlerfall</a:t>
            </a:r>
          </a:p>
        </p:txBody>
      </p:sp>
      <p:sp>
        <p:nvSpPr>
          <p:cNvPr id="17" name="Status anzeigen, Serviceausfall erkennen und Retry erlauben">
            <a:extLst xmlns:a="http://schemas.openxmlformats.org/drawingml/2006/main">
              <a:ext uri="{FF2B5EF4-FFF2-40B4-BE49-F238E27FC236}">
                <a16:creationId xmlns:a16="http://schemas.microsoft.com/office/drawing/2014/main" id="{7CEC8114-754E-46E2-93B4-F1448B6403CA}"/>
              </a:ext>
            </a:extLst>
          </p:cNvPr>
          <p:cNvSpPr>
            <a:spLocks xmlns:a="http://schemas.openxmlformats.org/drawingml/2006/main" noGrp="1"/>
          </p:cNvSpPr>
          <p:nvPr/>
        </p:nvSpPr>
        <p:spPr>
          <a:xfrm xmlns:a="http://schemas.openxmlformats.org/drawingml/2006/main">
            <a:off x="5286375" y="5238750"/>
            <a:ext cx="619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B6B82"/>
                </a:solidFill>
                <a:latin typeface="Aptos"/>
                <a:ea typeface="Aptos"/>
                <a:cs typeface="Aptos"/>
              </a:defRPr>
            </a:pPr>
            <a:r>
              <a:rPr sz="1875" b="0">
                <a:solidFill>
                  <a:srgbClr val="5B6B82"/>
                </a:solidFill>
                <a:latin typeface="Aptos"/>
                <a:ea typeface="Aptos"/>
                <a:cs typeface="Aptos"/>
              </a:rPr>
              <a:t>Status anzeigen, Serviceausfall erkennen und Retry erlauben</a:t>
            </a:r>
          </a:p>
        </p:txBody>
      </p:sp>
    </p:spTree>
    <p:extLst>
      <p:ext uri="{BB962C8B-B14F-4D97-AF65-F5344CB8AC3E}">
        <p14:creationId xmlns:p14="http://schemas.microsoft.com/office/powerpoint/2010/main" val="203148292"/>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8D3FCFA-7778-41FA-8BC5-17D5CFFC01D9}"/>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246BFE"/>
          </a:solidFill>
          <a:ln xmlns:a="http://schemas.openxmlformats.org/drawingml/2006/main" w="12700">
            <a:solidFill>
              <a:srgbClr val="246BFE">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Kontextsicht">
            <a:extLst xmlns:a="http://schemas.openxmlformats.org/drawingml/2006/main">
              <a:ext uri="{FF2B5EF4-FFF2-40B4-BE49-F238E27FC236}">
                <a16:creationId xmlns:a16="http://schemas.microsoft.com/office/drawing/2014/main" id="{62E2EE37-527B-4378-B523-651EF6A6CF64}"/>
              </a:ext>
            </a:extLst>
          </p:cNvPr>
          <p:cNvSpPr>
            <a:spLocks xmlns:a="http://schemas.openxmlformats.org/drawingml/2006/main" noGrp="1"/>
          </p:cNvSpPr>
          <p:nvPr/>
        </p:nvSpPr>
        <p:spPr>
          <a:xfrm xmlns:a="http://schemas.openxmlformats.org/drawingml/2006/main">
            <a:off x="514350" y="3429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2440"/>
                </a:solidFill>
                <a:latin typeface="Aptos"/>
                <a:ea typeface="Aptos"/>
                <a:cs typeface="Aptos"/>
              </a:defRPr>
            </a:pPr>
            <a:r>
              <a:rPr sz="3000" b="1">
                <a:solidFill>
                  <a:srgbClr val="172440"/>
                </a:solidFill>
                <a:latin typeface="Aptos"/>
                <a:ea typeface="Aptos"/>
                <a:cs typeface="Aptos"/>
              </a:rPr>
              <a:t>Kontextsicht</a:t>
            </a:r>
          </a:p>
        </p:txBody>
      </p:sp>
      <p:sp>
        <p:nvSpPr>
          <p:cNvPr id="4" name="Systemgrenze, Nutzer und externe Zugänge">
            <a:extLst xmlns:a="http://schemas.openxmlformats.org/drawingml/2006/main">
              <a:ext uri="{FF2B5EF4-FFF2-40B4-BE49-F238E27FC236}">
                <a16:creationId xmlns:a16="http://schemas.microsoft.com/office/drawing/2014/main" id="{811F41AA-A3BF-43AE-AAE5-59CE9E4720A8}"/>
              </a:ext>
            </a:extLst>
          </p:cNvPr>
          <p:cNvSpPr>
            <a:spLocks xmlns:a="http://schemas.openxmlformats.org/drawingml/2006/main" noGrp="1"/>
          </p:cNvSpPr>
          <p:nvPr/>
        </p:nvSpPr>
        <p:spPr>
          <a:xfrm xmlns:a="http://schemas.openxmlformats.org/drawingml/2006/main">
            <a:off x="523875" y="990600"/>
            <a:ext cx="11029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B82"/>
                </a:solidFill>
                <a:latin typeface="Aptos"/>
                <a:ea typeface="Aptos"/>
                <a:cs typeface="Aptos"/>
              </a:defRPr>
            </a:pPr>
            <a:r>
              <a:rPr sz="1725" b="0">
                <a:solidFill>
                  <a:srgbClr val="5B6B82"/>
                </a:solidFill>
                <a:latin typeface="Aptos"/>
                <a:ea typeface="Aptos"/>
                <a:cs typeface="Aptos"/>
              </a:rPr>
              <a:t>Systemgrenze, Nutzer und externe Zugänge</a:t>
            </a:r>
          </a:p>
        </p:txBody>
      </p:sp>
      <p:sp>
        <p:nvSpPr>
          <p:cNvPr id="5" name="WirSchiffenDas  SEKA">
            <a:extLst xmlns:a="http://schemas.openxmlformats.org/drawingml/2006/main">
              <a:ext uri="{FF2B5EF4-FFF2-40B4-BE49-F238E27FC236}">
                <a16:creationId xmlns:a16="http://schemas.microsoft.com/office/drawing/2014/main" id="{C25A30AA-F81B-4FF4-B701-29A750D758F7}"/>
              </a:ext>
            </a:extLst>
          </p:cNvPr>
          <p:cNvSpPr>
            <a:spLocks xmlns:a="http://schemas.openxmlformats.org/drawingml/2006/main" noGrp="1"/>
          </p:cNvSpPr>
          <p:nvPr/>
        </p:nvSpPr>
        <p:spPr>
          <a:xfrm xmlns:a="http://schemas.openxmlformats.org/drawingml/2006/main">
            <a:off x="514350" y="64770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WirSchiffenDas  SEKA</a:t>
            </a:r>
          </a:p>
        </p:txBody>
      </p:sp>
      <p:sp>
        <p:nvSpPr>
          <p:cNvPr id="6" name="3/12">
            <a:extLst xmlns:a="http://schemas.openxmlformats.org/drawingml/2006/main">
              <a:ext uri="{FF2B5EF4-FFF2-40B4-BE49-F238E27FC236}">
                <a16:creationId xmlns:a16="http://schemas.microsoft.com/office/drawing/2014/main" id="{ECE3D1C9-82C5-44F9-91B6-FE4932B4F142}"/>
              </a:ext>
            </a:extLst>
          </p:cNvPr>
          <p:cNvSpPr>
            <a:spLocks xmlns:a="http://schemas.openxmlformats.org/drawingml/2006/main" noGrp="1"/>
          </p:cNvSpPr>
          <p:nvPr/>
        </p:nvSpPr>
        <p:spPr>
          <a:xfrm xmlns:a="http://schemas.openxmlformats.org/drawingml/2006/main">
            <a:off x="10668000" y="64770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3/12</a:t>
            </a:r>
          </a:p>
        </p:txBody>
      </p:sp>
      <p:sp>
        <p:nvSpPr>
          <p:cNvPr id="7" name="«actor» Berechnungsingenieur">
            <a:extLst xmlns:a="http://schemas.openxmlformats.org/drawingml/2006/main">
              <a:ext uri="{FF2B5EF4-FFF2-40B4-BE49-F238E27FC236}">
                <a16:creationId xmlns:a16="http://schemas.microsoft.com/office/drawing/2014/main" id="{A566BC99-57B8-441B-A2E8-79A4A1261FE8}"/>
              </a:ext>
            </a:extLst>
          </p:cNvPr>
          <p:cNvSpPr>
            <a:spLocks xmlns:a="http://schemas.openxmlformats.org/drawingml/2006/main" noGrp="1"/>
          </p:cNvSpPr>
          <p:nvPr/>
        </p:nvSpPr>
        <p:spPr>
          <a:xfrm xmlns:a="http://schemas.openxmlformats.org/drawingml/2006/main">
            <a:off x="619125" y="2524125"/>
            <a:ext cx="2552700" cy="1466850"/>
          </a:xfrm>
          <a:prstGeom xmlns:a="http://schemas.openxmlformats.org/drawingml/2006/main" prst="rect">
            <a:avLst/>
          </a:prstGeom>
          <a:solidFill xmlns:a="http://schemas.openxmlformats.org/drawingml/2006/main">
            <a:srgbClr val="DCEAFF"/>
          </a:solidFill>
          <a:ln xmlns:a="http://schemas.openxmlformats.org/drawingml/2006/main" w="14288">
            <a:solidFill>
              <a:srgbClr val="246BFF"/>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725" b="0">
                <a:solidFill>
                  <a:srgbClr val="172440"/>
                </a:solidFill>
                <a:latin typeface="Aptos"/>
                <a:ea typeface="Aptos"/>
                <a:cs typeface="Aptos"/>
              </a:defRPr>
            </a:pPr>
            <a:r>
              <a:rPr sz="1725" b="0">
                <a:solidFill>
                  <a:srgbClr val="172440"/>
                </a:solidFill>
                <a:latin typeface="Aptos"/>
                <a:ea typeface="Aptos"/>
                <a:cs typeface="Aptos"/>
              </a:rPr>
              <a:t>«actor»</a:t>
            </a:r>
          </a:p>
          <a:p xmlns:a="http://schemas.openxmlformats.org/drawingml/2006/main">
            <a:pPr algn="ctr">
              <a:defRPr sz="1725" b="0">
                <a:solidFill>
                  <a:srgbClr val="172440"/>
                </a:solidFill>
                <a:latin typeface="Aptos"/>
                <a:ea typeface="Aptos"/>
                <a:cs typeface="Aptos"/>
              </a:defRPr>
            </a:pPr>
            <a:r>
              <a:rPr sz="1725" b="0">
                <a:solidFill>
                  <a:srgbClr val="172440"/>
                </a:solidFill>
                <a:latin typeface="Aptos"/>
                <a:ea typeface="Aptos"/>
                <a:cs typeface="Aptos"/>
              </a:rPr>
              <a:t>Berechnungsingenieur</a:t>
            </a:r>
          </a:p>
        </p:txBody>
      </p:sp>
      <p:sp>
        <p:nvSpPr>
          <p:cNvPr id="8" name="«system» WirSchiffenDas Engine Quality Analysis">
            <a:extLst xmlns:a="http://schemas.openxmlformats.org/drawingml/2006/main">
              <a:ext uri="{FF2B5EF4-FFF2-40B4-BE49-F238E27FC236}">
                <a16:creationId xmlns:a16="http://schemas.microsoft.com/office/drawing/2014/main" id="{F15B275F-F7DC-4B16-9B1F-0D3886D6525C}"/>
              </a:ext>
            </a:extLst>
          </p:cNvPr>
          <p:cNvSpPr>
            <a:spLocks xmlns:a="http://schemas.openxmlformats.org/drawingml/2006/main" noGrp="1"/>
          </p:cNvSpPr>
          <p:nvPr/>
        </p:nvSpPr>
        <p:spPr>
          <a:xfrm xmlns:a="http://schemas.openxmlformats.org/drawingml/2006/main">
            <a:off x="4953000" y="2266950"/>
            <a:ext cx="6048375" cy="2190750"/>
          </a:xfrm>
          <a:prstGeom xmlns:a="http://schemas.openxmlformats.org/drawingml/2006/main" prst="rect">
            <a:avLst/>
          </a:prstGeom>
          <a:solidFill xmlns:a="http://schemas.openxmlformats.org/drawingml/2006/main">
            <a:srgbClr val="E0F5EE"/>
          </a:solidFill>
          <a:ln xmlns:a="http://schemas.openxmlformats.org/drawingml/2006/main" w="14288">
            <a:solidFill>
              <a:srgbClr val="00AD77"/>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2325" b="0">
                <a:solidFill>
                  <a:srgbClr val="172440"/>
                </a:solidFill>
                <a:latin typeface="Aptos"/>
                <a:ea typeface="Aptos"/>
                <a:cs typeface="Aptos"/>
              </a:defRPr>
            </a:pPr>
            <a:r>
              <a:rPr sz="2325" b="0">
                <a:solidFill>
                  <a:srgbClr val="172440"/>
                </a:solidFill>
                <a:latin typeface="Aptos"/>
                <a:ea typeface="Aptos"/>
                <a:cs typeface="Aptos"/>
              </a:rPr>
              <a:t>«system»</a:t>
            </a:r>
          </a:p>
          <a:p xmlns:a="http://schemas.openxmlformats.org/drawingml/2006/main">
            <a:pPr algn="ctr">
              <a:defRPr sz="2325" b="0">
                <a:solidFill>
                  <a:srgbClr val="172440"/>
                </a:solidFill>
                <a:latin typeface="Aptos"/>
                <a:ea typeface="Aptos"/>
                <a:cs typeface="Aptos"/>
              </a:defRPr>
            </a:pPr>
            <a:r>
              <a:rPr sz="2325" b="0">
                <a:solidFill>
                  <a:srgbClr val="172440"/>
                </a:solidFill>
                <a:latin typeface="Aptos"/>
                <a:ea typeface="Aptos"/>
                <a:cs typeface="Aptos"/>
              </a:rPr>
              <a:t>WirSchiffenDas</a:t>
            </a:r>
          </a:p>
          <a:p xmlns:a="http://schemas.openxmlformats.org/drawingml/2006/main">
            <a:pPr algn="ctr">
              <a:defRPr sz="2325" b="0">
                <a:solidFill>
                  <a:srgbClr val="172440"/>
                </a:solidFill>
                <a:latin typeface="Aptos"/>
                <a:ea typeface="Aptos"/>
                <a:cs typeface="Aptos"/>
              </a:defRPr>
            </a:pPr>
            <a:r>
              <a:rPr sz="2325" b="0">
                <a:solidFill>
                  <a:srgbClr val="172440"/>
                </a:solidFill>
                <a:latin typeface="Aptos"/>
                <a:ea typeface="Aptos"/>
                <a:cs typeface="Aptos"/>
              </a:rPr>
              <a:t>Engine Quality Analysis</a:t>
            </a:r>
          </a:p>
        </p:txBody>
      </p:sp>
      <p:sp>
        <p:nvSpPr>
          <p:cNvPr id="9" name="">
            <a:extLst xmlns:a="http://schemas.openxmlformats.org/drawingml/2006/main">
              <a:ext uri="{FF2B5EF4-FFF2-40B4-BE49-F238E27FC236}">
                <a16:creationId xmlns:a16="http://schemas.microsoft.com/office/drawing/2014/main" id="{716FE511-9B9D-4E8E-BB53-B5A19FAF48EC}"/>
              </a:ext>
            </a:extLst>
          </p:cNvPr>
          <p:cNvSpPr>
            <a:spLocks xmlns:a="http://schemas.openxmlformats.org/drawingml/2006/main" noGrp="1"/>
          </p:cNvSpPr>
          <p:nvPr/>
        </p:nvSpPr>
        <p:spPr>
          <a:xfrm xmlns:a="http://schemas.openxmlformats.org/drawingml/2006/main">
            <a:off x="3167063" y="2852738"/>
            <a:ext cx="9525" cy="9525"/>
          </a:xfrm>
          <a:prstGeom xmlns:a="http://schemas.openxmlformats.org/drawingml/2006/main" prst="rect">
            <a:avLst/>
          </a:prstGeom>
          <a:noFill xmlns:a="http://schemas.openxmlformats.org/drawingml/2006/main"/>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13D44C8-BB07-4E33-8B6C-C81ABC3D2175}"/>
              </a:ext>
            </a:extLst>
          </p:cNvPr>
          <p:cNvSpPr>
            <a:spLocks xmlns:a="http://schemas.openxmlformats.org/drawingml/2006/main" noGrp="1"/>
          </p:cNvSpPr>
          <p:nvPr/>
        </p:nvSpPr>
        <p:spPr>
          <a:xfrm xmlns:a="http://schemas.openxmlformats.org/drawingml/2006/main">
            <a:off x="4948238" y="28527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4" name=""/>
          <p:cNvCxnSpPr>
            <a:stCxn xmlns:a="http://schemas.openxmlformats.org/drawingml/2006/main" id="9" idx="3"/>
            <a:endCxn xmlns:a="http://schemas.openxmlformats.org/drawingml/2006/main" id="10" idx="1"/>
          </p:cNvCxnSpPr>
          <p:nvPr/>
        </p:nvCxnSpPr>
        <p:spPr>
          <a:xfrm xmlns:a="http://schemas.openxmlformats.org/drawingml/2006/main">
            <a:off x="3176588" y="2857501"/>
            <a:ext cx="1771650" cy="0"/>
          </a:xfrm>
          <a:prstGeom xmlns:a="http://schemas.openxmlformats.org/drawingml/2006/main" prst="straightConnector1">
            <a:avLst/>
          </a:prstGeom>
          <a:ln xmlns:a="http://schemas.openxmlformats.org/drawingml/2006/main" w="17145">
            <a:solidFill>
              <a:srgbClr val="246BFF"/>
            </a:solidFill>
            <a:prstDash val="solid"/>
            <a:tailEnd type="triangle" w="sm" len="sm"/>
          </a:ln>
        </p:spPr>
      </p:cxnSp>
      <p:sp>
        <p:nvSpPr>
          <p:cNvPr id="12" name="Bedienung im Browser">
            <a:extLst xmlns:a="http://schemas.openxmlformats.org/drawingml/2006/main">
              <a:ext uri="{FF2B5EF4-FFF2-40B4-BE49-F238E27FC236}">
                <a16:creationId xmlns:a16="http://schemas.microsoft.com/office/drawing/2014/main" id="{AE4BBF49-E063-44EA-BF19-6ED0AEB4E978}"/>
              </a:ext>
            </a:extLst>
          </p:cNvPr>
          <p:cNvSpPr>
            <a:spLocks xmlns:a="http://schemas.openxmlformats.org/drawingml/2006/main" noGrp="1"/>
          </p:cNvSpPr>
          <p:nvPr/>
        </p:nvSpPr>
        <p:spPr>
          <a:xfrm xmlns:a="http://schemas.openxmlformats.org/drawingml/2006/main">
            <a:off x="3095625" y="195262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B82"/>
                </a:solidFill>
                <a:latin typeface="Aptos"/>
                <a:ea typeface="Aptos"/>
                <a:cs typeface="Aptos"/>
              </a:defRPr>
            </a:pPr>
            <a:r>
              <a:rPr sz="1650" b="0">
                <a:solidFill>
                  <a:srgbClr val="5B6B82"/>
                </a:solidFill>
                <a:latin typeface="Aptos"/>
                <a:ea typeface="Aptos"/>
                <a:cs typeface="Aptos"/>
              </a:rPr>
              <a:t>Bedienung im Browser</a:t>
            </a:r>
          </a:p>
        </p:txBody>
      </p:sp>
      <p:sp>
        <p:nvSpPr>
          <p:cNvPr id="13" name="">
            <a:extLst xmlns:a="http://schemas.openxmlformats.org/drawingml/2006/main">
              <a:ext uri="{FF2B5EF4-FFF2-40B4-BE49-F238E27FC236}">
                <a16:creationId xmlns:a16="http://schemas.microsoft.com/office/drawing/2014/main" id="{F9724074-C52A-404A-9968-C2E9C5E9CFBF}"/>
              </a:ext>
            </a:extLst>
          </p:cNvPr>
          <p:cNvSpPr>
            <a:spLocks xmlns:a="http://schemas.openxmlformats.org/drawingml/2006/main" noGrp="1"/>
          </p:cNvSpPr>
          <p:nvPr/>
        </p:nvSpPr>
        <p:spPr>
          <a:xfrm xmlns:a="http://schemas.openxmlformats.org/drawingml/2006/main">
            <a:off x="4948238" y="3852863"/>
            <a:ext cx="9525" cy="9525"/>
          </a:xfrm>
          <a:prstGeom xmlns:a="http://schemas.openxmlformats.org/drawingml/2006/main" prst="rect">
            <a:avLst/>
          </a:prstGeom>
          <a:noFill xmlns:a="http://schemas.openxmlformats.org/drawingml/2006/main"/>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3580DA5-86E1-423F-8996-C3D578014BD0}"/>
              </a:ext>
            </a:extLst>
          </p:cNvPr>
          <p:cNvSpPr>
            <a:spLocks xmlns:a="http://schemas.openxmlformats.org/drawingml/2006/main" noGrp="1"/>
          </p:cNvSpPr>
          <p:nvPr/>
        </p:nvSpPr>
        <p:spPr>
          <a:xfrm xmlns:a="http://schemas.openxmlformats.org/drawingml/2006/main">
            <a:off x="3167063" y="38528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8" name=""/>
          <p:cNvCxnSpPr>
            <a:stCxn xmlns:a="http://schemas.openxmlformats.org/drawingml/2006/main" id="13" idx="1"/>
            <a:endCxn xmlns:a="http://schemas.openxmlformats.org/drawingml/2006/main" id="14" idx="3"/>
          </p:cNvCxnSpPr>
          <p:nvPr/>
        </p:nvCxnSpPr>
        <p:spPr>
          <a:xfrm xmlns:a="http://schemas.openxmlformats.org/drawingml/2006/main" flipH="1">
            <a:off x="3176588" y="3857626"/>
            <a:ext cx="1771650" cy="0"/>
          </a:xfrm>
          <a:prstGeom xmlns:a="http://schemas.openxmlformats.org/drawingml/2006/main" prst="straightConnector1">
            <a:avLst/>
          </a:prstGeom>
          <a:ln xmlns:a="http://schemas.openxmlformats.org/drawingml/2006/main" w="17145">
            <a:solidFill>
              <a:srgbClr val="00AD77"/>
            </a:solidFill>
            <a:prstDash val="solid"/>
            <a:tailEnd type="triangle" w="sm" len="sm"/>
          </a:ln>
        </p:spPr>
      </p:cxnSp>
      <p:sp>
        <p:nvSpPr>
          <p:cNvPr id="16" name="Status und Ergebnisse">
            <a:extLst xmlns:a="http://schemas.openxmlformats.org/drawingml/2006/main">
              <a:ext uri="{FF2B5EF4-FFF2-40B4-BE49-F238E27FC236}">
                <a16:creationId xmlns:a16="http://schemas.microsoft.com/office/drawing/2014/main" id="{3CEC00BC-EDD2-4EEF-8409-61D2CDAD7DEC}"/>
              </a:ext>
            </a:extLst>
          </p:cNvPr>
          <p:cNvSpPr>
            <a:spLocks xmlns:a="http://schemas.openxmlformats.org/drawingml/2006/main" noGrp="1"/>
          </p:cNvSpPr>
          <p:nvPr/>
        </p:nvSpPr>
        <p:spPr>
          <a:xfrm xmlns:a="http://schemas.openxmlformats.org/drawingml/2006/main">
            <a:off x="3143250" y="412432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B82"/>
                </a:solidFill>
                <a:latin typeface="Aptos"/>
                <a:ea typeface="Aptos"/>
                <a:cs typeface="Aptos"/>
              </a:defRPr>
            </a:pPr>
            <a:r>
              <a:rPr sz="1650" b="0">
                <a:solidFill>
                  <a:srgbClr val="5B6B82"/>
                </a:solidFill>
                <a:latin typeface="Aptos"/>
                <a:ea typeface="Aptos"/>
                <a:cs typeface="Aptos"/>
              </a:rPr>
              <a:t>Status und Ergebnisse</a:t>
            </a:r>
          </a:p>
        </p:txBody>
      </p:sp>
      <p:sp>
        <p:nvSpPr>
          <p:cNvPr id="17" name="«actor» Entwickler / Testskript">
            <a:extLst xmlns:a="http://schemas.openxmlformats.org/drawingml/2006/main">
              <a:ext uri="{FF2B5EF4-FFF2-40B4-BE49-F238E27FC236}">
                <a16:creationId xmlns:a16="http://schemas.microsoft.com/office/drawing/2014/main" id="{932CE76D-6783-4EE7-8693-0DB5F6B0174D}"/>
              </a:ext>
            </a:extLst>
          </p:cNvPr>
          <p:cNvSpPr>
            <a:spLocks xmlns:a="http://schemas.openxmlformats.org/drawingml/2006/main" noGrp="1"/>
          </p:cNvSpPr>
          <p:nvPr/>
        </p:nvSpPr>
        <p:spPr>
          <a:xfrm xmlns:a="http://schemas.openxmlformats.org/drawingml/2006/main">
            <a:off x="619125" y="4857750"/>
            <a:ext cx="2552700" cy="895350"/>
          </a:xfrm>
          <a:prstGeom xmlns:a="http://schemas.openxmlformats.org/drawingml/2006/main" prst="rect">
            <a:avLst/>
          </a:prstGeom>
          <a:solidFill xmlns:a="http://schemas.openxmlformats.org/drawingml/2006/main">
            <a:srgbClr val="DCEAFF"/>
          </a:solidFill>
          <a:ln xmlns:a="http://schemas.openxmlformats.org/drawingml/2006/main" w="14288">
            <a:solidFill>
              <a:srgbClr val="246BFF"/>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650" b="0">
                <a:solidFill>
                  <a:srgbClr val="172440"/>
                </a:solidFill>
                <a:latin typeface="Aptos"/>
                <a:ea typeface="Aptos"/>
                <a:cs typeface="Aptos"/>
              </a:defRPr>
            </a:pPr>
            <a:r>
              <a:rPr sz="1650" b="0">
                <a:solidFill>
                  <a:srgbClr val="172440"/>
                </a:solidFill>
                <a:latin typeface="Aptos"/>
                <a:ea typeface="Aptos"/>
                <a:cs typeface="Aptos"/>
              </a:rPr>
              <a:t>«actor»</a:t>
            </a:r>
          </a:p>
          <a:p xmlns:a="http://schemas.openxmlformats.org/drawingml/2006/main">
            <a:pPr algn="ctr">
              <a:defRPr sz="1650" b="0">
                <a:solidFill>
                  <a:srgbClr val="172440"/>
                </a:solidFill>
                <a:latin typeface="Aptos"/>
                <a:ea typeface="Aptos"/>
                <a:cs typeface="Aptos"/>
              </a:defRPr>
            </a:pPr>
            <a:r>
              <a:rPr sz="1650" b="0">
                <a:solidFill>
                  <a:srgbClr val="172440"/>
                </a:solidFill>
                <a:latin typeface="Aptos"/>
                <a:ea typeface="Aptos"/>
                <a:cs typeface="Aptos"/>
              </a:rPr>
              <a:t>Entwickler / Testskript</a:t>
            </a:r>
          </a:p>
        </p:txBody>
      </p:sp>
      <p:sp>
        <p:nvSpPr>
          <p:cNvPr id="18" name="">
            <a:extLst xmlns:a="http://schemas.openxmlformats.org/drawingml/2006/main">
              <a:ext uri="{FF2B5EF4-FFF2-40B4-BE49-F238E27FC236}">
                <a16:creationId xmlns:a16="http://schemas.microsoft.com/office/drawing/2014/main" id="{036EC334-78C7-4708-9A26-B4750069F6C4}"/>
              </a:ext>
            </a:extLst>
          </p:cNvPr>
          <p:cNvSpPr>
            <a:spLocks xmlns:a="http://schemas.openxmlformats.org/drawingml/2006/main" noGrp="1"/>
          </p:cNvSpPr>
          <p:nvPr/>
        </p:nvSpPr>
        <p:spPr>
          <a:xfrm xmlns:a="http://schemas.openxmlformats.org/drawingml/2006/main">
            <a:off x="3171825" y="5295900"/>
            <a:ext cx="1495425" cy="0"/>
          </a:xfrm>
          <a:prstGeom xmlns:a="http://schemas.openxmlformats.org/drawingml/2006/main" prst="line">
            <a:avLst/>
          </a:prstGeom>
          <a:noFill xmlns:a="http://schemas.openxmlformats.org/drawingml/2006/main"/>
          <a:ln xmlns:a="http://schemas.openxmlformats.org/drawingml/2006/main" w="14288">
            <a:solidFill>
              <a:srgbClr val="246BFF"/>
            </a:solidFill>
            <a:prstDash val="solid"/>
          </a:ln>
        </p:spPr>
      </p:sp>
      <p:sp>
        <p:nvSpPr>
          <p:cNvPr id="19" name="">
            <a:extLst xmlns:a="http://schemas.openxmlformats.org/drawingml/2006/main">
              <a:ext uri="{FF2B5EF4-FFF2-40B4-BE49-F238E27FC236}">
                <a16:creationId xmlns:a16="http://schemas.microsoft.com/office/drawing/2014/main" id="{9F7F6104-5F22-4427-A315-91D3199B1259}"/>
              </a:ext>
            </a:extLst>
          </p:cNvPr>
          <p:cNvSpPr>
            <a:spLocks xmlns:a="http://schemas.openxmlformats.org/drawingml/2006/main" noGrp="1"/>
          </p:cNvSpPr>
          <p:nvPr/>
        </p:nvSpPr>
        <p:spPr>
          <a:xfrm xmlns:a="http://schemas.openxmlformats.org/drawingml/2006/main">
            <a:off x="4662488" y="5291138"/>
            <a:ext cx="9525" cy="9525"/>
          </a:xfrm>
          <a:prstGeom xmlns:a="http://schemas.openxmlformats.org/drawingml/2006/main" prst="rect">
            <a:avLst/>
          </a:prstGeom>
          <a:noFill xmlns:a="http://schemas.openxmlformats.org/drawingml/2006/main"/>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F199D7B-CFEE-4370-AF29-6D75F92D7E4B}"/>
              </a:ext>
            </a:extLst>
          </p:cNvPr>
          <p:cNvSpPr>
            <a:spLocks xmlns:a="http://schemas.openxmlformats.org/drawingml/2006/main" noGrp="1"/>
          </p:cNvSpPr>
          <p:nvPr/>
        </p:nvSpPr>
        <p:spPr>
          <a:xfrm xmlns:a="http://schemas.openxmlformats.org/drawingml/2006/main">
            <a:off x="4662488" y="44529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4" name=""/>
          <p:cNvCxnSpPr>
            <a:stCxn xmlns:a="http://schemas.openxmlformats.org/drawingml/2006/main" id="19" idx="0"/>
            <a:endCxn xmlns:a="http://schemas.openxmlformats.org/drawingml/2006/main" id="20" idx="2"/>
          </p:cNvCxnSpPr>
          <p:nvPr/>
        </p:nvCxnSpPr>
        <p:spPr>
          <a:xfrm xmlns:a="http://schemas.openxmlformats.org/drawingml/2006/main" flipV="1">
            <a:off x="4667251" y="4462463"/>
            <a:ext cx="0" cy="828675"/>
          </a:xfrm>
          <a:prstGeom xmlns:a="http://schemas.openxmlformats.org/drawingml/2006/main" prst="straightConnector1">
            <a:avLst/>
          </a:prstGeom>
          <a:ln xmlns:a="http://schemas.openxmlformats.org/drawingml/2006/main" w="17145">
            <a:solidFill>
              <a:srgbClr val="246BFF"/>
            </a:solidFill>
            <a:prstDash val="solid"/>
            <a:tailEnd type="triangle" w="sm" len="sm"/>
          </a:ln>
        </p:spPr>
      </p:cxnSp>
      <p:sp>
        <p:nvSpPr>
          <p:cNvPr id="22" name="">
            <a:extLst xmlns:a="http://schemas.openxmlformats.org/drawingml/2006/main">
              <a:ext uri="{FF2B5EF4-FFF2-40B4-BE49-F238E27FC236}">
                <a16:creationId xmlns:a16="http://schemas.microsoft.com/office/drawing/2014/main" id="{9142CEE4-CAF0-43B0-BF0A-9DEAA307D9C9}"/>
              </a:ext>
            </a:extLst>
          </p:cNvPr>
          <p:cNvSpPr>
            <a:spLocks xmlns:a="http://schemas.openxmlformats.org/drawingml/2006/main" noGrp="1"/>
          </p:cNvSpPr>
          <p:nvPr/>
        </p:nvSpPr>
        <p:spPr>
          <a:xfrm xmlns:a="http://schemas.openxmlformats.org/drawingml/2006/main">
            <a:off x="4667250" y="4457700"/>
            <a:ext cx="285750" cy="0"/>
          </a:xfrm>
          <a:prstGeom xmlns:a="http://schemas.openxmlformats.org/drawingml/2006/main" prst="line">
            <a:avLst/>
          </a:prstGeom>
          <a:noFill xmlns:a="http://schemas.openxmlformats.org/drawingml/2006/main"/>
          <a:ln xmlns:a="http://schemas.openxmlformats.org/drawingml/2006/main" w="14288">
            <a:solidFill>
              <a:srgbClr val="246BFF"/>
            </a:solidFill>
            <a:prstDash val="solid"/>
          </a:ln>
        </p:spPr>
      </p:sp>
      <p:sp>
        <p:nvSpPr>
          <p:cNvPr id="23" name="REST-API">
            <a:extLst xmlns:a="http://schemas.openxmlformats.org/drawingml/2006/main">
              <a:ext uri="{FF2B5EF4-FFF2-40B4-BE49-F238E27FC236}">
                <a16:creationId xmlns:a16="http://schemas.microsoft.com/office/drawing/2014/main" id="{87E91153-BD7F-4F5B-8241-1243026E1178}"/>
              </a:ext>
            </a:extLst>
          </p:cNvPr>
          <p:cNvSpPr>
            <a:spLocks xmlns:a="http://schemas.openxmlformats.org/drawingml/2006/main" noGrp="1"/>
          </p:cNvSpPr>
          <p:nvPr/>
        </p:nvSpPr>
        <p:spPr>
          <a:xfrm xmlns:a="http://schemas.openxmlformats.org/drawingml/2006/main">
            <a:off x="3381375" y="55721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B82"/>
                </a:solidFill>
                <a:latin typeface="Aptos"/>
                <a:ea typeface="Aptos"/>
                <a:cs typeface="Aptos"/>
              </a:defRPr>
            </a:pPr>
            <a:r>
              <a:rPr sz="1650" b="0">
                <a:solidFill>
                  <a:srgbClr val="5B6B82"/>
                </a:solidFill>
                <a:latin typeface="Aptos"/>
                <a:ea typeface="Aptos"/>
                <a:cs typeface="Aptos"/>
              </a:rPr>
              <a:t>REST-API</a:t>
            </a:r>
          </a:p>
        </p:txBody>
      </p:sp>
      <p:sp>
        <p:nvSpPr>
          <p:cNvPr id="24" name="Browser: localhost:3000">
            <a:extLst xmlns:a="http://schemas.openxmlformats.org/drawingml/2006/main">
              <a:ext uri="{FF2B5EF4-FFF2-40B4-BE49-F238E27FC236}">
                <a16:creationId xmlns:a16="http://schemas.microsoft.com/office/drawing/2014/main" id="{BB4BB433-0826-4E18-A302-2808CA77804B}"/>
              </a:ext>
            </a:extLst>
          </p:cNvPr>
          <p:cNvSpPr>
            <a:spLocks xmlns:a="http://schemas.openxmlformats.org/drawingml/2006/main" noGrp="1"/>
          </p:cNvSpPr>
          <p:nvPr/>
        </p:nvSpPr>
        <p:spPr>
          <a:xfrm xmlns:a="http://schemas.openxmlformats.org/drawingml/2006/main">
            <a:off x="6905625" y="4914900"/>
            <a:ext cx="4514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Browser: localhost:3000</a:t>
            </a:r>
          </a:p>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API: Konfigurationen, Analysen und Retry</a:t>
            </a:r>
          </a:p>
        </p:txBody>
      </p:sp>
    </p:spTree>
    <p:extLst>
      <p:ext uri="{BB962C8B-B14F-4D97-AF65-F5344CB8AC3E}">
        <p14:creationId xmlns:p14="http://schemas.microsoft.com/office/powerpoint/2010/main" val="124737184"/>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0B6AC9E-AF44-404C-BE25-77547333600D}"/>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246BFE"/>
          </a:solidFill>
          <a:ln xmlns:a="http://schemas.openxmlformats.org/drawingml/2006/main" w="12700">
            <a:solidFill>
              <a:srgbClr val="246BFE">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Bausteinsicht">
            <a:extLst xmlns:a="http://schemas.openxmlformats.org/drawingml/2006/main">
              <a:ext uri="{FF2B5EF4-FFF2-40B4-BE49-F238E27FC236}">
                <a16:creationId xmlns:a16="http://schemas.microsoft.com/office/drawing/2014/main" id="{39C69345-5A7A-4291-A31C-67D79A3E118F}"/>
              </a:ext>
            </a:extLst>
          </p:cNvPr>
          <p:cNvSpPr>
            <a:spLocks xmlns:a="http://schemas.openxmlformats.org/drawingml/2006/main" noGrp="1"/>
          </p:cNvSpPr>
          <p:nvPr/>
        </p:nvSpPr>
        <p:spPr>
          <a:xfrm xmlns:a="http://schemas.openxmlformats.org/drawingml/2006/main">
            <a:off x="514350" y="3429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2440"/>
                </a:solidFill>
                <a:latin typeface="Aptos"/>
                <a:ea typeface="Aptos"/>
                <a:cs typeface="Aptos"/>
              </a:defRPr>
            </a:pPr>
            <a:r>
              <a:rPr sz="3000" b="1">
                <a:solidFill>
                  <a:srgbClr val="172440"/>
                </a:solidFill>
                <a:latin typeface="Aptos"/>
                <a:ea typeface="Aptos"/>
                <a:cs typeface="Aptos"/>
              </a:rPr>
              <a:t>Bausteinsicht</a:t>
            </a:r>
          </a:p>
        </p:txBody>
      </p:sp>
      <p:sp>
        <p:nvSpPr>
          <p:cNvPr id="4" name="Sechs Backend-Services, Weboberfläche und getrennte Datenhaltung">
            <a:extLst xmlns:a="http://schemas.openxmlformats.org/drawingml/2006/main">
              <a:ext uri="{FF2B5EF4-FFF2-40B4-BE49-F238E27FC236}">
                <a16:creationId xmlns:a16="http://schemas.microsoft.com/office/drawing/2014/main" id="{D03BD316-23F0-49D8-841E-301CEE544EBC}"/>
              </a:ext>
            </a:extLst>
          </p:cNvPr>
          <p:cNvSpPr>
            <a:spLocks xmlns:a="http://schemas.openxmlformats.org/drawingml/2006/main" noGrp="1"/>
          </p:cNvSpPr>
          <p:nvPr/>
        </p:nvSpPr>
        <p:spPr>
          <a:xfrm xmlns:a="http://schemas.openxmlformats.org/drawingml/2006/main">
            <a:off x="523875" y="990600"/>
            <a:ext cx="11029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B82"/>
                </a:solidFill>
                <a:latin typeface="Aptos"/>
                <a:ea typeface="Aptos"/>
                <a:cs typeface="Aptos"/>
              </a:defRPr>
            </a:pPr>
            <a:r>
              <a:rPr sz="1725" b="0">
                <a:solidFill>
                  <a:srgbClr val="5B6B82"/>
                </a:solidFill>
                <a:latin typeface="Aptos"/>
                <a:ea typeface="Aptos"/>
                <a:cs typeface="Aptos"/>
              </a:rPr>
              <a:t>Sechs Backend-Services, Weboberfläche und getrennte Datenhaltung</a:t>
            </a:r>
          </a:p>
        </p:txBody>
      </p:sp>
      <p:sp>
        <p:nvSpPr>
          <p:cNvPr id="5" name="WirSchiffenDas  SEKA">
            <a:extLst xmlns:a="http://schemas.openxmlformats.org/drawingml/2006/main">
              <a:ext uri="{FF2B5EF4-FFF2-40B4-BE49-F238E27FC236}">
                <a16:creationId xmlns:a16="http://schemas.microsoft.com/office/drawing/2014/main" id="{1670E977-89D2-48E8-9C5F-0AC59AEEDF04}"/>
              </a:ext>
            </a:extLst>
          </p:cNvPr>
          <p:cNvSpPr>
            <a:spLocks xmlns:a="http://schemas.openxmlformats.org/drawingml/2006/main" noGrp="1"/>
          </p:cNvSpPr>
          <p:nvPr/>
        </p:nvSpPr>
        <p:spPr>
          <a:xfrm xmlns:a="http://schemas.openxmlformats.org/drawingml/2006/main">
            <a:off x="514350" y="64770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WirSchiffenDas  SEKA</a:t>
            </a:r>
          </a:p>
        </p:txBody>
      </p:sp>
      <p:sp>
        <p:nvSpPr>
          <p:cNvPr id="6" name="4/12">
            <a:extLst xmlns:a="http://schemas.openxmlformats.org/drawingml/2006/main">
              <a:ext uri="{FF2B5EF4-FFF2-40B4-BE49-F238E27FC236}">
                <a16:creationId xmlns:a16="http://schemas.microsoft.com/office/drawing/2014/main" id="{F7B594D0-A3DE-4C2C-A7C0-9DFA36BEE2F7}"/>
              </a:ext>
            </a:extLst>
          </p:cNvPr>
          <p:cNvSpPr>
            <a:spLocks xmlns:a="http://schemas.openxmlformats.org/drawingml/2006/main" noGrp="1"/>
          </p:cNvSpPr>
          <p:nvPr/>
        </p:nvSpPr>
        <p:spPr>
          <a:xfrm xmlns:a="http://schemas.openxmlformats.org/drawingml/2006/main">
            <a:off x="10668000" y="64770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4/12</a:t>
            </a:r>
          </a:p>
        </p:txBody>
      </p:sp>
      <p:sp>
        <p:nvSpPr>
          <p:cNvPr id="7" name="«component» React Web UI">
            <a:extLst xmlns:a="http://schemas.openxmlformats.org/drawingml/2006/main">
              <a:ext uri="{FF2B5EF4-FFF2-40B4-BE49-F238E27FC236}">
                <a16:creationId xmlns:a16="http://schemas.microsoft.com/office/drawing/2014/main" id="{18073EB3-8BD0-49A5-9D6A-21A418B60B05}"/>
              </a:ext>
            </a:extLst>
          </p:cNvPr>
          <p:cNvSpPr>
            <a:spLocks xmlns:a="http://schemas.openxmlformats.org/drawingml/2006/main" noGrp="1"/>
          </p:cNvSpPr>
          <p:nvPr/>
        </p:nvSpPr>
        <p:spPr>
          <a:xfrm xmlns:a="http://schemas.openxmlformats.org/drawingml/2006/main">
            <a:off x="619125" y="1581150"/>
            <a:ext cx="2286000" cy="885825"/>
          </a:xfrm>
          <a:prstGeom xmlns:a="http://schemas.openxmlformats.org/drawingml/2006/main" prst="rect">
            <a:avLst/>
          </a:prstGeom>
          <a:solidFill xmlns:a="http://schemas.openxmlformats.org/drawingml/2006/main">
            <a:srgbClr val="DCEAFF"/>
          </a:solidFill>
          <a:ln xmlns:a="http://schemas.openxmlformats.org/drawingml/2006/main" w="14288">
            <a:solidFill>
              <a:srgbClr val="246BFF"/>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725" b="0">
                <a:solidFill>
                  <a:srgbClr val="172440"/>
                </a:solidFill>
                <a:latin typeface="Aptos"/>
                <a:ea typeface="Aptos"/>
                <a:cs typeface="Aptos"/>
              </a:defRPr>
            </a:pPr>
            <a:r>
              <a:rPr sz="1725" b="0">
                <a:solidFill>
                  <a:srgbClr val="172440"/>
                </a:solidFill>
                <a:latin typeface="Aptos"/>
                <a:ea typeface="Aptos"/>
                <a:cs typeface="Aptos"/>
              </a:rPr>
              <a:t>«component»</a:t>
            </a:r>
          </a:p>
          <a:p xmlns:a="http://schemas.openxmlformats.org/drawingml/2006/main">
            <a:pPr algn="ctr">
              <a:defRPr sz="1725" b="0">
                <a:solidFill>
                  <a:srgbClr val="172440"/>
                </a:solidFill>
                <a:latin typeface="Aptos"/>
                <a:ea typeface="Aptos"/>
                <a:cs typeface="Aptos"/>
              </a:defRPr>
            </a:pPr>
            <a:r>
              <a:rPr sz="1725" b="0">
                <a:solidFill>
                  <a:srgbClr val="172440"/>
                </a:solidFill>
                <a:latin typeface="Aptos"/>
                <a:ea typeface="Aptos"/>
                <a:cs typeface="Aptos"/>
              </a:rPr>
              <a:t>React Web UI</a:t>
            </a:r>
          </a:p>
        </p:txBody>
      </p:sp>
      <p:sp>
        <p:nvSpPr>
          <p:cNvPr id="8" name="«component» Configuration Service">
            <a:extLst xmlns:a="http://schemas.openxmlformats.org/drawingml/2006/main">
              <a:ext uri="{FF2B5EF4-FFF2-40B4-BE49-F238E27FC236}">
                <a16:creationId xmlns:a16="http://schemas.microsoft.com/office/drawing/2014/main" id="{4C451BC9-E2A2-4D5A-8847-FA763036C776}"/>
              </a:ext>
            </a:extLst>
          </p:cNvPr>
          <p:cNvSpPr>
            <a:spLocks xmlns:a="http://schemas.openxmlformats.org/drawingml/2006/main" noGrp="1"/>
          </p:cNvSpPr>
          <p:nvPr/>
        </p:nvSpPr>
        <p:spPr>
          <a:xfrm xmlns:a="http://schemas.openxmlformats.org/drawingml/2006/main">
            <a:off x="3762375" y="1581150"/>
            <a:ext cx="3143250" cy="885825"/>
          </a:xfrm>
          <a:prstGeom xmlns:a="http://schemas.openxmlformats.org/drawingml/2006/main" prst="rect">
            <a:avLst/>
          </a:prstGeom>
          <a:solidFill xmlns:a="http://schemas.openxmlformats.org/drawingml/2006/main">
            <a:srgbClr val="DCEAFF"/>
          </a:solidFill>
          <a:ln xmlns:a="http://schemas.openxmlformats.org/drawingml/2006/main" w="14288">
            <a:solidFill>
              <a:srgbClr val="246BFF"/>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650" b="0">
                <a:solidFill>
                  <a:srgbClr val="172440"/>
                </a:solidFill>
                <a:latin typeface="Aptos"/>
                <a:ea typeface="Aptos"/>
                <a:cs typeface="Aptos"/>
              </a:defRPr>
            </a:pPr>
            <a:r>
              <a:rPr sz="1650" b="0">
                <a:solidFill>
                  <a:srgbClr val="172440"/>
                </a:solidFill>
                <a:latin typeface="Aptos"/>
                <a:ea typeface="Aptos"/>
                <a:cs typeface="Aptos"/>
              </a:rPr>
              <a:t>«component»</a:t>
            </a:r>
          </a:p>
          <a:p xmlns:a="http://schemas.openxmlformats.org/drawingml/2006/main">
            <a:pPr algn="ctr">
              <a:defRPr sz="1650" b="0">
                <a:solidFill>
                  <a:srgbClr val="172440"/>
                </a:solidFill>
                <a:latin typeface="Aptos"/>
                <a:ea typeface="Aptos"/>
                <a:cs typeface="Aptos"/>
              </a:defRPr>
            </a:pPr>
            <a:r>
              <a:rPr sz="1650" b="0">
                <a:solidFill>
                  <a:srgbClr val="172440"/>
                </a:solidFill>
                <a:latin typeface="Aptos"/>
                <a:ea typeface="Aptos"/>
                <a:cs typeface="Aptos"/>
              </a:rPr>
              <a:t>Configuration Service</a:t>
            </a:r>
          </a:p>
        </p:txBody>
      </p:sp>
      <p:sp>
        <p:nvSpPr>
          <p:cNvPr id="9" name="«component» Analysis Management">
            <a:extLst xmlns:a="http://schemas.openxmlformats.org/drawingml/2006/main">
              <a:ext uri="{FF2B5EF4-FFF2-40B4-BE49-F238E27FC236}">
                <a16:creationId xmlns:a16="http://schemas.microsoft.com/office/drawing/2014/main" id="{FF89B10F-DCC5-4664-A843-921672E6F374}"/>
              </a:ext>
            </a:extLst>
          </p:cNvPr>
          <p:cNvSpPr>
            <a:spLocks xmlns:a="http://schemas.openxmlformats.org/drawingml/2006/main" noGrp="1"/>
          </p:cNvSpPr>
          <p:nvPr/>
        </p:nvSpPr>
        <p:spPr>
          <a:xfrm xmlns:a="http://schemas.openxmlformats.org/drawingml/2006/main">
            <a:off x="7953375" y="1581150"/>
            <a:ext cx="3571875" cy="885825"/>
          </a:xfrm>
          <a:prstGeom xmlns:a="http://schemas.openxmlformats.org/drawingml/2006/main" prst="rect">
            <a:avLst/>
          </a:prstGeom>
          <a:solidFill xmlns:a="http://schemas.openxmlformats.org/drawingml/2006/main">
            <a:srgbClr val="E0F5EE"/>
          </a:solidFill>
          <a:ln xmlns:a="http://schemas.openxmlformats.org/drawingml/2006/main" w="14288">
            <a:solidFill>
              <a:srgbClr val="00AD77"/>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650" b="0">
                <a:solidFill>
                  <a:srgbClr val="172440"/>
                </a:solidFill>
                <a:latin typeface="Aptos"/>
                <a:ea typeface="Aptos"/>
                <a:cs typeface="Aptos"/>
              </a:defRPr>
            </a:pPr>
            <a:r>
              <a:rPr sz="1650" b="0">
                <a:solidFill>
                  <a:srgbClr val="172440"/>
                </a:solidFill>
                <a:latin typeface="Aptos"/>
                <a:ea typeface="Aptos"/>
                <a:cs typeface="Aptos"/>
              </a:rPr>
              <a:t>«component»</a:t>
            </a:r>
          </a:p>
          <a:p xmlns:a="http://schemas.openxmlformats.org/drawingml/2006/main">
            <a:pPr algn="ctr">
              <a:defRPr sz="1650" b="0">
                <a:solidFill>
                  <a:srgbClr val="172440"/>
                </a:solidFill>
                <a:latin typeface="Aptos"/>
                <a:ea typeface="Aptos"/>
                <a:cs typeface="Aptos"/>
              </a:defRPr>
            </a:pPr>
            <a:r>
              <a:rPr sz="1650" b="0">
                <a:solidFill>
                  <a:srgbClr val="172440"/>
                </a:solidFill>
                <a:latin typeface="Aptos"/>
                <a:ea typeface="Aptos"/>
                <a:cs typeface="Aptos"/>
              </a:rPr>
              <a:t>Analysis Management</a:t>
            </a:r>
          </a:p>
        </p:txBody>
      </p:sp>
      <p:sp>
        <p:nvSpPr>
          <p:cNvPr id="10" name="">
            <a:extLst xmlns:a="http://schemas.openxmlformats.org/drawingml/2006/main">
              <a:ext uri="{FF2B5EF4-FFF2-40B4-BE49-F238E27FC236}">
                <a16:creationId xmlns:a16="http://schemas.microsoft.com/office/drawing/2014/main" id="{A9A25A59-4FBC-42F5-B71E-83351BC4883C}"/>
              </a:ext>
            </a:extLst>
          </p:cNvPr>
          <p:cNvSpPr>
            <a:spLocks xmlns:a="http://schemas.openxmlformats.org/drawingml/2006/main" noGrp="1"/>
          </p:cNvSpPr>
          <p:nvPr/>
        </p:nvSpPr>
        <p:spPr>
          <a:xfrm xmlns:a="http://schemas.openxmlformats.org/drawingml/2006/main">
            <a:off x="2900363" y="1824038"/>
            <a:ext cx="9525" cy="9525"/>
          </a:xfrm>
          <a:prstGeom xmlns:a="http://schemas.openxmlformats.org/drawingml/2006/main" prst="rect">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573384F-C894-4463-8730-C2510D4A09DE}"/>
              </a:ext>
            </a:extLst>
          </p:cNvPr>
          <p:cNvSpPr>
            <a:spLocks xmlns:a="http://schemas.openxmlformats.org/drawingml/2006/main" noGrp="1"/>
          </p:cNvSpPr>
          <p:nvPr/>
        </p:nvSpPr>
        <p:spPr>
          <a:xfrm xmlns:a="http://schemas.openxmlformats.org/drawingml/2006/main">
            <a:off x="3757613" y="18240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3" name=""/>
          <p:cNvCxnSpPr>
            <a:stCxn xmlns:a="http://schemas.openxmlformats.org/drawingml/2006/main" id="10" idx="3"/>
            <a:endCxn xmlns:a="http://schemas.openxmlformats.org/drawingml/2006/main" id="11" idx="1"/>
          </p:cNvCxnSpPr>
          <p:nvPr/>
        </p:nvCxnSpPr>
        <p:spPr>
          <a:xfrm xmlns:a="http://schemas.openxmlformats.org/drawingml/2006/main">
            <a:off x="2909888" y="1828801"/>
            <a:ext cx="847725" cy="0"/>
          </a:xfrm>
          <a:prstGeom xmlns:a="http://schemas.openxmlformats.org/drawingml/2006/main" prst="straightConnector1">
            <a:avLst/>
          </a:prstGeom>
          <a:ln xmlns:a="http://schemas.openxmlformats.org/drawingml/2006/main" w="17145">
            <a:solidFill>
              <a:srgbClr val="246BFF"/>
            </a:solidFill>
            <a:prstDash val="solid"/>
            <a:tailEnd type="triangle" w="sm" len="sm"/>
          </a:ln>
        </p:spPr>
      </p:cxnSp>
      <p:sp>
        <p:nvSpPr>
          <p:cNvPr id="13" name="">
            <a:extLst xmlns:a="http://schemas.openxmlformats.org/drawingml/2006/main">
              <a:ext uri="{FF2B5EF4-FFF2-40B4-BE49-F238E27FC236}">
                <a16:creationId xmlns:a16="http://schemas.microsoft.com/office/drawing/2014/main" id="{A1ABC092-AB6C-49A3-8F69-64E8C22CDEDA}"/>
              </a:ext>
            </a:extLst>
          </p:cNvPr>
          <p:cNvSpPr>
            <a:spLocks xmlns:a="http://schemas.openxmlformats.org/drawingml/2006/main" noGrp="1"/>
          </p:cNvSpPr>
          <p:nvPr/>
        </p:nvSpPr>
        <p:spPr>
          <a:xfrm xmlns:a="http://schemas.openxmlformats.org/drawingml/2006/main">
            <a:off x="1762125" y="2466975"/>
            <a:ext cx="0" cy="238125"/>
          </a:xfrm>
          <a:prstGeom xmlns:a="http://schemas.openxmlformats.org/drawingml/2006/main" prst="line">
            <a:avLst/>
          </a:prstGeom>
          <a:noFill xmlns:a="http://schemas.openxmlformats.org/drawingml/2006/main"/>
          <a:ln xmlns:a="http://schemas.openxmlformats.org/drawingml/2006/main" w="14288">
            <a:solidFill>
              <a:srgbClr val="246BFF"/>
            </a:solidFill>
            <a:prstDash val="solid"/>
          </a:ln>
        </p:spPr>
      </p:sp>
      <p:sp>
        <p:nvSpPr>
          <p:cNvPr id="14" name="">
            <a:extLst xmlns:a="http://schemas.openxmlformats.org/drawingml/2006/main">
              <a:ext uri="{FF2B5EF4-FFF2-40B4-BE49-F238E27FC236}">
                <a16:creationId xmlns:a16="http://schemas.microsoft.com/office/drawing/2014/main" id="{5E7AF94E-93C1-4612-8821-67F285DF0BBB}"/>
              </a:ext>
            </a:extLst>
          </p:cNvPr>
          <p:cNvSpPr>
            <a:spLocks xmlns:a="http://schemas.openxmlformats.org/drawingml/2006/main" noGrp="1"/>
          </p:cNvSpPr>
          <p:nvPr/>
        </p:nvSpPr>
        <p:spPr>
          <a:xfrm xmlns:a="http://schemas.openxmlformats.org/drawingml/2006/main">
            <a:off x="1762125" y="2705100"/>
            <a:ext cx="5810250" cy="0"/>
          </a:xfrm>
          <a:prstGeom xmlns:a="http://schemas.openxmlformats.org/drawingml/2006/main" prst="line">
            <a:avLst/>
          </a:prstGeom>
          <a:noFill xmlns:a="http://schemas.openxmlformats.org/drawingml/2006/main"/>
          <a:ln xmlns:a="http://schemas.openxmlformats.org/drawingml/2006/main" w="14288">
            <a:solidFill>
              <a:srgbClr val="246BFF"/>
            </a:solidFill>
            <a:prstDash val="solid"/>
          </a:ln>
        </p:spPr>
      </p:sp>
      <p:sp>
        <p:nvSpPr>
          <p:cNvPr id="15" name="">
            <a:extLst xmlns:a="http://schemas.openxmlformats.org/drawingml/2006/main">
              <a:ext uri="{FF2B5EF4-FFF2-40B4-BE49-F238E27FC236}">
                <a16:creationId xmlns:a16="http://schemas.microsoft.com/office/drawing/2014/main" id="{49A5E710-63DB-47C6-9759-923F9F3EDBD6}"/>
              </a:ext>
            </a:extLst>
          </p:cNvPr>
          <p:cNvSpPr>
            <a:spLocks xmlns:a="http://schemas.openxmlformats.org/drawingml/2006/main" noGrp="1"/>
          </p:cNvSpPr>
          <p:nvPr/>
        </p:nvSpPr>
        <p:spPr>
          <a:xfrm xmlns:a="http://schemas.openxmlformats.org/drawingml/2006/main">
            <a:off x="7572375" y="2286000"/>
            <a:ext cx="0" cy="419100"/>
          </a:xfrm>
          <a:prstGeom xmlns:a="http://schemas.openxmlformats.org/drawingml/2006/main" prst="line">
            <a:avLst/>
          </a:prstGeom>
          <a:noFill xmlns:a="http://schemas.openxmlformats.org/drawingml/2006/main"/>
          <a:ln xmlns:a="http://schemas.openxmlformats.org/drawingml/2006/main" w="14288">
            <a:solidFill>
              <a:srgbClr val="246BFF"/>
            </a:solidFill>
            <a:prstDash val="solid"/>
          </a:ln>
        </p:spPr>
      </p:sp>
      <p:sp>
        <p:nvSpPr>
          <p:cNvPr id="16" name="">
            <a:extLst xmlns:a="http://schemas.openxmlformats.org/drawingml/2006/main">
              <a:ext uri="{FF2B5EF4-FFF2-40B4-BE49-F238E27FC236}">
                <a16:creationId xmlns:a16="http://schemas.microsoft.com/office/drawing/2014/main" id="{8B1294F0-941B-48E7-8B81-59F26F8E0FC2}"/>
              </a:ext>
            </a:extLst>
          </p:cNvPr>
          <p:cNvSpPr>
            <a:spLocks xmlns:a="http://schemas.openxmlformats.org/drawingml/2006/main" noGrp="1"/>
          </p:cNvSpPr>
          <p:nvPr/>
        </p:nvSpPr>
        <p:spPr>
          <a:xfrm xmlns:a="http://schemas.openxmlformats.org/drawingml/2006/main">
            <a:off x="7567613" y="2281238"/>
            <a:ext cx="9525" cy="9525"/>
          </a:xfrm>
          <a:prstGeom xmlns:a="http://schemas.openxmlformats.org/drawingml/2006/main" prst="rect">
            <a:avLst/>
          </a:prstGeom>
          <a:noFill xmlns:a="http://schemas.openxmlformats.org/drawingml/2006/main"/>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1409F04-240F-445E-B8A7-887D81E98C94}"/>
              </a:ext>
            </a:extLst>
          </p:cNvPr>
          <p:cNvSpPr>
            <a:spLocks xmlns:a="http://schemas.openxmlformats.org/drawingml/2006/main" noGrp="1"/>
          </p:cNvSpPr>
          <p:nvPr/>
        </p:nvSpPr>
        <p:spPr>
          <a:xfrm xmlns:a="http://schemas.openxmlformats.org/drawingml/2006/main">
            <a:off x="7948613" y="22812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9" name=""/>
          <p:cNvCxnSpPr>
            <a:stCxn xmlns:a="http://schemas.openxmlformats.org/drawingml/2006/main" id="16" idx="3"/>
            <a:endCxn xmlns:a="http://schemas.openxmlformats.org/drawingml/2006/main" id="17" idx="1"/>
          </p:cNvCxnSpPr>
          <p:nvPr/>
        </p:nvCxnSpPr>
        <p:spPr>
          <a:xfrm xmlns:a="http://schemas.openxmlformats.org/drawingml/2006/main">
            <a:off x="7577138" y="2286001"/>
            <a:ext cx="371475" cy="0"/>
          </a:xfrm>
          <a:prstGeom xmlns:a="http://schemas.openxmlformats.org/drawingml/2006/main" prst="straightConnector1">
            <a:avLst/>
          </a:prstGeom>
          <a:ln xmlns:a="http://schemas.openxmlformats.org/drawingml/2006/main" w="17145">
            <a:solidFill>
              <a:srgbClr val="246BFF"/>
            </a:solidFill>
            <a:prstDash val="solid"/>
            <a:tailEnd type="triangle" w="sm" len="sm"/>
          </a:ln>
        </p:spPr>
      </p:cxnSp>
      <p:sp>
        <p:nvSpPr>
          <p:cNvPr id="19" name="HTTP / JSON">
            <a:extLst xmlns:a="http://schemas.openxmlformats.org/drawingml/2006/main">
              <a:ext uri="{FF2B5EF4-FFF2-40B4-BE49-F238E27FC236}">
                <a16:creationId xmlns:a16="http://schemas.microsoft.com/office/drawing/2014/main" id="{F9560ADC-24A8-436F-A853-D635B3F74B33}"/>
              </a:ext>
            </a:extLst>
          </p:cNvPr>
          <p:cNvSpPr>
            <a:spLocks xmlns:a="http://schemas.openxmlformats.org/drawingml/2006/main" noGrp="1"/>
          </p:cNvSpPr>
          <p:nvPr/>
        </p:nvSpPr>
        <p:spPr>
          <a:xfrm xmlns:a="http://schemas.openxmlformats.org/drawingml/2006/main">
            <a:off x="714375" y="3000375"/>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B6B82"/>
                </a:solidFill>
                <a:latin typeface="Aptos"/>
                <a:ea typeface="Aptos"/>
                <a:cs typeface="Aptos"/>
              </a:defRPr>
            </a:pPr>
            <a:r>
              <a:rPr sz="1575" b="0">
                <a:solidFill>
                  <a:srgbClr val="5B6B82"/>
                </a:solidFill>
                <a:latin typeface="Aptos"/>
                <a:ea typeface="Aptos"/>
                <a:cs typeface="Aptos"/>
              </a:rPr>
              <a:t>HTTP / JSON</a:t>
            </a:r>
          </a:p>
        </p:txBody>
      </p:sp>
      <p:sp>
        <p:nvSpPr>
          <p:cNvPr id="20" name="">
            <a:extLst xmlns:a="http://schemas.openxmlformats.org/drawingml/2006/main">
              <a:ext uri="{FF2B5EF4-FFF2-40B4-BE49-F238E27FC236}">
                <a16:creationId xmlns:a16="http://schemas.microsoft.com/office/drawing/2014/main" id="{D7F7330C-FDE8-48CB-BDC3-FEA7673C19B1}"/>
              </a:ext>
            </a:extLst>
          </p:cNvPr>
          <p:cNvSpPr>
            <a:spLocks xmlns:a="http://schemas.openxmlformats.org/drawingml/2006/main" noGrp="1"/>
          </p:cNvSpPr>
          <p:nvPr/>
        </p:nvSpPr>
        <p:spPr>
          <a:xfrm xmlns:a="http://schemas.openxmlformats.org/drawingml/2006/main">
            <a:off x="7948613" y="1766888"/>
            <a:ext cx="9525" cy="9525"/>
          </a:xfrm>
          <a:prstGeom xmlns:a="http://schemas.openxmlformats.org/drawingml/2006/main" prst="rect">
            <a:avLst/>
          </a:prstGeom>
          <a:noFill xmlns:a="http://schemas.openxmlformats.org/drawingml/2006/main"/>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AE52114-C809-4498-8179-89F0FDA7291B}"/>
              </a:ext>
            </a:extLst>
          </p:cNvPr>
          <p:cNvSpPr>
            <a:spLocks xmlns:a="http://schemas.openxmlformats.org/drawingml/2006/main" noGrp="1"/>
          </p:cNvSpPr>
          <p:nvPr/>
        </p:nvSpPr>
        <p:spPr>
          <a:xfrm xmlns:a="http://schemas.openxmlformats.org/drawingml/2006/main">
            <a:off x="6900863" y="17668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3" name=""/>
          <p:cNvCxnSpPr>
            <a:stCxn xmlns:a="http://schemas.openxmlformats.org/drawingml/2006/main" id="20" idx="1"/>
            <a:endCxn xmlns:a="http://schemas.openxmlformats.org/drawingml/2006/main" id="21" idx="3"/>
          </p:cNvCxnSpPr>
          <p:nvPr/>
        </p:nvCxnSpPr>
        <p:spPr>
          <a:xfrm xmlns:a="http://schemas.openxmlformats.org/drawingml/2006/main" flipH="1">
            <a:off x="6910388" y="1771651"/>
            <a:ext cx="1038225" cy="0"/>
          </a:xfrm>
          <a:prstGeom xmlns:a="http://schemas.openxmlformats.org/drawingml/2006/main" prst="straightConnector1">
            <a:avLst/>
          </a:prstGeom>
          <a:ln xmlns:a="http://schemas.openxmlformats.org/drawingml/2006/main" w="17145">
            <a:solidFill>
              <a:srgbClr val="246BFF"/>
            </a:solidFill>
            <a:prstDash val="solid"/>
            <a:tailEnd type="triangle" w="sm" len="sm"/>
          </a:ln>
        </p:spPr>
      </p:cxnSp>
      <p:sp>
        <p:nvSpPr>
          <p:cNvPr id="23" name="lesen">
            <a:extLst xmlns:a="http://schemas.openxmlformats.org/drawingml/2006/main">
              <a:ext uri="{FF2B5EF4-FFF2-40B4-BE49-F238E27FC236}">
                <a16:creationId xmlns:a16="http://schemas.microsoft.com/office/drawing/2014/main" id="{9ABA8C45-C50E-4C53-A1D8-117F41301DC9}"/>
              </a:ext>
            </a:extLst>
          </p:cNvPr>
          <p:cNvSpPr>
            <a:spLocks xmlns:a="http://schemas.openxmlformats.org/drawingml/2006/main" noGrp="1"/>
          </p:cNvSpPr>
          <p:nvPr/>
        </p:nvSpPr>
        <p:spPr>
          <a:xfrm xmlns:a="http://schemas.openxmlformats.org/drawingml/2006/main">
            <a:off x="7115175" y="1457325"/>
            <a:ext cx="781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B6B82"/>
                </a:solidFill>
                <a:latin typeface="Aptos"/>
                <a:ea typeface="Aptos"/>
                <a:cs typeface="Aptos"/>
              </a:defRPr>
            </a:pPr>
            <a:r>
              <a:rPr sz="1425" b="0">
                <a:solidFill>
                  <a:srgbClr val="5B6B82"/>
                </a:solidFill>
                <a:latin typeface="Aptos"/>
                <a:ea typeface="Aptos"/>
                <a:cs typeface="Aptos"/>
              </a:rPr>
              <a:t>lesen</a:t>
            </a:r>
          </a:p>
        </p:txBody>
      </p:sp>
      <p:sp>
        <p:nvSpPr>
          <p:cNvPr id="24" name="«database» Konfigurationen">
            <a:extLst xmlns:a="http://schemas.openxmlformats.org/drawingml/2006/main">
              <a:ext uri="{FF2B5EF4-FFF2-40B4-BE49-F238E27FC236}">
                <a16:creationId xmlns:a16="http://schemas.microsoft.com/office/drawing/2014/main" id="{DC916D3F-1646-43B3-BE21-3DB5AD2D27D8}"/>
              </a:ext>
            </a:extLst>
          </p:cNvPr>
          <p:cNvSpPr>
            <a:spLocks xmlns:a="http://schemas.openxmlformats.org/drawingml/2006/main" noGrp="1"/>
          </p:cNvSpPr>
          <p:nvPr/>
        </p:nvSpPr>
        <p:spPr>
          <a:xfrm xmlns:a="http://schemas.openxmlformats.org/drawingml/2006/main">
            <a:off x="4114800" y="2857500"/>
            <a:ext cx="2447925" cy="762000"/>
          </a:xfrm>
          <a:prstGeom xmlns:a="http://schemas.openxmlformats.org/drawingml/2006/main" prst="rect">
            <a:avLst/>
          </a:prstGeom>
          <a:solidFill xmlns:a="http://schemas.openxmlformats.org/drawingml/2006/main">
            <a:srgbClr val="DCEAFF"/>
          </a:solidFill>
          <a:ln xmlns:a="http://schemas.openxmlformats.org/drawingml/2006/main" w="14288">
            <a:solidFill>
              <a:srgbClr val="246BFF"/>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575" b="0">
                <a:solidFill>
                  <a:srgbClr val="172440"/>
                </a:solidFill>
                <a:latin typeface="Aptos"/>
                <a:ea typeface="Aptos"/>
                <a:cs typeface="Aptos"/>
              </a:defRPr>
            </a:pPr>
            <a:r>
              <a:rPr sz="1575" b="0">
                <a:solidFill>
                  <a:srgbClr val="172440"/>
                </a:solidFill>
                <a:latin typeface="Aptos"/>
                <a:ea typeface="Aptos"/>
                <a:cs typeface="Aptos"/>
              </a:rPr>
              <a:t>«database»</a:t>
            </a:r>
          </a:p>
          <a:p xmlns:a="http://schemas.openxmlformats.org/drawingml/2006/main">
            <a:pPr algn="ctr">
              <a:defRPr sz="1575" b="0">
                <a:solidFill>
                  <a:srgbClr val="172440"/>
                </a:solidFill>
                <a:latin typeface="Aptos"/>
                <a:ea typeface="Aptos"/>
                <a:cs typeface="Aptos"/>
              </a:defRPr>
            </a:pPr>
            <a:r>
              <a:rPr sz="1575" b="0">
                <a:solidFill>
                  <a:srgbClr val="172440"/>
                </a:solidFill>
                <a:latin typeface="Aptos"/>
                <a:ea typeface="Aptos"/>
                <a:cs typeface="Aptos"/>
              </a:rPr>
              <a:t>Konfigurationen</a:t>
            </a:r>
          </a:p>
        </p:txBody>
      </p:sp>
      <p:sp>
        <p:nvSpPr>
          <p:cNvPr id="25" name="">
            <a:extLst xmlns:a="http://schemas.openxmlformats.org/drawingml/2006/main">
              <a:ext uri="{FF2B5EF4-FFF2-40B4-BE49-F238E27FC236}">
                <a16:creationId xmlns:a16="http://schemas.microsoft.com/office/drawing/2014/main" id="{3B3F5BE8-10D5-4865-86D5-EFCCAF820742}"/>
              </a:ext>
            </a:extLst>
          </p:cNvPr>
          <p:cNvSpPr>
            <a:spLocks xmlns:a="http://schemas.openxmlformats.org/drawingml/2006/main" noGrp="1"/>
          </p:cNvSpPr>
          <p:nvPr/>
        </p:nvSpPr>
        <p:spPr>
          <a:xfrm xmlns:a="http://schemas.openxmlformats.org/drawingml/2006/main">
            <a:off x="5329238" y="2462213"/>
            <a:ext cx="9525" cy="9525"/>
          </a:xfrm>
          <a:prstGeom xmlns:a="http://schemas.openxmlformats.org/drawingml/2006/main" prst="rect">
            <a:avLst/>
          </a:prstGeom>
          <a:noFill xmlns:a="http://schemas.openxmlformats.org/drawingml/2006/main"/>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1B867A1-D953-42E4-B768-4CD117D91B55}"/>
              </a:ext>
            </a:extLst>
          </p:cNvPr>
          <p:cNvSpPr>
            <a:spLocks xmlns:a="http://schemas.openxmlformats.org/drawingml/2006/main" noGrp="1"/>
          </p:cNvSpPr>
          <p:nvPr/>
        </p:nvSpPr>
        <p:spPr>
          <a:xfrm xmlns:a="http://schemas.openxmlformats.org/drawingml/2006/main">
            <a:off x="5329238" y="28527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8" name=""/>
          <p:cNvCxnSpPr>
            <a:stCxn xmlns:a="http://schemas.openxmlformats.org/drawingml/2006/main" id="25" idx="2"/>
            <a:endCxn xmlns:a="http://schemas.openxmlformats.org/drawingml/2006/main" id="26" idx="0"/>
          </p:cNvCxnSpPr>
          <p:nvPr/>
        </p:nvCxnSpPr>
        <p:spPr>
          <a:xfrm xmlns:a="http://schemas.openxmlformats.org/drawingml/2006/main">
            <a:off x="5334001" y="2471738"/>
            <a:ext cx="0" cy="381000"/>
          </a:xfrm>
          <a:prstGeom xmlns:a="http://schemas.openxmlformats.org/drawingml/2006/main" prst="straightConnector1">
            <a:avLst/>
          </a:prstGeom>
          <a:ln xmlns:a="http://schemas.openxmlformats.org/drawingml/2006/main" w="17145">
            <a:solidFill>
              <a:srgbClr val="9CAAC0"/>
            </a:solidFill>
            <a:prstDash val="solid"/>
            <a:tailEnd type="triangle" w="sm" len="sm"/>
          </a:ln>
        </p:spPr>
      </p:cxnSp>
      <p:sp>
        <p:nvSpPr>
          <p:cNvPr id="28" name="«database» Analyseläufe">
            <a:extLst xmlns:a="http://schemas.openxmlformats.org/drawingml/2006/main">
              <a:ext uri="{FF2B5EF4-FFF2-40B4-BE49-F238E27FC236}">
                <a16:creationId xmlns:a16="http://schemas.microsoft.com/office/drawing/2014/main" id="{E5051537-692A-4C40-897B-6C6D8B706698}"/>
              </a:ext>
            </a:extLst>
          </p:cNvPr>
          <p:cNvSpPr>
            <a:spLocks xmlns:a="http://schemas.openxmlformats.org/drawingml/2006/main" noGrp="1"/>
          </p:cNvSpPr>
          <p:nvPr/>
        </p:nvSpPr>
        <p:spPr>
          <a:xfrm xmlns:a="http://schemas.openxmlformats.org/drawingml/2006/main">
            <a:off x="8496300" y="2857500"/>
            <a:ext cx="2476500" cy="762000"/>
          </a:xfrm>
          <a:prstGeom xmlns:a="http://schemas.openxmlformats.org/drawingml/2006/main" prst="rect">
            <a:avLst/>
          </a:prstGeom>
          <a:solidFill xmlns:a="http://schemas.openxmlformats.org/drawingml/2006/main">
            <a:srgbClr val="E0F5EE"/>
          </a:solidFill>
          <a:ln xmlns:a="http://schemas.openxmlformats.org/drawingml/2006/main" w="14288">
            <a:solidFill>
              <a:srgbClr val="00AD77"/>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575" b="0">
                <a:solidFill>
                  <a:srgbClr val="172440"/>
                </a:solidFill>
                <a:latin typeface="Aptos"/>
                <a:ea typeface="Aptos"/>
                <a:cs typeface="Aptos"/>
              </a:defRPr>
            </a:pPr>
            <a:r>
              <a:rPr sz="1575" b="0">
                <a:solidFill>
                  <a:srgbClr val="172440"/>
                </a:solidFill>
                <a:latin typeface="Aptos"/>
                <a:ea typeface="Aptos"/>
                <a:cs typeface="Aptos"/>
              </a:rPr>
              <a:t>«database»</a:t>
            </a:r>
          </a:p>
          <a:p xmlns:a="http://schemas.openxmlformats.org/drawingml/2006/main">
            <a:pPr algn="ctr">
              <a:defRPr sz="1575" b="0">
                <a:solidFill>
                  <a:srgbClr val="172440"/>
                </a:solidFill>
                <a:latin typeface="Aptos"/>
                <a:ea typeface="Aptos"/>
                <a:cs typeface="Aptos"/>
              </a:defRPr>
            </a:pPr>
            <a:r>
              <a:rPr sz="1575" b="0">
                <a:solidFill>
                  <a:srgbClr val="172440"/>
                </a:solidFill>
                <a:latin typeface="Aptos"/>
                <a:ea typeface="Aptos"/>
                <a:cs typeface="Aptos"/>
              </a:rPr>
              <a:t>Analyseläufe</a:t>
            </a:r>
          </a:p>
        </p:txBody>
      </p:sp>
      <p:sp>
        <p:nvSpPr>
          <p:cNvPr id="29" name="">
            <a:extLst xmlns:a="http://schemas.openxmlformats.org/drawingml/2006/main">
              <a:ext uri="{FF2B5EF4-FFF2-40B4-BE49-F238E27FC236}">
                <a16:creationId xmlns:a16="http://schemas.microsoft.com/office/drawing/2014/main" id="{85D9A57B-B0F6-4FAE-BD60-B9D506149B89}"/>
              </a:ext>
            </a:extLst>
          </p:cNvPr>
          <p:cNvSpPr>
            <a:spLocks xmlns:a="http://schemas.openxmlformats.org/drawingml/2006/main" noGrp="1"/>
          </p:cNvSpPr>
          <p:nvPr/>
        </p:nvSpPr>
        <p:spPr>
          <a:xfrm xmlns:a="http://schemas.openxmlformats.org/drawingml/2006/main">
            <a:off x="9729788" y="2462213"/>
            <a:ext cx="9525" cy="9525"/>
          </a:xfrm>
          <a:prstGeom xmlns:a="http://schemas.openxmlformats.org/drawingml/2006/main" prst="rect">
            <a:avLst/>
          </a:prstGeom>
          <a:noFill xmlns:a="http://schemas.openxmlformats.org/drawingml/2006/main"/>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AFEFB58-AB90-4F10-86BC-B5E4D874F56A}"/>
              </a:ext>
            </a:extLst>
          </p:cNvPr>
          <p:cNvSpPr>
            <a:spLocks xmlns:a="http://schemas.openxmlformats.org/drawingml/2006/main" noGrp="1"/>
          </p:cNvSpPr>
          <p:nvPr/>
        </p:nvSpPr>
        <p:spPr>
          <a:xfrm xmlns:a="http://schemas.openxmlformats.org/drawingml/2006/main">
            <a:off x="9729788" y="28527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92" name=""/>
          <p:cNvCxnSpPr>
            <a:stCxn xmlns:a="http://schemas.openxmlformats.org/drawingml/2006/main" id="29" idx="2"/>
            <a:endCxn xmlns:a="http://schemas.openxmlformats.org/drawingml/2006/main" id="30" idx="0"/>
          </p:cNvCxnSpPr>
          <p:nvPr/>
        </p:nvCxnSpPr>
        <p:spPr>
          <a:xfrm xmlns:a="http://schemas.openxmlformats.org/drawingml/2006/main">
            <a:off x="9734551" y="2471738"/>
            <a:ext cx="0" cy="381000"/>
          </a:xfrm>
          <a:prstGeom xmlns:a="http://schemas.openxmlformats.org/drawingml/2006/main" prst="straightConnector1">
            <a:avLst/>
          </a:prstGeom>
          <a:ln xmlns:a="http://schemas.openxmlformats.org/drawingml/2006/main" w="17145">
            <a:solidFill>
              <a:srgbClr val="9CAAC0"/>
            </a:solidFill>
            <a:prstDash val="solid"/>
            <a:tailEnd type="triangle" w="sm" len="sm"/>
          </a:ln>
        </p:spPr>
      </p:cxnSp>
      <p:sp>
        <p:nvSpPr>
          <p:cNvPr id="32" name="«component» Fluid">
            <a:extLst xmlns:a="http://schemas.openxmlformats.org/drawingml/2006/main">
              <a:ext uri="{FF2B5EF4-FFF2-40B4-BE49-F238E27FC236}">
                <a16:creationId xmlns:a16="http://schemas.microsoft.com/office/drawing/2014/main" id="{B810E78E-1C94-405F-BF3C-D4794F66C0C3}"/>
              </a:ext>
            </a:extLst>
          </p:cNvPr>
          <p:cNvSpPr>
            <a:spLocks xmlns:a="http://schemas.openxmlformats.org/drawingml/2006/main" noGrp="1"/>
          </p:cNvSpPr>
          <p:nvPr/>
        </p:nvSpPr>
        <p:spPr>
          <a:xfrm xmlns:a="http://schemas.openxmlformats.org/drawingml/2006/main">
            <a:off x="619125" y="4352925"/>
            <a:ext cx="2143125" cy="866775"/>
          </a:xfrm>
          <a:prstGeom xmlns:a="http://schemas.openxmlformats.org/drawingml/2006/main" prst="rect">
            <a:avLst/>
          </a:prstGeom>
          <a:solidFill xmlns:a="http://schemas.openxmlformats.org/drawingml/2006/main">
            <a:srgbClr val="FFF2CC"/>
          </a:solidFill>
          <a:ln xmlns:a="http://schemas.openxmlformats.org/drawingml/2006/main" w="14288">
            <a:solidFill>
              <a:srgbClr val="EFA500"/>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650" b="0">
                <a:solidFill>
                  <a:srgbClr val="172440"/>
                </a:solidFill>
                <a:latin typeface="Aptos"/>
                <a:ea typeface="Aptos"/>
                <a:cs typeface="Aptos"/>
              </a:defRPr>
            </a:pPr>
            <a:r>
              <a:rPr sz="1650" b="0">
                <a:solidFill>
                  <a:srgbClr val="172440"/>
                </a:solidFill>
                <a:latin typeface="Aptos"/>
                <a:ea typeface="Aptos"/>
                <a:cs typeface="Aptos"/>
              </a:rPr>
              <a:t>«component»</a:t>
            </a:r>
          </a:p>
          <a:p xmlns:a="http://schemas.openxmlformats.org/drawingml/2006/main">
            <a:pPr algn="ctr">
              <a:defRPr sz="1650" b="0">
                <a:solidFill>
                  <a:srgbClr val="172440"/>
                </a:solidFill>
                <a:latin typeface="Aptos"/>
                <a:ea typeface="Aptos"/>
                <a:cs typeface="Aptos"/>
              </a:defRPr>
            </a:pPr>
            <a:r>
              <a:rPr sz="1650" b="0">
                <a:solidFill>
                  <a:srgbClr val="172440"/>
                </a:solidFill>
                <a:latin typeface="Aptos"/>
                <a:ea typeface="Aptos"/>
                <a:cs typeface="Aptos"/>
              </a:rPr>
              <a:t>Fluid</a:t>
            </a:r>
          </a:p>
        </p:txBody>
      </p:sp>
      <p:sp>
        <p:nvSpPr>
          <p:cNvPr id="33" name="«component» Thermal">
            <a:extLst xmlns:a="http://schemas.openxmlformats.org/drawingml/2006/main">
              <a:ext uri="{FF2B5EF4-FFF2-40B4-BE49-F238E27FC236}">
                <a16:creationId xmlns:a16="http://schemas.microsoft.com/office/drawing/2014/main" id="{B9815080-6B60-45CC-BBEC-426B17492A43}"/>
              </a:ext>
            </a:extLst>
          </p:cNvPr>
          <p:cNvSpPr>
            <a:spLocks xmlns:a="http://schemas.openxmlformats.org/drawingml/2006/main" noGrp="1"/>
          </p:cNvSpPr>
          <p:nvPr/>
        </p:nvSpPr>
        <p:spPr>
          <a:xfrm xmlns:a="http://schemas.openxmlformats.org/drawingml/2006/main">
            <a:off x="3543300" y="4352925"/>
            <a:ext cx="2143125" cy="866775"/>
          </a:xfrm>
          <a:prstGeom xmlns:a="http://schemas.openxmlformats.org/drawingml/2006/main" prst="rect">
            <a:avLst/>
          </a:prstGeom>
          <a:solidFill xmlns:a="http://schemas.openxmlformats.org/drawingml/2006/main">
            <a:srgbClr val="FFF2CC"/>
          </a:solidFill>
          <a:ln xmlns:a="http://schemas.openxmlformats.org/drawingml/2006/main" w="14288">
            <a:solidFill>
              <a:srgbClr val="EFA500"/>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650" b="0">
                <a:solidFill>
                  <a:srgbClr val="172440"/>
                </a:solidFill>
                <a:latin typeface="Aptos"/>
                <a:ea typeface="Aptos"/>
                <a:cs typeface="Aptos"/>
              </a:defRPr>
            </a:pPr>
            <a:r>
              <a:rPr sz="1650" b="0">
                <a:solidFill>
                  <a:srgbClr val="172440"/>
                </a:solidFill>
                <a:latin typeface="Aptos"/>
                <a:ea typeface="Aptos"/>
                <a:cs typeface="Aptos"/>
              </a:rPr>
              <a:t>«component»</a:t>
            </a:r>
          </a:p>
          <a:p xmlns:a="http://schemas.openxmlformats.org/drawingml/2006/main">
            <a:pPr algn="ctr">
              <a:defRPr sz="1650" b="0">
                <a:solidFill>
                  <a:srgbClr val="172440"/>
                </a:solidFill>
                <a:latin typeface="Aptos"/>
                <a:ea typeface="Aptos"/>
                <a:cs typeface="Aptos"/>
              </a:defRPr>
            </a:pPr>
            <a:r>
              <a:rPr sz="1650" b="0">
                <a:solidFill>
                  <a:srgbClr val="172440"/>
                </a:solidFill>
                <a:latin typeface="Aptos"/>
                <a:ea typeface="Aptos"/>
                <a:cs typeface="Aptos"/>
              </a:rPr>
              <a:t>Thermal</a:t>
            </a:r>
          </a:p>
        </p:txBody>
      </p:sp>
      <p:sp>
        <p:nvSpPr>
          <p:cNvPr id="34" name="«component» Electrical">
            <a:extLst xmlns:a="http://schemas.openxmlformats.org/drawingml/2006/main">
              <a:ext uri="{FF2B5EF4-FFF2-40B4-BE49-F238E27FC236}">
                <a16:creationId xmlns:a16="http://schemas.microsoft.com/office/drawing/2014/main" id="{AC496563-B6D4-4D01-9BC2-020D0D3E3953}"/>
              </a:ext>
            </a:extLst>
          </p:cNvPr>
          <p:cNvSpPr>
            <a:spLocks xmlns:a="http://schemas.openxmlformats.org/drawingml/2006/main" noGrp="1"/>
          </p:cNvSpPr>
          <p:nvPr/>
        </p:nvSpPr>
        <p:spPr>
          <a:xfrm xmlns:a="http://schemas.openxmlformats.org/drawingml/2006/main">
            <a:off x="6467475" y="4352925"/>
            <a:ext cx="2143125" cy="866775"/>
          </a:xfrm>
          <a:prstGeom xmlns:a="http://schemas.openxmlformats.org/drawingml/2006/main" prst="rect">
            <a:avLst/>
          </a:prstGeom>
          <a:solidFill xmlns:a="http://schemas.openxmlformats.org/drawingml/2006/main">
            <a:srgbClr val="FFF2CC"/>
          </a:solidFill>
          <a:ln xmlns:a="http://schemas.openxmlformats.org/drawingml/2006/main" w="14288">
            <a:solidFill>
              <a:srgbClr val="EFA500"/>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650" b="0">
                <a:solidFill>
                  <a:srgbClr val="172440"/>
                </a:solidFill>
                <a:latin typeface="Aptos"/>
                <a:ea typeface="Aptos"/>
                <a:cs typeface="Aptos"/>
              </a:defRPr>
            </a:pPr>
            <a:r>
              <a:rPr sz="1650" b="0">
                <a:solidFill>
                  <a:srgbClr val="172440"/>
                </a:solidFill>
                <a:latin typeface="Aptos"/>
                <a:ea typeface="Aptos"/>
                <a:cs typeface="Aptos"/>
              </a:rPr>
              <a:t>«component»</a:t>
            </a:r>
          </a:p>
          <a:p xmlns:a="http://schemas.openxmlformats.org/drawingml/2006/main">
            <a:pPr algn="ctr">
              <a:defRPr sz="1650" b="0">
                <a:solidFill>
                  <a:srgbClr val="172440"/>
                </a:solidFill>
                <a:latin typeface="Aptos"/>
                <a:ea typeface="Aptos"/>
                <a:cs typeface="Aptos"/>
              </a:defRPr>
            </a:pPr>
            <a:r>
              <a:rPr sz="1650" b="0">
                <a:solidFill>
                  <a:srgbClr val="172440"/>
                </a:solidFill>
                <a:latin typeface="Aptos"/>
                <a:ea typeface="Aptos"/>
                <a:cs typeface="Aptos"/>
              </a:rPr>
              <a:t>Electrical</a:t>
            </a:r>
          </a:p>
        </p:txBody>
      </p:sp>
      <p:sp>
        <p:nvSpPr>
          <p:cNvPr id="35" name="«component» Engine Management">
            <a:extLst xmlns:a="http://schemas.openxmlformats.org/drawingml/2006/main">
              <a:ext uri="{FF2B5EF4-FFF2-40B4-BE49-F238E27FC236}">
                <a16:creationId xmlns:a16="http://schemas.microsoft.com/office/drawing/2014/main" id="{B98CDBC9-6607-4D33-856D-6AEDA1DC366B}"/>
              </a:ext>
            </a:extLst>
          </p:cNvPr>
          <p:cNvSpPr>
            <a:spLocks xmlns:a="http://schemas.openxmlformats.org/drawingml/2006/main" noGrp="1"/>
          </p:cNvSpPr>
          <p:nvPr/>
        </p:nvSpPr>
        <p:spPr>
          <a:xfrm xmlns:a="http://schemas.openxmlformats.org/drawingml/2006/main">
            <a:off x="9391650" y="4352925"/>
            <a:ext cx="2143125" cy="866775"/>
          </a:xfrm>
          <a:prstGeom xmlns:a="http://schemas.openxmlformats.org/drawingml/2006/main" prst="rect">
            <a:avLst/>
          </a:prstGeom>
          <a:solidFill xmlns:a="http://schemas.openxmlformats.org/drawingml/2006/main">
            <a:srgbClr val="FFF2CC"/>
          </a:solidFill>
          <a:ln xmlns:a="http://schemas.openxmlformats.org/drawingml/2006/main" w="14288">
            <a:solidFill>
              <a:srgbClr val="EFA500"/>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650" b="0">
                <a:solidFill>
                  <a:srgbClr val="172440"/>
                </a:solidFill>
                <a:latin typeface="Aptos"/>
                <a:ea typeface="Aptos"/>
                <a:cs typeface="Aptos"/>
              </a:defRPr>
            </a:pPr>
            <a:r>
              <a:rPr sz="1650" b="0">
                <a:solidFill>
                  <a:srgbClr val="172440"/>
                </a:solidFill>
                <a:latin typeface="Aptos"/>
                <a:ea typeface="Aptos"/>
                <a:cs typeface="Aptos"/>
              </a:rPr>
              <a:t>«component»</a:t>
            </a:r>
          </a:p>
          <a:p xmlns:a="http://schemas.openxmlformats.org/drawingml/2006/main">
            <a:pPr algn="ctr">
              <a:defRPr sz="1650" b="0">
                <a:solidFill>
                  <a:srgbClr val="172440"/>
                </a:solidFill>
                <a:latin typeface="Aptos"/>
                <a:ea typeface="Aptos"/>
                <a:cs typeface="Aptos"/>
              </a:defRPr>
            </a:pPr>
            <a:r>
              <a:rPr sz="1650" b="0">
                <a:solidFill>
                  <a:srgbClr val="172440"/>
                </a:solidFill>
                <a:latin typeface="Aptos"/>
                <a:ea typeface="Aptos"/>
                <a:cs typeface="Aptos"/>
              </a:rPr>
              <a:t>Engine Management</a:t>
            </a:r>
          </a:p>
        </p:txBody>
      </p:sp>
      <p:sp>
        <p:nvSpPr>
          <p:cNvPr id="36" name="">
            <a:extLst xmlns:a="http://schemas.openxmlformats.org/drawingml/2006/main">
              <a:ext uri="{FF2B5EF4-FFF2-40B4-BE49-F238E27FC236}">
                <a16:creationId xmlns:a16="http://schemas.microsoft.com/office/drawing/2014/main" id="{FA21CE3A-46B2-465A-BC56-E0E42136D01C}"/>
              </a:ext>
            </a:extLst>
          </p:cNvPr>
          <p:cNvSpPr>
            <a:spLocks xmlns:a="http://schemas.openxmlformats.org/drawingml/2006/main" noGrp="1"/>
          </p:cNvSpPr>
          <p:nvPr/>
        </p:nvSpPr>
        <p:spPr>
          <a:xfrm xmlns:a="http://schemas.openxmlformats.org/drawingml/2006/main">
            <a:off x="2757488" y="4776788"/>
            <a:ext cx="9525" cy="9525"/>
          </a:xfrm>
          <a:prstGeom xmlns:a="http://schemas.openxmlformats.org/drawingml/2006/main" prst="rect">
            <a:avLst/>
          </a:prstGeom>
          <a:noFill xmlns:a="http://schemas.openxmlformats.org/drawingml/2006/main"/>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1A33B1B-9A7F-4952-88CC-221C465652A0}"/>
              </a:ext>
            </a:extLst>
          </p:cNvPr>
          <p:cNvSpPr>
            <a:spLocks xmlns:a="http://schemas.openxmlformats.org/drawingml/2006/main" noGrp="1"/>
          </p:cNvSpPr>
          <p:nvPr/>
        </p:nvSpPr>
        <p:spPr>
          <a:xfrm xmlns:a="http://schemas.openxmlformats.org/drawingml/2006/main">
            <a:off x="3538538" y="47767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99" name=""/>
          <p:cNvCxnSpPr>
            <a:stCxn xmlns:a="http://schemas.openxmlformats.org/drawingml/2006/main" id="36" idx="3"/>
            <a:endCxn xmlns:a="http://schemas.openxmlformats.org/drawingml/2006/main" id="37" idx="1"/>
          </p:cNvCxnSpPr>
          <p:nvPr/>
        </p:nvCxnSpPr>
        <p:spPr>
          <a:xfrm xmlns:a="http://schemas.openxmlformats.org/drawingml/2006/main">
            <a:off x="2767013" y="4781551"/>
            <a:ext cx="771525" cy="0"/>
          </a:xfrm>
          <a:prstGeom xmlns:a="http://schemas.openxmlformats.org/drawingml/2006/main" prst="straightConnector1">
            <a:avLst/>
          </a:prstGeom>
          <a:ln xmlns:a="http://schemas.openxmlformats.org/drawingml/2006/main" w="17145">
            <a:solidFill>
              <a:srgbClr val="246BFF"/>
            </a:solidFill>
            <a:prstDash val="solid"/>
            <a:tailEnd type="triangle" w="sm" len="sm"/>
          </a:ln>
        </p:spPr>
      </p:cxnSp>
      <p:sp>
        <p:nvSpPr>
          <p:cNvPr id="39" name="">
            <a:extLst xmlns:a="http://schemas.openxmlformats.org/drawingml/2006/main">
              <a:ext uri="{FF2B5EF4-FFF2-40B4-BE49-F238E27FC236}">
                <a16:creationId xmlns:a16="http://schemas.microsoft.com/office/drawing/2014/main" id="{F37D8F68-C331-4C9D-BFA6-7462008B52D3}"/>
              </a:ext>
            </a:extLst>
          </p:cNvPr>
          <p:cNvSpPr>
            <a:spLocks xmlns:a="http://schemas.openxmlformats.org/drawingml/2006/main" noGrp="1"/>
          </p:cNvSpPr>
          <p:nvPr/>
        </p:nvSpPr>
        <p:spPr>
          <a:xfrm xmlns:a="http://schemas.openxmlformats.org/drawingml/2006/main">
            <a:off x="5681663" y="4776788"/>
            <a:ext cx="9525" cy="9525"/>
          </a:xfrm>
          <a:prstGeom xmlns:a="http://schemas.openxmlformats.org/drawingml/2006/main" prst="rect">
            <a:avLst/>
          </a:prstGeom>
          <a:noFill xmlns:a="http://schemas.openxmlformats.org/drawingml/2006/main"/>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6C828FD9-231A-4523-A975-EA7A54C1F331}"/>
              </a:ext>
            </a:extLst>
          </p:cNvPr>
          <p:cNvSpPr>
            <a:spLocks xmlns:a="http://schemas.openxmlformats.org/drawingml/2006/main" noGrp="1"/>
          </p:cNvSpPr>
          <p:nvPr/>
        </p:nvSpPr>
        <p:spPr>
          <a:xfrm xmlns:a="http://schemas.openxmlformats.org/drawingml/2006/main">
            <a:off x="6462713" y="47767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02" name=""/>
          <p:cNvCxnSpPr>
            <a:stCxn xmlns:a="http://schemas.openxmlformats.org/drawingml/2006/main" id="39" idx="3"/>
            <a:endCxn xmlns:a="http://schemas.openxmlformats.org/drawingml/2006/main" id="40" idx="1"/>
          </p:cNvCxnSpPr>
          <p:nvPr/>
        </p:nvCxnSpPr>
        <p:spPr>
          <a:xfrm xmlns:a="http://schemas.openxmlformats.org/drawingml/2006/main">
            <a:off x="5691188" y="4781551"/>
            <a:ext cx="771525" cy="0"/>
          </a:xfrm>
          <a:prstGeom xmlns:a="http://schemas.openxmlformats.org/drawingml/2006/main" prst="straightConnector1">
            <a:avLst/>
          </a:prstGeom>
          <a:ln xmlns:a="http://schemas.openxmlformats.org/drawingml/2006/main" w="17145">
            <a:solidFill>
              <a:srgbClr val="246BFF"/>
            </a:solidFill>
            <a:prstDash val="solid"/>
            <a:tailEnd type="triangle" w="sm" len="sm"/>
          </a:ln>
        </p:spPr>
      </p:cxnSp>
      <p:sp>
        <p:nvSpPr>
          <p:cNvPr id="42" name="">
            <a:extLst xmlns:a="http://schemas.openxmlformats.org/drawingml/2006/main">
              <a:ext uri="{FF2B5EF4-FFF2-40B4-BE49-F238E27FC236}">
                <a16:creationId xmlns:a16="http://schemas.microsoft.com/office/drawing/2014/main" id="{8ADA899A-2EDE-47B1-8F67-C1718D9B6E0F}"/>
              </a:ext>
            </a:extLst>
          </p:cNvPr>
          <p:cNvSpPr>
            <a:spLocks xmlns:a="http://schemas.openxmlformats.org/drawingml/2006/main" noGrp="1"/>
          </p:cNvSpPr>
          <p:nvPr/>
        </p:nvSpPr>
        <p:spPr>
          <a:xfrm xmlns:a="http://schemas.openxmlformats.org/drawingml/2006/main">
            <a:off x="8605838" y="4776788"/>
            <a:ext cx="9525" cy="9525"/>
          </a:xfrm>
          <a:prstGeom xmlns:a="http://schemas.openxmlformats.org/drawingml/2006/main" prst="rect">
            <a:avLst/>
          </a:prstGeom>
          <a:noFill xmlns:a="http://schemas.openxmlformats.org/drawingml/2006/main"/>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CCC0A399-340C-4906-905A-30B6AFB2F3D6}"/>
              </a:ext>
            </a:extLst>
          </p:cNvPr>
          <p:cNvSpPr>
            <a:spLocks xmlns:a="http://schemas.openxmlformats.org/drawingml/2006/main" noGrp="1"/>
          </p:cNvSpPr>
          <p:nvPr/>
        </p:nvSpPr>
        <p:spPr>
          <a:xfrm xmlns:a="http://schemas.openxmlformats.org/drawingml/2006/main">
            <a:off x="9386888" y="47767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05" name=""/>
          <p:cNvCxnSpPr>
            <a:stCxn xmlns:a="http://schemas.openxmlformats.org/drawingml/2006/main" id="42" idx="3"/>
            <a:endCxn xmlns:a="http://schemas.openxmlformats.org/drawingml/2006/main" id="43" idx="1"/>
          </p:cNvCxnSpPr>
          <p:nvPr/>
        </p:nvCxnSpPr>
        <p:spPr>
          <a:xfrm xmlns:a="http://schemas.openxmlformats.org/drawingml/2006/main">
            <a:off x="8615363" y="4781551"/>
            <a:ext cx="771525" cy="0"/>
          </a:xfrm>
          <a:prstGeom xmlns:a="http://schemas.openxmlformats.org/drawingml/2006/main" prst="straightConnector1">
            <a:avLst/>
          </a:prstGeom>
          <a:ln xmlns:a="http://schemas.openxmlformats.org/drawingml/2006/main" w="17145">
            <a:solidFill>
              <a:srgbClr val="246BFF"/>
            </a:solidFill>
            <a:prstDash val="solid"/>
            <a:tailEnd type="triangle" w="sm" len="sm"/>
          </a:ln>
        </p:spPr>
      </p:cxnSp>
      <p:sp>
        <p:nvSpPr>
          <p:cNvPr id="45" name="Start / Retry durch Management">
            <a:extLst xmlns:a="http://schemas.openxmlformats.org/drawingml/2006/main">
              <a:ext uri="{FF2B5EF4-FFF2-40B4-BE49-F238E27FC236}">
                <a16:creationId xmlns:a16="http://schemas.microsoft.com/office/drawing/2014/main" id="{5F99FDDE-1F9D-49B4-8E61-346EF5BC2F62}"/>
              </a:ext>
            </a:extLst>
          </p:cNvPr>
          <p:cNvSpPr>
            <a:spLocks xmlns:a="http://schemas.openxmlformats.org/drawingml/2006/main" noGrp="1"/>
          </p:cNvSpPr>
          <p:nvPr/>
        </p:nvSpPr>
        <p:spPr>
          <a:xfrm xmlns:a="http://schemas.openxmlformats.org/drawingml/2006/main">
            <a:off x="619125" y="3781425"/>
            <a:ext cx="6143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246BFF"/>
                </a:solidFill>
                <a:latin typeface="Aptos"/>
                <a:ea typeface="Aptos"/>
                <a:cs typeface="Aptos"/>
              </a:defRPr>
            </a:pPr>
            <a:r>
              <a:rPr sz="1725" b="0">
                <a:solidFill>
                  <a:srgbClr val="246BFF"/>
                </a:solidFill>
                <a:latin typeface="Aptos"/>
                <a:ea typeface="Aptos"/>
                <a:cs typeface="Aptos"/>
              </a:rPr>
              <a:t>Start / Retry durch Management</a:t>
            </a:r>
          </a:p>
        </p:txBody>
      </p:sp>
      <p:sp>
        <p:nvSpPr>
          <p:cNvPr id="46" name="">
            <a:extLst xmlns:a="http://schemas.openxmlformats.org/drawingml/2006/main">
              <a:ext uri="{FF2B5EF4-FFF2-40B4-BE49-F238E27FC236}">
                <a16:creationId xmlns:a16="http://schemas.microsoft.com/office/drawing/2014/main" id="{965A6BE3-31DB-4CB4-B526-998DDA45ED71}"/>
              </a:ext>
            </a:extLst>
          </p:cNvPr>
          <p:cNvSpPr>
            <a:spLocks xmlns:a="http://schemas.openxmlformats.org/drawingml/2006/main" noGrp="1"/>
          </p:cNvSpPr>
          <p:nvPr/>
        </p:nvSpPr>
        <p:spPr>
          <a:xfrm xmlns:a="http://schemas.openxmlformats.org/drawingml/2006/main">
            <a:off x="8096250" y="2466975"/>
            <a:ext cx="0" cy="1666875"/>
          </a:xfrm>
          <a:prstGeom xmlns:a="http://schemas.openxmlformats.org/drawingml/2006/main" prst="line">
            <a:avLst/>
          </a:prstGeom>
          <a:noFill xmlns:a="http://schemas.openxmlformats.org/drawingml/2006/main"/>
          <a:ln xmlns:a="http://schemas.openxmlformats.org/drawingml/2006/main" w="14288">
            <a:solidFill>
              <a:srgbClr val="246BFF"/>
            </a:solidFill>
            <a:prstDash val="solid"/>
          </a:ln>
        </p:spPr>
      </p:sp>
      <p:sp>
        <p:nvSpPr>
          <p:cNvPr id="47" name="">
            <a:extLst xmlns:a="http://schemas.openxmlformats.org/drawingml/2006/main">
              <a:ext uri="{FF2B5EF4-FFF2-40B4-BE49-F238E27FC236}">
                <a16:creationId xmlns:a16="http://schemas.microsoft.com/office/drawing/2014/main" id="{11CA6819-82F4-4D37-A39A-2C6588BFABEA}"/>
              </a:ext>
            </a:extLst>
          </p:cNvPr>
          <p:cNvSpPr>
            <a:spLocks xmlns:a="http://schemas.openxmlformats.org/drawingml/2006/main" noGrp="1"/>
          </p:cNvSpPr>
          <p:nvPr/>
        </p:nvSpPr>
        <p:spPr>
          <a:xfrm xmlns:a="http://schemas.openxmlformats.org/drawingml/2006/main">
            <a:off x="1685925" y="4133850"/>
            <a:ext cx="6410325" cy="0"/>
          </a:xfrm>
          <a:prstGeom xmlns:a="http://schemas.openxmlformats.org/drawingml/2006/main" prst="line">
            <a:avLst/>
          </a:prstGeom>
          <a:noFill xmlns:a="http://schemas.openxmlformats.org/drawingml/2006/main"/>
          <a:ln xmlns:a="http://schemas.openxmlformats.org/drawingml/2006/main" w="14288">
            <a:solidFill>
              <a:srgbClr val="246BFF"/>
            </a:solidFill>
            <a:prstDash val="solid"/>
          </a:ln>
        </p:spPr>
      </p:sp>
      <p:sp>
        <p:nvSpPr>
          <p:cNvPr id="48" name="">
            <a:extLst xmlns:a="http://schemas.openxmlformats.org/drawingml/2006/main">
              <a:ext uri="{FF2B5EF4-FFF2-40B4-BE49-F238E27FC236}">
                <a16:creationId xmlns:a16="http://schemas.microsoft.com/office/drawing/2014/main" id="{FF5E1B88-AC76-44A8-B852-0E2902661019}"/>
              </a:ext>
            </a:extLst>
          </p:cNvPr>
          <p:cNvSpPr>
            <a:spLocks xmlns:a="http://schemas.openxmlformats.org/drawingml/2006/main" noGrp="1"/>
          </p:cNvSpPr>
          <p:nvPr/>
        </p:nvSpPr>
        <p:spPr>
          <a:xfrm xmlns:a="http://schemas.openxmlformats.org/drawingml/2006/main">
            <a:off x="1681163" y="4129088"/>
            <a:ext cx="9525" cy="9525"/>
          </a:xfrm>
          <a:prstGeom xmlns:a="http://schemas.openxmlformats.org/drawingml/2006/main" prst="rect">
            <a:avLst/>
          </a:prstGeom>
          <a:noFill xmlns:a="http://schemas.openxmlformats.org/drawingml/2006/main"/>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D60495DA-073F-4573-A7DF-F944A5BD2E29}"/>
              </a:ext>
            </a:extLst>
          </p:cNvPr>
          <p:cNvSpPr>
            <a:spLocks xmlns:a="http://schemas.openxmlformats.org/drawingml/2006/main" noGrp="1"/>
          </p:cNvSpPr>
          <p:nvPr/>
        </p:nvSpPr>
        <p:spPr>
          <a:xfrm xmlns:a="http://schemas.openxmlformats.org/drawingml/2006/main">
            <a:off x="1681163" y="43481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11" name=""/>
          <p:cNvCxnSpPr>
            <a:stCxn xmlns:a="http://schemas.openxmlformats.org/drawingml/2006/main" id="48" idx="2"/>
            <a:endCxn xmlns:a="http://schemas.openxmlformats.org/drawingml/2006/main" id="49" idx="0"/>
          </p:cNvCxnSpPr>
          <p:nvPr/>
        </p:nvCxnSpPr>
        <p:spPr>
          <a:xfrm xmlns:a="http://schemas.openxmlformats.org/drawingml/2006/main">
            <a:off x="1685926" y="4138613"/>
            <a:ext cx="0" cy="209550"/>
          </a:xfrm>
          <a:prstGeom xmlns:a="http://schemas.openxmlformats.org/drawingml/2006/main" prst="straightConnector1">
            <a:avLst/>
          </a:prstGeom>
          <a:ln xmlns:a="http://schemas.openxmlformats.org/drawingml/2006/main" w="17145">
            <a:solidFill>
              <a:srgbClr val="246BFF"/>
            </a:solidFill>
            <a:prstDash val="solid"/>
            <a:tailEnd type="triangle" w="sm" len="sm"/>
          </a:ln>
        </p:spPr>
      </p:cxnSp>
      <p:sp>
        <p:nvSpPr>
          <p:cNvPr id="51" name="Status und Ergebnisse an Management">
            <a:extLst xmlns:a="http://schemas.openxmlformats.org/drawingml/2006/main">
              <a:ext uri="{FF2B5EF4-FFF2-40B4-BE49-F238E27FC236}">
                <a16:creationId xmlns:a16="http://schemas.microsoft.com/office/drawing/2014/main" id="{8DB68E79-C0A0-4E0F-88DF-1C2E1F870730}"/>
              </a:ext>
            </a:extLst>
          </p:cNvPr>
          <p:cNvSpPr>
            <a:spLocks xmlns:a="http://schemas.openxmlformats.org/drawingml/2006/main" noGrp="1"/>
          </p:cNvSpPr>
          <p:nvPr/>
        </p:nvSpPr>
        <p:spPr>
          <a:xfrm xmlns:a="http://schemas.openxmlformats.org/drawingml/2006/main">
            <a:off x="619125" y="5600700"/>
            <a:ext cx="790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00AD77"/>
                </a:solidFill>
                <a:latin typeface="Aptos"/>
                <a:ea typeface="Aptos"/>
                <a:cs typeface="Aptos"/>
              </a:defRPr>
            </a:pPr>
            <a:r>
              <a:rPr sz="1800" b="0">
                <a:solidFill>
                  <a:srgbClr val="00AD77"/>
                </a:solidFill>
                <a:latin typeface="Aptos"/>
                <a:ea typeface="Aptos"/>
                <a:cs typeface="Aptos"/>
              </a:rPr>
              <a:t>Status und Ergebnisse an Management</a:t>
            </a:r>
          </a:p>
        </p:txBody>
      </p:sp>
      <p:sp>
        <p:nvSpPr>
          <p:cNvPr id="52" name="">
            <a:extLst xmlns:a="http://schemas.openxmlformats.org/drawingml/2006/main">
              <a:ext uri="{FF2B5EF4-FFF2-40B4-BE49-F238E27FC236}">
                <a16:creationId xmlns:a16="http://schemas.microsoft.com/office/drawing/2014/main" id="{6AD9639D-B176-46B7-AC8E-F325BA66466A}"/>
              </a:ext>
            </a:extLst>
          </p:cNvPr>
          <p:cNvSpPr>
            <a:spLocks xmlns:a="http://schemas.openxmlformats.org/drawingml/2006/main" noGrp="1"/>
          </p:cNvSpPr>
          <p:nvPr/>
        </p:nvSpPr>
        <p:spPr>
          <a:xfrm xmlns:a="http://schemas.openxmlformats.org/drawingml/2006/main">
            <a:off x="1685925" y="5381625"/>
            <a:ext cx="8772525" cy="0"/>
          </a:xfrm>
          <a:prstGeom xmlns:a="http://schemas.openxmlformats.org/drawingml/2006/main" prst="line">
            <a:avLst/>
          </a:prstGeom>
          <a:noFill xmlns:a="http://schemas.openxmlformats.org/drawingml/2006/main"/>
          <a:ln xmlns:a="http://schemas.openxmlformats.org/drawingml/2006/main" w="14288">
            <a:solidFill>
              <a:srgbClr val="00AD77"/>
            </a:solidFill>
            <a:prstDash val="solid"/>
          </a:ln>
        </p:spPr>
      </p:sp>
      <p:sp>
        <p:nvSpPr>
          <p:cNvPr id="53" name="">
            <a:extLst xmlns:a="http://schemas.openxmlformats.org/drawingml/2006/main">
              <a:ext uri="{FF2B5EF4-FFF2-40B4-BE49-F238E27FC236}">
                <a16:creationId xmlns:a16="http://schemas.microsoft.com/office/drawing/2014/main" id="{2B483D60-6089-477C-A801-88317B6E2B0C}"/>
              </a:ext>
            </a:extLst>
          </p:cNvPr>
          <p:cNvSpPr>
            <a:spLocks xmlns:a="http://schemas.openxmlformats.org/drawingml/2006/main" noGrp="1"/>
          </p:cNvSpPr>
          <p:nvPr/>
        </p:nvSpPr>
        <p:spPr>
          <a:xfrm xmlns:a="http://schemas.openxmlformats.org/drawingml/2006/main">
            <a:off x="1685925" y="5219700"/>
            <a:ext cx="0" cy="161925"/>
          </a:xfrm>
          <a:prstGeom xmlns:a="http://schemas.openxmlformats.org/drawingml/2006/main" prst="line">
            <a:avLst/>
          </a:prstGeom>
          <a:noFill xmlns:a="http://schemas.openxmlformats.org/drawingml/2006/main"/>
          <a:ln xmlns:a="http://schemas.openxmlformats.org/drawingml/2006/main" w="14288">
            <a:solidFill>
              <a:srgbClr val="00AD77"/>
            </a:solidFill>
            <a:prstDash val="solid"/>
          </a:ln>
        </p:spPr>
      </p:sp>
      <p:sp>
        <p:nvSpPr>
          <p:cNvPr id="54" name="">
            <a:extLst xmlns:a="http://schemas.openxmlformats.org/drawingml/2006/main">
              <a:ext uri="{FF2B5EF4-FFF2-40B4-BE49-F238E27FC236}">
                <a16:creationId xmlns:a16="http://schemas.microsoft.com/office/drawing/2014/main" id="{1D8CF751-1D4D-41A3-BFE7-17AB66FF3386}"/>
              </a:ext>
            </a:extLst>
          </p:cNvPr>
          <p:cNvSpPr>
            <a:spLocks xmlns:a="http://schemas.openxmlformats.org/drawingml/2006/main" noGrp="1"/>
          </p:cNvSpPr>
          <p:nvPr/>
        </p:nvSpPr>
        <p:spPr>
          <a:xfrm xmlns:a="http://schemas.openxmlformats.org/drawingml/2006/main">
            <a:off x="4610100" y="5219700"/>
            <a:ext cx="0" cy="161925"/>
          </a:xfrm>
          <a:prstGeom xmlns:a="http://schemas.openxmlformats.org/drawingml/2006/main" prst="line">
            <a:avLst/>
          </a:prstGeom>
          <a:noFill xmlns:a="http://schemas.openxmlformats.org/drawingml/2006/main"/>
          <a:ln xmlns:a="http://schemas.openxmlformats.org/drawingml/2006/main" w="14288">
            <a:solidFill>
              <a:srgbClr val="00AD77"/>
            </a:solidFill>
            <a:prstDash val="solid"/>
          </a:ln>
        </p:spPr>
      </p:sp>
      <p:sp>
        <p:nvSpPr>
          <p:cNvPr id="55" name="">
            <a:extLst xmlns:a="http://schemas.openxmlformats.org/drawingml/2006/main">
              <a:ext uri="{FF2B5EF4-FFF2-40B4-BE49-F238E27FC236}">
                <a16:creationId xmlns:a16="http://schemas.microsoft.com/office/drawing/2014/main" id="{E2FFA411-F71D-4A31-90CB-C23089FAC5DE}"/>
              </a:ext>
            </a:extLst>
          </p:cNvPr>
          <p:cNvSpPr>
            <a:spLocks xmlns:a="http://schemas.openxmlformats.org/drawingml/2006/main" noGrp="1"/>
          </p:cNvSpPr>
          <p:nvPr/>
        </p:nvSpPr>
        <p:spPr>
          <a:xfrm xmlns:a="http://schemas.openxmlformats.org/drawingml/2006/main">
            <a:off x="7534275" y="5219700"/>
            <a:ext cx="0" cy="161925"/>
          </a:xfrm>
          <a:prstGeom xmlns:a="http://schemas.openxmlformats.org/drawingml/2006/main" prst="line">
            <a:avLst/>
          </a:prstGeom>
          <a:noFill xmlns:a="http://schemas.openxmlformats.org/drawingml/2006/main"/>
          <a:ln xmlns:a="http://schemas.openxmlformats.org/drawingml/2006/main" w="14288">
            <a:solidFill>
              <a:srgbClr val="00AD77"/>
            </a:solidFill>
            <a:prstDash val="solid"/>
          </a:ln>
        </p:spPr>
      </p:sp>
      <p:sp>
        <p:nvSpPr>
          <p:cNvPr id="56" name="">
            <a:extLst xmlns:a="http://schemas.openxmlformats.org/drawingml/2006/main">
              <a:ext uri="{FF2B5EF4-FFF2-40B4-BE49-F238E27FC236}">
                <a16:creationId xmlns:a16="http://schemas.microsoft.com/office/drawing/2014/main" id="{AE0B741B-837B-43C5-93AA-8F522367F6CF}"/>
              </a:ext>
            </a:extLst>
          </p:cNvPr>
          <p:cNvSpPr>
            <a:spLocks xmlns:a="http://schemas.openxmlformats.org/drawingml/2006/main" noGrp="1"/>
          </p:cNvSpPr>
          <p:nvPr/>
        </p:nvSpPr>
        <p:spPr>
          <a:xfrm xmlns:a="http://schemas.openxmlformats.org/drawingml/2006/main">
            <a:off x="10458450" y="5219700"/>
            <a:ext cx="0" cy="161925"/>
          </a:xfrm>
          <a:prstGeom xmlns:a="http://schemas.openxmlformats.org/drawingml/2006/main" prst="line">
            <a:avLst/>
          </a:prstGeom>
          <a:noFill xmlns:a="http://schemas.openxmlformats.org/drawingml/2006/main"/>
          <a:ln xmlns:a="http://schemas.openxmlformats.org/drawingml/2006/main" w="14288">
            <a:solidFill>
              <a:srgbClr val="00AD77"/>
            </a:solidFill>
            <a:prstDash val="solid"/>
          </a:ln>
        </p:spPr>
      </p:sp>
      <p:sp>
        <p:nvSpPr>
          <p:cNvPr id="57" name="">
            <a:extLst xmlns:a="http://schemas.openxmlformats.org/drawingml/2006/main">
              <a:ext uri="{FF2B5EF4-FFF2-40B4-BE49-F238E27FC236}">
                <a16:creationId xmlns:a16="http://schemas.microsoft.com/office/drawing/2014/main" id="{9209BBE3-74DE-4C86-94A7-A992E836AF28}"/>
              </a:ext>
            </a:extLst>
          </p:cNvPr>
          <p:cNvSpPr>
            <a:spLocks xmlns:a="http://schemas.openxmlformats.org/drawingml/2006/main" noGrp="1"/>
          </p:cNvSpPr>
          <p:nvPr/>
        </p:nvSpPr>
        <p:spPr>
          <a:xfrm xmlns:a="http://schemas.openxmlformats.org/drawingml/2006/main">
            <a:off x="10458450" y="5381625"/>
            <a:ext cx="1295400" cy="0"/>
          </a:xfrm>
          <a:prstGeom xmlns:a="http://schemas.openxmlformats.org/drawingml/2006/main" prst="line">
            <a:avLst/>
          </a:prstGeom>
          <a:noFill xmlns:a="http://schemas.openxmlformats.org/drawingml/2006/main"/>
          <a:ln xmlns:a="http://schemas.openxmlformats.org/drawingml/2006/main" w="14288">
            <a:solidFill>
              <a:srgbClr val="00AD77"/>
            </a:solidFill>
            <a:prstDash val="solid"/>
          </a:ln>
        </p:spPr>
      </p:sp>
      <p:sp>
        <p:nvSpPr>
          <p:cNvPr id="58" name="">
            <a:extLst xmlns:a="http://schemas.openxmlformats.org/drawingml/2006/main">
              <a:ext uri="{FF2B5EF4-FFF2-40B4-BE49-F238E27FC236}">
                <a16:creationId xmlns:a16="http://schemas.microsoft.com/office/drawing/2014/main" id="{EE3C5880-B0FA-447F-8859-E84F4D1DC2A1}"/>
              </a:ext>
            </a:extLst>
          </p:cNvPr>
          <p:cNvSpPr>
            <a:spLocks xmlns:a="http://schemas.openxmlformats.org/drawingml/2006/main" noGrp="1"/>
          </p:cNvSpPr>
          <p:nvPr/>
        </p:nvSpPr>
        <p:spPr>
          <a:xfrm xmlns:a="http://schemas.openxmlformats.org/drawingml/2006/main">
            <a:off x="11753850" y="2095500"/>
            <a:ext cx="0" cy="3286125"/>
          </a:xfrm>
          <a:prstGeom xmlns:a="http://schemas.openxmlformats.org/drawingml/2006/main" prst="line">
            <a:avLst/>
          </a:prstGeom>
          <a:noFill xmlns:a="http://schemas.openxmlformats.org/drawingml/2006/main"/>
          <a:ln xmlns:a="http://schemas.openxmlformats.org/drawingml/2006/main" w="14288">
            <a:solidFill>
              <a:srgbClr val="00AD77"/>
            </a:solidFill>
            <a:prstDash val="solid"/>
          </a:ln>
        </p:spPr>
      </p:sp>
      <p:sp>
        <p:nvSpPr>
          <p:cNvPr id="59" name="">
            <a:extLst xmlns:a="http://schemas.openxmlformats.org/drawingml/2006/main">
              <a:ext uri="{FF2B5EF4-FFF2-40B4-BE49-F238E27FC236}">
                <a16:creationId xmlns:a16="http://schemas.microsoft.com/office/drawing/2014/main" id="{2B7C58A9-E071-4CDD-BC6E-4C7A86FFD22F}"/>
              </a:ext>
            </a:extLst>
          </p:cNvPr>
          <p:cNvSpPr>
            <a:spLocks xmlns:a="http://schemas.openxmlformats.org/drawingml/2006/main" noGrp="1"/>
          </p:cNvSpPr>
          <p:nvPr/>
        </p:nvSpPr>
        <p:spPr>
          <a:xfrm xmlns:a="http://schemas.openxmlformats.org/drawingml/2006/main">
            <a:off x="11749088" y="2090738"/>
            <a:ext cx="9525" cy="9525"/>
          </a:xfrm>
          <a:prstGeom xmlns:a="http://schemas.openxmlformats.org/drawingml/2006/main" prst="rect">
            <a:avLst/>
          </a:prstGeom>
          <a:noFill xmlns:a="http://schemas.openxmlformats.org/drawingml/2006/main"/>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F3D37355-1B08-42CC-9011-5AE6F019D7C2}"/>
              </a:ext>
            </a:extLst>
          </p:cNvPr>
          <p:cNvSpPr>
            <a:spLocks xmlns:a="http://schemas.openxmlformats.org/drawingml/2006/main" noGrp="1"/>
          </p:cNvSpPr>
          <p:nvPr/>
        </p:nvSpPr>
        <p:spPr>
          <a:xfrm xmlns:a="http://schemas.openxmlformats.org/drawingml/2006/main">
            <a:off x="11520488" y="20907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22" name=""/>
          <p:cNvCxnSpPr>
            <a:stCxn xmlns:a="http://schemas.openxmlformats.org/drawingml/2006/main" id="59" idx="1"/>
            <a:endCxn xmlns:a="http://schemas.openxmlformats.org/drawingml/2006/main" id="60" idx="3"/>
          </p:cNvCxnSpPr>
          <p:nvPr/>
        </p:nvCxnSpPr>
        <p:spPr>
          <a:xfrm xmlns:a="http://schemas.openxmlformats.org/drawingml/2006/main" flipH="1">
            <a:off x="11530013" y="2095501"/>
            <a:ext cx="219075" cy="0"/>
          </a:xfrm>
          <a:prstGeom xmlns:a="http://schemas.openxmlformats.org/drawingml/2006/main" prst="straightConnector1">
            <a:avLst/>
          </a:prstGeom>
          <a:ln xmlns:a="http://schemas.openxmlformats.org/drawingml/2006/main" w="17145">
            <a:solidFill>
              <a:srgbClr val="00AD77"/>
            </a:solidFill>
            <a:prstDash val="solid"/>
            <a:tailEnd type="triangle" w="sm" len="sm"/>
          </a:ln>
        </p:spPr>
      </p:cxnSp>
      <p:sp>
        <p:nvSpPr>
          <p:cNvPr id="62" name="Jeder Worker kennt seinen Nachfolger. Nur zwei Services besitzen Daten">
            <a:extLst xmlns:a="http://schemas.openxmlformats.org/drawingml/2006/main">
              <a:ext uri="{FF2B5EF4-FFF2-40B4-BE49-F238E27FC236}">
                <a16:creationId xmlns:a16="http://schemas.microsoft.com/office/drawing/2014/main" id="{8CF7C94C-55CC-4909-BB12-41867C6A6DA2}"/>
              </a:ext>
            </a:extLst>
          </p:cNvPr>
          <p:cNvSpPr>
            <a:spLocks xmlns:a="http://schemas.openxmlformats.org/drawingml/2006/main" noGrp="1"/>
          </p:cNvSpPr>
          <p:nvPr/>
        </p:nvSpPr>
        <p:spPr>
          <a:xfrm xmlns:a="http://schemas.openxmlformats.org/drawingml/2006/main">
            <a:off x="619125" y="60388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B6B82"/>
                </a:solidFill>
                <a:latin typeface="Aptos"/>
                <a:ea typeface="Aptos"/>
                <a:cs typeface="Aptos"/>
              </a:defRPr>
            </a:pPr>
            <a:r>
              <a:rPr sz="1575" b="0">
                <a:solidFill>
                  <a:srgbClr val="5B6B82"/>
                </a:solidFill>
                <a:latin typeface="Aptos"/>
                <a:ea typeface="Aptos"/>
                <a:cs typeface="Aptos"/>
              </a:rPr>
              <a:t>Jeder Worker kennt seinen Nachfolger. Nur zwei Services besitzen Datenbanken.</a:t>
            </a:r>
          </a:p>
        </p:txBody>
      </p:sp>
    </p:spTree>
    <p:extLst>
      <p:ext uri="{BB962C8B-B14F-4D97-AF65-F5344CB8AC3E}">
        <p14:creationId xmlns:p14="http://schemas.microsoft.com/office/powerpoint/2010/main" val="26204181"/>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98699EE-D957-4074-990C-8583D790F124}"/>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246BFE"/>
          </a:solidFill>
          <a:ln xmlns:a="http://schemas.openxmlformats.org/drawingml/2006/main" w="12700">
            <a:solidFill>
              <a:srgbClr val="246BFE">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Laufzeitsicht">
            <a:extLst xmlns:a="http://schemas.openxmlformats.org/drawingml/2006/main">
              <a:ext uri="{FF2B5EF4-FFF2-40B4-BE49-F238E27FC236}">
                <a16:creationId xmlns:a16="http://schemas.microsoft.com/office/drawing/2014/main" id="{E8140A0E-73C6-41FF-AAA8-2E477E6C7043}"/>
              </a:ext>
            </a:extLst>
          </p:cNvPr>
          <p:cNvSpPr>
            <a:spLocks xmlns:a="http://schemas.openxmlformats.org/drawingml/2006/main" noGrp="1"/>
          </p:cNvSpPr>
          <p:nvPr/>
        </p:nvSpPr>
        <p:spPr>
          <a:xfrm xmlns:a="http://schemas.openxmlformats.org/drawingml/2006/main">
            <a:off x="514350" y="3429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2440"/>
                </a:solidFill>
                <a:latin typeface="Aptos"/>
                <a:ea typeface="Aptos"/>
                <a:cs typeface="Aptos"/>
              </a:defRPr>
            </a:pPr>
            <a:r>
              <a:rPr sz="3000" b="1">
                <a:solidFill>
                  <a:srgbClr val="172440"/>
                </a:solidFill>
                <a:latin typeface="Aptos"/>
                <a:ea typeface="Aptos"/>
                <a:cs typeface="Aptos"/>
              </a:rPr>
              <a:t>Laufzeitsicht</a:t>
            </a:r>
          </a:p>
        </p:txBody>
      </p:sp>
      <p:sp>
        <p:nvSpPr>
          <p:cNvPr id="4" name="Asynchroner Gesamtauftrag mit synchronen HTTP-Übergaben">
            <a:extLst xmlns:a="http://schemas.openxmlformats.org/drawingml/2006/main">
              <a:ext uri="{FF2B5EF4-FFF2-40B4-BE49-F238E27FC236}">
                <a16:creationId xmlns:a16="http://schemas.microsoft.com/office/drawing/2014/main" id="{3E9CA828-8E47-45D4-8D0C-A12B125F5184}"/>
              </a:ext>
            </a:extLst>
          </p:cNvPr>
          <p:cNvSpPr>
            <a:spLocks xmlns:a="http://schemas.openxmlformats.org/drawingml/2006/main" noGrp="1"/>
          </p:cNvSpPr>
          <p:nvPr/>
        </p:nvSpPr>
        <p:spPr>
          <a:xfrm xmlns:a="http://schemas.openxmlformats.org/drawingml/2006/main">
            <a:off x="523875" y="990600"/>
            <a:ext cx="11029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B82"/>
                </a:solidFill>
                <a:latin typeface="Aptos"/>
                <a:ea typeface="Aptos"/>
                <a:cs typeface="Aptos"/>
              </a:defRPr>
            </a:pPr>
            <a:r>
              <a:rPr sz="1725" b="0">
                <a:solidFill>
                  <a:srgbClr val="5B6B82"/>
                </a:solidFill>
                <a:latin typeface="Aptos"/>
                <a:ea typeface="Aptos"/>
                <a:cs typeface="Aptos"/>
              </a:rPr>
              <a:t>Asynchroner Gesamtauftrag mit synchronen HTTP-Übergaben</a:t>
            </a:r>
          </a:p>
        </p:txBody>
      </p:sp>
      <p:sp>
        <p:nvSpPr>
          <p:cNvPr id="5" name="WirSchiffenDas  SEKA">
            <a:extLst xmlns:a="http://schemas.openxmlformats.org/drawingml/2006/main">
              <a:ext uri="{FF2B5EF4-FFF2-40B4-BE49-F238E27FC236}">
                <a16:creationId xmlns:a16="http://schemas.microsoft.com/office/drawing/2014/main" id="{78324E5A-83ED-40DB-9898-1283CC4C069E}"/>
              </a:ext>
            </a:extLst>
          </p:cNvPr>
          <p:cNvSpPr>
            <a:spLocks xmlns:a="http://schemas.openxmlformats.org/drawingml/2006/main" noGrp="1"/>
          </p:cNvSpPr>
          <p:nvPr/>
        </p:nvSpPr>
        <p:spPr>
          <a:xfrm xmlns:a="http://schemas.openxmlformats.org/drawingml/2006/main">
            <a:off x="514350" y="64770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WirSchiffenDas  SEKA</a:t>
            </a:r>
          </a:p>
        </p:txBody>
      </p:sp>
      <p:sp>
        <p:nvSpPr>
          <p:cNvPr id="6" name="5/12">
            <a:extLst xmlns:a="http://schemas.openxmlformats.org/drawingml/2006/main">
              <a:ext uri="{FF2B5EF4-FFF2-40B4-BE49-F238E27FC236}">
                <a16:creationId xmlns:a16="http://schemas.microsoft.com/office/drawing/2014/main" id="{42F033A4-211D-45BB-8DCC-114380A27BA6}"/>
              </a:ext>
            </a:extLst>
          </p:cNvPr>
          <p:cNvSpPr>
            <a:spLocks xmlns:a="http://schemas.openxmlformats.org/drawingml/2006/main" noGrp="1"/>
          </p:cNvSpPr>
          <p:nvPr/>
        </p:nvSpPr>
        <p:spPr>
          <a:xfrm xmlns:a="http://schemas.openxmlformats.org/drawingml/2006/main">
            <a:off x="10668000" y="64770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5/12</a:t>
            </a:r>
          </a:p>
        </p:txBody>
      </p:sp>
      <p:sp>
        <p:nvSpPr>
          <p:cNvPr id="7" name="Web UI">
            <a:extLst xmlns:a="http://schemas.openxmlformats.org/drawingml/2006/main">
              <a:ext uri="{FF2B5EF4-FFF2-40B4-BE49-F238E27FC236}">
                <a16:creationId xmlns:a16="http://schemas.microsoft.com/office/drawing/2014/main" id="{FAFF2398-C4B2-4638-9653-51B02782B109}"/>
              </a:ext>
            </a:extLst>
          </p:cNvPr>
          <p:cNvSpPr>
            <a:spLocks xmlns:a="http://schemas.openxmlformats.org/drawingml/2006/main" noGrp="1"/>
          </p:cNvSpPr>
          <p:nvPr/>
        </p:nvSpPr>
        <p:spPr>
          <a:xfrm xmlns:a="http://schemas.openxmlformats.org/drawingml/2006/main">
            <a:off x="504825" y="1647825"/>
            <a:ext cx="1562100" cy="581025"/>
          </a:xfrm>
          <a:prstGeom xmlns:a="http://schemas.openxmlformats.org/drawingml/2006/main" prst="rect">
            <a:avLst/>
          </a:prstGeom>
          <a:solidFill xmlns:a="http://schemas.openxmlformats.org/drawingml/2006/main">
            <a:srgbClr val="DCEAFF"/>
          </a:solidFill>
          <a:ln xmlns:a="http://schemas.openxmlformats.org/drawingml/2006/main" w="14288">
            <a:solidFill>
              <a:srgbClr val="246BFF"/>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575" b="0">
                <a:solidFill>
                  <a:srgbClr val="172440"/>
                </a:solidFill>
                <a:latin typeface="Aptos"/>
                <a:ea typeface="Aptos"/>
                <a:cs typeface="Aptos"/>
              </a:defRPr>
            </a:pPr>
            <a:r>
              <a:rPr sz="1575" b="0">
                <a:solidFill>
                  <a:srgbClr val="172440"/>
                </a:solidFill>
                <a:latin typeface="Aptos"/>
                <a:ea typeface="Aptos"/>
                <a:cs typeface="Aptos"/>
              </a:rPr>
              <a:t>Web UI</a:t>
            </a:r>
          </a:p>
        </p:txBody>
      </p:sp>
      <p:sp>
        <p:nvSpPr>
          <p:cNvPr id="8" name="">
            <a:extLst xmlns:a="http://schemas.openxmlformats.org/drawingml/2006/main">
              <a:ext uri="{FF2B5EF4-FFF2-40B4-BE49-F238E27FC236}">
                <a16:creationId xmlns:a16="http://schemas.microsoft.com/office/drawing/2014/main" id="{1AA8105B-718D-44D6-BF3F-82AC96BDE3D7}"/>
              </a:ext>
            </a:extLst>
          </p:cNvPr>
          <p:cNvSpPr>
            <a:spLocks xmlns:a="http://schemas.openxmlformats.org/drawingml/2006/main" noGrp="1"/>
          </p:cNvSpPr>
          <p:nvPr/>
        </p:nvSpPr>
        <p:spPr>
          <a:xfrm xmlns:a="http://schemas.openxmlformats.org/drawingml/2006/main">
            <a:off x="1285875" y="2305050"/>
            <a:ext cx="0" cy="3276600"/>
          </a:xfrm>
          <a:prstGeom xmlns:a="http://schemas.openxmlformats.org/drawingml/2006/main" prst="line">
            <a:avLst/>
          </a:prstGeom>
          <a:noFill xmlns:a="http://schemas.openxmlformats.org/drawingml/2006/main"/>
          <a:ln xmlns:a="http://schemas.openxmlformats.org/drawingml/2006/main" w="14288">
            <a:solidFill>
              <a:srgbClr val="9CAAC0"/>
            </a:solidFill>
            <a:prstDash val="dash"/>
          </a:ln>
        </p:spPr>
      </p:sp>
      <p:sp>
        <p:nvSpPr>
          <p:cNvPr id="9" name="Management">
            <a:extLst xmlns:a="http://schemas.openxmlformats.org/drawingml/2006/main">
              <a:ext uri="{FF2B5EF4-FFF2-40B4-BE49-F238E27FC236}">
                <a16:creationId xmlns:a16="http://schemas.microsoft.com/office/drawing/2014/main" id="{A9AAF983-A73E-40F4-857A-B4C132B01DC9}"/>
              </a:ext>
            </a:extLst>
          </p:cNvPr>
          <p:cNvSpPr>
            <a:spLocks xmlns:a="http://schemas.openxmlformats.org/drawingml/2006/main" noGrp="1"/>
          </p:cNvSpPr>
          <p:nvPr/>
        </p:nvSpPr>
        <p:spPr>
          <a:xfrm xmlns:a="http://schemas.openxmlformats.org/drawingml/2006/main">
            <a:off x="2419350" y="1647825"/>
            <a:ext cx="1562100" cy="581025"/>
          </a:xfrm>
          <a:prstGeom xmlns:a="http://schemas.openxmlformats.org/drawingml/2006/main" prst="rect">
            <a:avLst/>
          </a:prstGeom>
          <a:solidFill xmlns:a="http://schemas.openxmlformats.org/drawingml/2006/main">
            <a:srgbClr val="DCEAFF"/>
          </a:solidFill>
          <a:ln xmlns:a="http://schemas.openxmlformats.org/drawingml/2006/main" w="14288">
            <a:solidFill>
              <a:srgbClr val="246BFF"/>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575" b="0">
                <a:solidFill>
                  <a:srgbClr val="172440"/>
                </a:solidFill>
                <a:latin typeface="Aptos"/>
                <a:ea typeface="Aptos"/>
                <a:cs typeface="Aptos"/>
              </a:defRPr>
            </a:pPr>
            <a:r>
              <a:rPr sz="1575" b="0">
                <a:solidFill>
                  <a:srgbClr val="172440"/>
                </a:solidFill>
                <a:latin typeface="Aptos"/>
                <a:ea typeface="Aptos"/>
                <a:cs typeface="Aptos"/>
              </a:rPr>
              <a:t>Management</a:t>
            </a:r>
          </a:p>
        </p:txBody>
      </p:sp>
      <p:sp>
        <p:nvSpPr>
          <p:cNvPr id="10" name="">
            <a:extLst xmlns:a="http://schemas.openxmlformats.org/drawingml/2006/main">
              <a:ext uri="{FF2B5EF4-FFF2-40B4-BE49-F238E27FC236}">
                <a16:creationId xmlns:a16="http://schemas.microsoft.com/office/drawing/2014/main" id="{575FD91B-AE2E-4FBB-A85F-A347113F6B46}"/>
              </a:ext>
            </a:extLst>
          </p:cNvPr>
          <p:cNvSpPr>
            <a:spLocks xmlns:a="http://schemas.openxmlformats.org/drawingml/2006/main" noGrp="1"/>
          </p:cNvSpPr>
          <p:nvPr/>
        </p:nvSpPr>
        <p:spPr>
          <a:xfrm xmlns:a="http://schemas.openxmlformats.org/drawingml/2006/main">
            <a:off x="3200400" y="2305050"/>
            <a:ext cx="0" cy="3276600"/>
          </a:xfrm>
          <a:prstGeom xmlns:a="http://schemas.openxmlformats.org/drawingml/2006/main" prst="line">
            <a:avLst/>
          </a:prstGeom>
          <a:noFill xmlns:a="http://schemas.openxmlformats.org/drawingml/2006/main"/>
          <a:ln xmlns:a="http://schemas.openxmlformats.org/drawingml/2006/main" w="14288">
            <a:solidFill>
              <a:srgbClr val="9CAAC0"/>
            </a:solidFill>
            <a:prstDash val="dash"/>
          </a:ln>
        </p:spPr>
      </p:sp>
      <p:sp>
        <p:nvSpPr>
          <p:cNvPr id="11" name="Fluid">
            <a:extLst xmlns:a="http://schemas.openxmlformats.org/drawingml/2006/main">
              <a:ext uri="{FF2B5EF4-FFF2-40B4-BE49-F238E27FC236}">
                <a16:creationId xmlns:a16="http://schemas.microsoft.com/office/drawing/2014/main" id="{8C9FA297-6D73-41AB-AF94-DE0581E20432}"/>
              </a:ext>
            </a:extLst>
          </p:cNvPr>
          <p:cNvSpPr>
            <a:spLocks xmlns:a="http://schemas.openxmlformats.org/drawingml/2006/main" noGrp="1"/>
          </p:cNvSpPr>
          <p:nvPr/>
        </p:nvSpPr>
        <p:spPr>
          <a:xfrm xmlns:a="http://schemas.openxmlformats.org/drawingml/2006/main">
            <a:off x="4333875" y="1647825"/>
            <a:ext cx="1562100" cy="581025"/>
          </a:xfrm>
          <a:prstGeom xmlns:a="http://schemas.openxmlformats.org/drawingml/2006/main" prst="rect">
            <a:avLst/>
          </a:prstGeom>
          <a:solidFill xmlns:a="http://schemas.openxmlformats.org/drawingml/2006/main">
            <a:srgbClr val="FFF2CC"/>
          </a:solidFill>
          <a:ln xmlns:a="http://schemas.openxmlformats.org/drawingml/2006/main" w="14288">
            <a:solidFill>
              <a:srgbClr val="EFA500"/>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575" b="0">
                <a:solidFill>
                  <a:srgbClr val="172440"/>
                </a:solidFill>
                <a:latin typeface="Aptos"/>
                <a:ea typeface="Aptos"/>
                <a:cs typeface="Aptos"/>
              </a:defRPr>
            </a:pPr>
            <a:r>
              <a:rPr sz="1575" b="0">
                <a:solidFill>
                  <a:srgbClr val="172440"/>
                </a:solidFill>
                <a:latin typeface="Aptos"/>
                <a:ea typeface="Aptos"/>
                <a:cs typeface="Aptos"/>
              </a:rPr>
              <a:t>Fluid</a:t>
            </a:r>
          </a:p>
        </p:txBody>
      </p:sp>
      <p:sp>
        <p:nvSpPr>
          <p:cNvPr id="12" name="">
            <a:extLst xmlns:a="http://schemas.openxmlformats.org/drawingml/2006/main">
              <a:ext uri="{FF2B5EF4-FFF2-40B4-BE49-F238E27FC236}">
                <a16:creationId xmlns:a16="http://schemas.microsoft.com/office/drawing/2014/main" id="{D9C14BEA-0C98-4879-A4A3-E2AAE8769C42}"/>
              </a:ext>
            </a:extLst>
          </p:cNvPr>
          <p:cNvSpPr>
            <a:spLocks xmlns:a="http://schemas.openxmlformats.org/drawingml/2006/main" noGrp="1"/>
          </p:cNvSpPr>
          <p:nvPr/>
        </p:nvSpPr>
        <p:spPr>
          <a:xfrm xmlns:a="http://schemas.openxmlformats.org/drawingml/2006/main">
            <a:off x="5114925" y="2305050"/>
            <a:ext cx="0" cy="3276600"/>
          </a:xfrm>
          <a:prstGeom xmlns:a="http://schemas.openxmlformats.org/drawingml/2006/main" prst="line">
            <a:avLst/>
          </a:prstGeom>
          <a:noFill xmlns:a="http://schemas.openxmlformats.org/drawingml/2006/main"/>
          <a:ln xmlns:a="http://schemas.openxmlformats.org/drawingml/2006/main" w="14288">
            <a:solidFill>
              <a:srgbClr val="9CAAC0"/>
            </a:solidFill>
            <a:prstDash val="dash"/>
          </a:ln>
        </p:spPr>
      </p:sp>
      <p:sp>
        <p:nvSpPr>
          <p:cNvPr id="13" name="Thermal">
            <a:extLst xmlns:a="http://schemas.openxmlformats.org/drawingml/2006/main">
              <a:ext uri="{FF2B5EF4-FFF2-40B4-BE49-F238E27FC236}">
                <a16:creationId xmlns:a16="http://schemas.microsoft.com/office/drawing/2014/main" id="{390B8AE2-A5CA-4564-B919-8D32C5F69FD6}"/>
              </a:ext>
            </a:extLst>
          </p:cNvPr>
          <p:cNvSpPr>
            <a:spLocks xmlns:a="http://schemas.openxmlformats.org/drawingml/2006/main" noGrp="1"/>
          </p:cNvSpPr>
          <p:nvPr/>
        </p:nvSpPr>
        <p:spPr>
          <a:xfrm xmlns:a="http://schemas.openxmlformats.org/drawingml/2006/main">
            <a:off x="6248400" y="1647825"/>
            <a:ext cx="1562100" cy="581025"/>
          </a:xfrm>
          <a:prstGeom xmlns:a="http://schemas.openxmlformats.org/drawingml/2006/main" prst="rect">
            <a:avLst/>
          </a:prstGeom>
          <a:solidFill xmlns:a="http://schemas.openxmlformats.org/drawingml/2006/main">
            <a:srgbClr val="FFF2CC"/>
          </a:solidFill>
          <a:ln xmlns:a="http://schemas.openxmlformats.org/drawingml/2006/main" w="14288">
            <a:solidFill>
              <a:srgbClr val="EFA500"/>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575" b="0">
                <a:solidFill>
                  <a:srgbClr val="172440"/>
                </a:solidFill>
                <a:latin typeface="Aptos"/>
                <a:ea typeface="Aptos"/>
                <a:cs typeface="Aptos"/>
              </a:defRPr>
            </a:pPr>
            <a:r>
              <a:rPr sz="1575" b="0">
                <a:solidFill>
                  <a:srgbClr val="172440"/>
                </a:solidFill>
                <a:latin typeface="Aptos"/>
                <a:ea typeface="Aptos"/>
                <a:cs typeface="Aptos"/>
              </a:rPr>
              <a:t>Thermal</a:t>
            </a:r>
          </a:p>
        </p:txBody>
      </p:sp>
      <p:sp>
        <p:nvSpPr>
          <p:cNvPr id="14" name="">
            <a:extLst xmlns:a="http://schemas.openxmlformats.org/drawingml/2006/main">
              <a:ext uri="{FF2B5EF4-FFF2-40B4-BE49-F238E27FC236}">
                <a16:creationId xmlns:a16="http://schemas.microsoft.com/office/drawing/2014/main" id="{6B98B67F-E977-4D12-8622-4BD4CA38E87B}"/>
              </a:ext>
            </a:extLst>
          </p:cNvPr>
          <p:cNvSpPr>
            <a:spLocks xmlns:a="http://schemas.openxmlformats.org/drawingml/2006/main" noGrp="1"/>
          </p:cNvSpPr>
          <p:nvPr/>
        </p:nvSpPr>
        <p:spPr>
          <a:xfrm xmlns:a="http://schemas.openxmlformats.org/drawingml/2006/main">
            <a:off x="7029450" y="2305050"/>
            <a:ext cx="0" cy="3276600"/>
          </a:xfrm>
          <a:prstGeom xmlns:a="http://schemas.openxmlformats.org/drawingml/2006/main" prst="line">
            <a:avLst/>
          </a:prstGeom>
          <a:noFill xmlns:a="http://schemas.openxmlformats.org/drawingml/2006/main"/>
          <a:ln xmlns:a="http://schemas.openxmlformats.org/drawingml/2006/main" w="14288">
            <a:solidFill>
              <a:srgbClr val="9CAAC0"/>
            </a:solidFill>
            <a:prstDash val="dash"/>
          </a:ln>
        </p:spPr>
      </p:sp>
      <p:sp>
        <p:nvSpPr>
          <p:cNvPr id="15" name="Electrical">
            <a:extLst xmlns:a="http://schemas.openxmlformats.org/drawingml/2006/main">
              <a:ext uri="{FF2B5EF4-FFF2-40B4-BE49-F238E27FC236}">
                <a16:creationId xmlns:a16="http://schemas.microsoft.com/office/drawing/2014/main" id="{F744A4D7-4428-4C0D-A603-5A91B6CEED48}"/>
              </a:ext>
            </a:extLst>
          </p:cNvPr>
          <p:cNvSpPr>
            <a:spLocks xmlns:a="http://schemas.openxmlformats.org/drawingml/2006/main" noGrp="1"/>
          </p:cNvSpPr>
          <p:nvPr/>
        </p:nvSpPr>
        <p:spPr>
          <a:xfrm xmlns:a="http://schemas.openxmlformats.org/drawingml/2006/main">
            <a:off x="8162925" y="1647825"/>
            <a:ext cx="1562100" cy="581025"/>
          </a:xfrm>
          <a:prstGeom xmlns:a="http://schemas.openxmlformats.org/drawingml/2006/main" prst="rect">
            <a:avLst/>
          </a:prstGeom>
          <a:solidFill xmlns:a="http://schemas.openxmlformats.org/drawingml/2006/main">
            <a:srgbClr val="FFF2CC"/>
          </a:solidFill>
          <a:ln xmlns:a="http://schemas.openxmlformats.org/drawingml/2006/main" w="14288">
            <a:solidFill>
              <a:srgbClr val="EFA500"/>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575" b="0">
                <a:solidFill>
                  <a:srgbClr val="172440"/>
                </a:solidFill>
                <a:latin typeface="Aptos"/>
                <a:ea typeface="Aptos"/>
                <a:cs typeface="Aptos"/>
              </a:defRPr>
            </a:pPr>
            <a:r>
              <a:rPr sz="1575" b="0">
                <a:solidFill>
                  <a:srgbClr val="172440"/>
                </a:solidFill>
                <a:latin typeface="Aptos"/>
                <a:ea typeface="Aptos"/>
                <a:cs typeface="Aptos"/>
              </a:rPr>
              <a:t>Electrical</a:t>
            </a:r>
          </a:p>
        </p:txBody>
      </p:sp>
      <p:sp>
        <p:nvSpPr>
          <p:cNvPr id="16" name="">
            <a:extLst xmlns:a="http://schemas.openxmlformats.org/drawingml/2006/main">
              <a:ext uri="{FF2B5EF4-FFF2-40B4-BE49-F238E27FC236}">
                <a16:creationId xmlns:a16="http://schemas.microsoft.com/office/drawing/2014/main" id="{E3B28672-7C6D-4393-938F-9293B458A9C3}"/>
              </a:ext>
            </a:extLst>
          </p:cNvPr>
          <p:cNvSpPr>
            <a:spLocks xmlns:a="http://schemas.openxmlformats.org/drawingml/2006/main" noGrp="1"/>
          </p:cNvSpPr>
          <p:nvPr/>
        </p:nvSpPr>
        <p:spPr>
          <a:xfrm xmlns:a="http://schemas.openxmlformats.org/drawingml/2006/main">
            <a:off x="8943975" y="2305050"/>
            <a:ext cx="0" cy="3276600"/>
          </a:xfrm>
          <a:prstGeom xmlns:a="http://schemas.openxmlformats.org/drawingml/2006/main" prst="line">
            <a:avLst/>
          </a:prstGeom>
          <a:noFill xmlns:a="http://schemas.openxmlformats.org/drawingml/2006/main"/>
          <a:ln xmlns:a="http://schemas.openxmlformats.org/drawingml/2006/main" w="14288">
            <a:solidFill>
              <a:srgbClr val="9CAAC0"/>
            </a:solidFill>
            <a:prstDash val="dash"/>
          </a:ln>
        </p:spPr>
      </p:sp>
      <p:sp>
        <p:nvSpPr>
          <p:cNvPr id="17" name="Engine Mgmt">
            <a:extLst xmlns:a="http://schemas.openxmlformats.org/drawingml/2006/main">
              <a:ext uri="{FF2B5EF4-FFF2-40B4-BE49-F238E27FC236}">
                <a16:creationId xmlns:a16="http://schemas.microsoft.com/office/drawing/2014/main" id="{E6F4D7EC-6673-4D02-BEEA-ABCC9DED3022}"/>
              </a:ext>
            </a:extLst>
          </p:cNvPr>
          <p:cNvSpPr>
            <a:spLocks xmlns:a="http://schemas.openxmlformats.org/drawingml/2006/main" noGrp="1"/>
          </p:cNvSpPr>
          <p:nvPr/>
        </p:nvSpPr>
        <p:spPr>
          <a:xfrm xmlns:a="http://schemas.openxmlformats.org/drawingml/2006/main">
            <a:off x="10077450" y="1647825"/>
            <a:ext cx="1562100" cy="581025"/>
          </a:xfrm>
          <a:prstGeom xmlns:a="http://schemas.openxmlformats.org/drawingml/2006/main" prst="rect">
            <a:avLst/>
          </a:prstGeom>
          <a:solidFill xmlns:a="http://schemas.openxmlformats.org/drawingml/2006/main">
            <a:srgbClr val="FFF2CC"/>
          </a:solidFill>
          <a:ln xmlns:a="http://schemas.openxmlformats.org/drawingml/2006/main" w="14288">
            <a:solidFill>
              <a:srgbClr val="EFA500"/>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575" b="0">
                <a:solidFill>
                  <a:srgbClr val="172440"/>
                </a:solidFill>
                <a:latin typeface="Aptos"/>
                <a:ea typeface="Aptos"/>
                <a:cs typeface="Aptos"/>
              </a:defRPr>
            </a:pPr>
            <a:r>
              <a:rPr sz="1575" b="0">
                <a:solidFill>
                  <a:srgbClr val="172440"/>
                </a:solidFill>
                <a:latin typeface="Aptos"/>
                <a:ea typeface="Aptos"/>
                <a:cs typeface="Aptos"/>
              </a:rPr>
              <a:t>Engine Mgmt</a:t>
            </a:r>
          </a:p>
        </p:txBody>
      </p:sp>
      <p:sp>
        <p:nvSpPr>
          <p:cNvPr id="18" name="">
            <a:extLst xmlns:a="http://schemas.openxmlformats.org/drawingml/2006/main">
              <a:ext uri="{FF2B5EF4-FFF2-40B4-BE49-F238E27FC236}">
                <a16:creationId xmlns:a16="http://schemas.microsoft.com/office/drawing/2014/main" id="{CDB1579B-6CF7-4B43-92BF-5FA6AB1DC7F1}"/>
              </a:ext>
            </a:extLst>
          </p:cNvPr>
          <p:cNvSpPr>
            <a:spLocks xmlns:a="http://schemas.openxmlformats.org/drawingml/2006/main" noGrp="1"/>
          </p:cNvSpPr>
          <p:nvPr/>
        </p:nvSpPr>
        <p:spPr>
          <a:xfrm xmlns:a="http://schemas.openxmlformats.org/drawingml/2006/main">
            <a:off x="10858500" y="2305050"/>
            <a:ext cx="0" cy="3276600"/>
          </a:xfrm>
          <a:prstGeom xmlns:a="http://schemas.openxmlformats.org/drawingml/2006/main" prst="line">
            <a:avLst/>
          </a:prstGeom>
          <a:noFill xmlns:a="http://schemas.openxmlformats.org/drawingml/2006/main"/>
          <a:ln xmlns:a="http://schemas.openxmlformats.org/drawingml/2006/main" w="14288">
            <a:solidFill>
              <a:srgbClr val="9CAAC0"/>
            </a:solidFill>
            <a:prstDash val="dash"/>
          </a:ln>
        </p:spPr>
      </p:sp>
      <p:sp>
        <p:nvSpPr>
          <p:cNvPr id="19" name="">
            <a:extLst xmlns:a="http://schemas.openxmlformats.org/drawingml/2006/main">
              <a:ext uri="{FF2B5EF4-FFF2-40B4-BE49-F238E27FC236}">
                <a16:creationId xmlns:a16="http://schemas.microsoft.com/office/drawing/2014/main" id="{7D4E3204-65FE-4D26-954F-315A7EB9010F}"/>
              </a:ext>
            </a:extLst>
          </p:cNvPr>
          <p:cNvSpPr>
            <a:spLocks xmlns:a="http://schemas.openxmlformats.org/drawingml/2006/main" noGrp="1"/>
          </p:cNvSpPr>
          <p:nvPr/>
        </p:nvSpPr>
        <p:spPr>
          <a:xfrm xmlns:a="http://schemas.openxmlformats.org/drawingml/2006/main">
            <a:off x="1281113" y="2605088"/>
            <a:ext cx="9525" cy="9525"/>
          </a:xfrm>
          <a:prstGeom xmlns:a="http://schemas.openxmlformats.org/drawingml/2006/main" prst="rect">
            <a:avLst/>
          </a:prstGeom>
          <a:noFill xmlns:a="http://schemas.openxmlformats.org/drawingml/2006/main"/>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01FF764-ECBB-48E5-A6FA-1029828F9B0D}"/>
              </a:ext>
            </a:extLst>
          </p:cNvPr>
          <p:cNvSpPr>
            <a:spLocks xmlns:a="http://schemas.openxmlformats.org/drawingml/2006/main" noGrp="1"/>
          </p:cNvSpPr>
          <p:nvPr/>
        </p:nvSpPr>
        <p:spPr>
          <a:xfrm xmlns:a="http://schemas.openxmlformats.org/drawingml/2006/main">
            <a:off x="3195638" y="26050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7" name=""/>
          <p:cNvCxnSpPr>
            <a:stCxn xmlns:a="http://schemas.openxmlformats.org/drawingml/2006/main" id="19" idx="3"/>
            <a:endCxn xmlns:a="http://schemas.openxmlformats.org/drawingml/2006/main" id="20" idx="1"/>
          </p:cNvCxnSpPr>
          <p:nvPr/>
        </p:nvCxnSpPr>
        <p:spPr>
          <a:xfrm xmlns:a="http://schemas.openxmlformats.org/drawingml/2006/main">
            <a:off x="1290638" y="2609851"/>
            <a:ext cx="1905000" cy="0"/>
          </a:xfrm>
          <a:prstGeom xmlns:a="http://schemas.openxmlformats.org/drawingml/2006/main" prst="straightConnector1">
            <a:avLst/>
          </a:prstGeom>
          <a:ln xmlns:a="http://schemas.openxmlformats.org/drawingml/2006/main" w="17145">
            <a:solidFill>
              <a:srgbClr val="246BFF"/>
            </a:solidFill>
            <a:prstDash val="solid"/>
            <a:tailEnd type="triangle" w="sm" len="sm"/>
          </a:ln>
        </p:spPr>
      </p:cxnSp>
      <p:sp>
        <p:nvSpPr>
          <p:cNvPr id="22" name="1  Start">
            <a:extLst xmlns:a="http://schemas.openxmlformats.org/drawingml/2006/main">
              <a:ext uri="{FF2B5EF4-FFF2-40B4-BE49-F238E27FC236}">
                <a16:creationId xmlns:a16="http://schemas.microsoft.com/office/drawing/2014/main" id="{F494034B-3B2E-4718-A5BC-8EA2C07F3693}"/>
              </a:ext>
            </a:extLst>
          </p:cNvPr>
          <p:cNvSpPr>
            <a:spLocks xmlns:a="http://schemas.openxmlformats.org/drawingml/2006/main" noGrp="1"/>
          </p:cNvSpPr>
          <p:nvPr/>
        </p:nvSpPr>
        <p:spPr>
          <a:xfrm xmlns:a="http://schemas.openxmlformats.org/drawingml/2006/main">
            <a:off x="1371600" y="2333625"/>
            <a:ext cx="1771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246BFF"/>
                </a:solidFill>
                <a:latin typeface="Aptos"/>
                <a:ea typeface="Aptos"/>
                <a:cs typeface="Aptos"/>
              </a:defRPr>
            </a:pPr>
            <a:r>
              <a:rPr sz="1350" b="0">
                <a:solidFill>
                  <a:srgbClr val="246BFF"/>
                </a:solidFill>
                <a:latin typeface="Aptos"/>
                <a:ea typeface="Aptos"/>
                <a:cs typeface="Aptos"/>
              </a:rPr>
              <a:t>1  Start</a:t>
            </a:r>
          </a:p>
        </p:txBody>
      </p:sp>
      <p:sp>
        <p:nvSpPr>
          <p:cNvPr id="23" name="">
            <a:extLst xmlns:a="http://schemas.openxmlformats.org/drawingml/2006/main">
              <a:ext uri="{FF2B5EF4-FFF2-40B4-BE49-F238E27FC236}">
                <a16:creationId xmlns:a16="http://schemas.microsoft.com/office/drawing/2014/main" id="{167BC537-5989-43A9-A7AB-7EBC7D6E34C2}"/>
              </a:ext>
            </a:extLst>
          </p:cNvPr>
          <p:cNvSpPr>
            <a:spLocks xmlns:a="http://schemas.openxmlformats.org/drawingml/2006/main" noGrp="1"/>
          </p:cNvSpPr>
          <p:nvPr/>
        </p:nvSpPr>
        <p:spPr>
          <a:xfrm xmlns:a="http://schemas.openxmlformats.org/drawingml/2006/main">
            <a:off x="3195638" y="3033713"/>
            <a:ext cx="9525" cy="9525"/>
          </a:xfrm>
          <a:prstGeom xmlns:a="http://schemas.openxmlformats.org/drawingml/2006/main" prst="rect">
            <a:avLst/>
          </a:prstGeom>
          <a:noFill xmlns:a="http://schemas.openxmlformats.org/drawingml/2006/main"/>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AC557D7-ADBE-4705-B303-40D1BAFC2BB8}"/>
              </a:ext>
            </a:extLst>
          </p:cNvPr>
          <p:cNvSpPr>
            <a:spLocks xmlns:a="http://schemas.openxmlformats.org/drawingml/2006/main" noGrp="1"/>
          </p:cNvSpPr>
          <p:nvPr/>
        </p:nvSpPr>
        <p:spPr>
          <a:xfrm xmlns:a="http://schemas.openxmlformats.org/drawingml/2006/main">
            <a:off x="1281113" y="30337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1" name=""/>
          <p:cNvCxnSpPr>
            <a:stCxn xmlns:a="http://schemas.openxmlformats.org/drawingml/2006/main" id="23" idx="1"/>
            <a:endCxn xmlns:a="http://schemas.openxmlformats.org/drawingml/2006/main" id="24" idx="3"/>
          </p:cNvCxnSpPr>
          <p:nvPr/>
        </p:nvCxnSpPr>
        <p:spPr>
          <a:xfrm xmlns:a="http://schemas.openxmlformats.org/drawingml/2006/main" flipH="1">
            <a:off x="1290638" y="3038476"/>
            <a:ext cx="1905000" cy="0"/>
          </a:xfrm>
          <a:prstGeom xmlns:a="http://schemas.openxmlformats.org/drawingml/2006/main" prst="straightConnector1">
            <a:avLst/>
          </a:prstGeom>
          <a:ln xmlns:a="http://schemas.openxmlformats.org/drawingml/2006/main" w="17145">
            <a:solidFill>
              <a:srgbClr val="5B6B82"/>
            </a:solidFill>
            <a:prstDash val="solid"/>
            <a:tailEnd type="triangle" w="sm" len="sm"/>
          </a:ln>
        </p:spPr>
      </p:cxnSp>
      <p:sp>
        <p:nvSpPr>
          <p:cNvPr id="26" name="202 + analysisId">
            <a:extLst xmlns:a="http://schemas.openxmlformats.org/drawingml/2006/main">
              <a:ext uri="{FF2B5EF4-FFF2-40B4-BE49-F238E27FC236}">
                <a16:creationId xmlns:a16="http://schemas.microsoft.com/office/drawing/2014/main" id="{A0741A64-471A-4111-B69A-E5A1D6F4EE8B}"/>
              </a:ext>
            </a:extLst>
          </p:cNvPr>
          <p:cNvSpPr>
            <a:spLocks xmlns:a="http://schemas.openxmlformats.org/drawingml/2006/main" noGrp="1"/>
          </p:cNvSpPr>
          <p:nvPr/>
        </p:nvSpPr>
        <p:spPr>
          <a:xfrm xmlns:a="http://schemas.openxmlformats.org/drawingml/2006/main">
            <a:off x="1371600" y="2762250"/>
            <a:ext cx="1771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B6B82"/>
                </a:solidFill>
                <a:latin typeface="Aptos"/>
                <a:ea typeface="Aptos"/>
                <a:cs typeface="Aptos"/>
              </a:defRPr>
            </a:pPr>
            <a:r>
              <a:rPr sz="1350" b="0">
                <a:solidFill>
                  <a:srgbClr val="5B6B82"/>
                </a:solidFill>
                <a:latin typeface="Aptos"/>
                <a:ea typeface="Aptos"/>
                <a:cs typeface="Aptos"/>
              </a:rPr>
              <a:t>202 + analysisId</a:t>
            </a:r>
          </a:p>
        </p:txBody>
      </p:sp>
      <p:sp>
        <p:nvSpPr>
          <p:cNvPr id="27" name="">
            <a:extLst xmlns:a="http://schemas.openxmlformats.org/drawingml/2006/main">
              <a:ext uri="{FF2B5EF4-FFF2-40B4-BE49-F238E27FC236}">
                <a16:creationId xmlns:a16="http://schemas.microsoft.com/office/drawing/2014/main" id="{D86C4746-FEDE-46FE-A43D-725448F5B2DA}"/>
              </a:ext>
            </a:extLst>
          </p:cNvPr>
          <p:cNvSpPr>
            <a:spLocks xmlns:a="http://schemas.openxmlformats.org/drawingml/2006/main" noGrp="1"/>
          </p:cNvSpPr>
          <p:nvPr/>
        </p:nvSpPr>
        <p:spPr>
          <a:xfrm xmlns:a="http://schemas.openxmlformats.org/drawingml/2006/main">
            <a:off x="3195638" y="3443288"/>
            <a:ext cx="9525" cy="9525"/>
          </a:xfrm>
          <a:prstGeom xmlns:a="http://schemas.openxmlformats.org/drawingml/2006/main" prst="rect">
            <a:avLst/>
          </a:prstGeom>
          <a:noFill xmlns:a="http://schemas.openxmlformats.org/drawingml/2006/main"/>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588D00F-17A8-4348-A02D-DD4FD8B7FFB4}"/>
              </a:ext>
            </a:extLst>
          </p:cNvPr>
          <p:cNvSpPr>
            <a:spLocks xmlns:a="http://schemas.openxmlformats.org/drawingml/2006/main" noGrp="1"/>
          </p:cNvSpPr>
          <p:nvPr/>
        </p:nvSpPr>
        <p:spPr>
          <a:xfrm xmlns:a="http://schemas.openxmlformats.org/drawingml/2006/main">
            <a:off x="5110163" y="34432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5" name=""/>
          <p:cNvCxnSpPr>
            <a:stCxn xmlns:a="http://schemas.openxmlformats.org/drawingml/2006/main" id="27" idx="3"/>
            <a:endCxn xmlns:a="http://schemas.openxmlformats.org/drawingml/2006/main" id="28" idx="1"/>
          </p:cNvCxnSpPr>
          <p:nvPr/>
        </p:nvCxnSpPr>
        <p:spPr>
          <a:xfrm xmlns:a="http://schemas.openxmlformats.org/drawingml/2006/main">
            <a:off x="3205163" y="3448051"/>
            <a:ext cx="1905000" cy="0"/>
          </a:xfrm>
          <a:prstGeom xmlns:a="http://schemas.openxmlformats.org/drawingml/2006/main" prst="straightConnector1">
            <a:avLst/>
          </a:prstGeom>
          <a:ln xmlns:a="http://schemas.openxmlformats.org/drawingml/2006/main" w="17145">
            <a:solidFill>
              <a:srgbClr val="246BFF"/>
            </a:solidFill>
            <a:prstDash val="solid"/>
            <a:tailEnd type="triangle" w="sm" len="sm"/>
          </a:ln>
        </p:spPr>
      </p:cxnSp>
      <p:sp>
        <p:nvSpPr>
          <p:cNvPr id="30" name="2  Start Fluid">
            <a:extLst xmlns:a="http://schemas.openxmlformats.org/drawingml/2006/main">
              <a:ext uri="{FF2B5EF4-FFF2-40B4-BE49-F238E27FC236}">
                <a16:creationId xmlns:a16="http://schemas.microsoft.com/office/drawing/2014/main" id="{6B110D53-534A-488E-8EAF-2A20727694F9}"/>
              </a:ext>
            </a:extLst>
          </p:cNvPr>
          <p:cNvSpPr>
            <a:spLocks xmlns:a="http://schemas.openxmlformats.org/drawingml/2006/main" noGrp="1"/>
          </p:cNvSpPr>
          <p:nvPr/>
        </p:nvSpPr>
        <p:spPr>
          <a:xfrm xmlns:a="http://schemas.openxmlformats.org/drawingml/2006/main">
            <a:off x="3286125" y="3171825"/>
            <a:ext cx="1771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246BFF"/>
                </a:solidFill>
                <a:latin typeface="Aptos"/>
                <a:ea typeface="Aptos"/>
                <a:cs typeface="Aptos"/>
              </a:defRPr>
            </a:pPr>
            <a:r>
              <a:rPr sz="1350" b="0">
                <a:solidFill>
                  <a:srgbClr val="246BFF"/>
                </a:solidFill>
                <a:latin typeface="Aptos"/>
                <a:ea typeface="Aptos"/>
                <a:cs typeface="Aptos"/>
              </a:rPr>
              <a:t>2  Start Fluid</a:t>
            </a:r>
          </a:p>
        </p:txBody>
      </p:sp>
      <p:sp>
        <p:nvSpPr>
          <p:cNvPr id="31" name="">
            <a:extLst xmlns:a="http://schemas.openxmlformats.org/drawingml/2006/main">
              <a:ext uri="{FF2B5EF4-FFF2-40B4-BE49-F238E27FC236}">
                <a16:creationId xmlns:a16="http://schemas.microsoft.com/office/drawing/2014/main" id="{F3C59901-529E-4CDE-8C64-37D04507ABF8}"/>
              </a:ext>
            </a:extLst>
          </p:cNvPr>
          <p:cNvSpPr>
            <a:spLocks xmlns:a="http://schemas.openxmlformats.org/drawingml/2006/main" noGrp="1"/>
          </p:cNvSpPr>
          <p:nvPr/>
        </p:nvSpPr>
        <p:spPr>
          <a:xfrm xmlns:a="http://schemas.openxmlformats.org/drawingml/2006/main">
            <a:off x="5110163" y="3871913"/>
            <a:ext cx="9525" cy="9525"/>
          </a:xfrm>
          <a:prstGeom xmlns:a="http://schemas.openxmlformats.org/drawingml/2006/main" prst="rect">
            <a:avLst/>
          </a:prstGeom>
          <a:noFill xmlns:a="http://schemas.openxmlformats.org/drawingml/2006/main"/>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8821A9E-E169-4D03-8630-D0650BAE57E5}"/>
              </a:ext>
            </a:extLst>
          </p:cNvPr>
          <p:cNvSpPr>
            <a:spLocks xmlns:a="http://schemas.openxmlformats.org/drawingml/2006/main" noGrp="1"/>
          </p:cNvSpPr>
          <p:nvPr/>
        </p:nvSpPr>
        <p:spPr>
          <a:xfrm xmlns:a="http://schemas.openxmlformats.org/drawingml/2006/main">
            <a:off x="3195638" y="38719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9" name=""/>
          <p:cNvCxnSpPr>
            <a:stCxn xmlns:a="http://schemas.openxmlformats.org/drawingml/2006/main" id="31" idx="1"/>
            <a:endCxn xmlns:a="http://schemas.openxmlformats.org/drawingml/2006/main" id="32" idx="3"/>
          </p:cNvCxnSpPr>
          <p:nvPr/>
        </p:nvCxnSpPr>
        <p:spPr>
          <a:xfrm xmlns:a="http://schemas.openxmlformats.org/drawingml/2006/main" flipH="1">
            <a:off x="3205163" y="3876676"/>
            <a:ext cx="1905000" cy="0"/>
          </a:xfrm>
          <a:prstGeom xmlns:a="http://schemas.openxmlformats.org/drawingml/2006/main" prst="straightConnector1">
            <a:avLst/>
          </a:prstGeom>
          <a:ln xmlns:a="http://schemas.openxmlformats.org/drawingml/2006/main" w="17145">
            <a:solidFill>
              <a:srgbClr val="00AD77"/>
            </a:solidFill>
            <a:prstDash val="solid"/>
            <a:tailEnd type="triangle" w="sm" len="sm"/>
          </a:ln>
        </p:spPr>
      </p:cxnSp>
      <p:sp>
        <p:nvSpPr>
          <p:cNvPr id="34" name="3  Status / Resultat">
            <a:extLst xmlns:a="http://schemas.openxmlformats.org/drawingml/2006/main">
              <a:ext uri="{FF2B5EF4-FFF2-40B4-BE49-F238E27FC236}">
                <a16:creationId xmlns:a16="http://schemas.microsoft.com/office/drawing/2014/main" id="{25F0E78F-6878-4AF9-B5F8-85320CC00E3E}"/>
              </a:ext>
            </a:extLst>
          </p:cNvPr>
          <p:cNvSpPr>
            <a:spLocks xmlns:a="http://schemas.openxmlformats.org/drawingml/2006/main" noGrp="1"/>
          </p:cNvSpPr>
          <p:nvPr/>
        </p:nvSpPr>
        <p:spPr>
          <a:xfrm xmlns:a="http://schemas.openxmlformats.org/drawingml/2006/main">
            <a:off x="3286125" y="3600450"/>
            <a:ext cx="1771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00AD77"/>
                </a:solidFill>
                <a:latin typeface="Aptos"/>
                <a:ea typeface="Aptos"/>
                <a:cs typeface="Aptos"/>
              </a:defRPr>
            </a:pPr>
            <a:r>
              <a:rPr sz="1350" b="0">
                <a:solidFill>
                  <a:srgbClr val="00AD77"/>
                </a:solidFill>
                <a:latin typeface="Aptos"/>
                <a:ea typeface="Aptos"/>
                <a:cs typeface="Aptos"/>
              </a:rPr>
              <a:t>3  Status / Resultat</a:t>
            </a:r>
          </a:p>
        </p:txBody>
      </p:sp>
      <p:sp>
        <p:nvSpPr>
          <p:cNvPr id="35" name="">
            <a:extLst xmlns:a="http://schemas.openxmlformats.org/drawingml/2006/main">
              <a:ext uri="{FF2B5EF4-FFF2-40B4-BE49-F238E27FC236}">
                <a16:creationId xmlns:a16="http://schemas.microsoft.com/office/drawing/2014/main" id="{E3D80769-F5D2-422F-BE7D-C4C4AA616519}"/>
              </a:ext>
            </a:extLst>
          </p:cNvPr>
          <p:cNvSpPr>
            <a:spLocks xmlns:a="http://schemas.openxmlformats.org/drawingml/2006/main" noGrp="1"/>
          </p:cNvSpPr>
          <p:nvPr/>
        </p:nvSpPr>
        <p:spPr>
          <a:xfrm xmlns:a="http://schemas.openxmlformats.org/drawingml/2006/main">
            <a:off x="5110163" y="4281488"/>
            <a:ext cx="9525" cy="9525"/>
          </a:xfrm>
          <a:prstGeom xmlns:a="http://schemas.openxmlformats.org/drawingml/2006/main" prst="rect">
            <a:avLst/>
          </a:prstGeom>
          <a:noFill xmlns:a="http://schemas.openxmlformats.org/drawingml/2006/main"/>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3962992-A667-456B-B4BA-E1C4D4B2AECB}"/>
              </a:ext>
            </a:extLst>
          </p:cNvPr>
          <p:cNvSpPr>
            <a:spLocks xmlns:a="http://schemas.openxmlformats.org/drawingml/2006/main" noGrp="1"/>
          </p:cNvSpPr>
          <p:nvPr/>
        </p:nvSpPr>
        <p:spPr>
          <a:xfrm xmlns:a="http://schemas.openxmlformats.org/drawingml/2006/main">
            <a:off x="7024688" y="42814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3" name=""/>
          <p:cNvCxnSpPr>
            <a:stCxn xmlns:a="http://schemas.openxmlformats.org/drawingml/2006/main" id="35" idx="3"/>
            <a:endCxn xmlns:a="http://schemas.openxmlformats.org/drawingml/2006/main" id="36" idx="1"/>
          </p:cNvCxnSpPr>
          <p:nvPr/>
        </p:nvCxnSpPr>
        <p:spPr>
          <a:xfrm xmlns:a="http://schemas.openxmlformats.org/drawingml/2006/main">
            <a:off x="5119688" y="4286251"/>
            <a:ext cx="1905000" cy="0"/>
          </a:xfrm>
          <a:prstGeom xmlns:a="http://schemas.openxmlformats.org/drawingml/2006/main" prst="straightConnector1">
            <a:avLst/>
          </a:prstGeom>
          <a:ln xmlns:a="http://schemas.openxmlformats.org/drawingml/2006/main" w="17145">
            <a:solidFill>
              <a:srgbClr val="246BFF"/>
            </a:solidFill>
            <a:prstDash val="solid"/>
            <a:tailEnd type="triangle" w="sm" len="sm"/>
          </a:ln>
        </p:spPr>
      </p:cxnSp>
      <p:sp>
        <p:nvSpPr>
          <p:cNvPr id="38" name="4  Nächster Schritt">
            <a:extLst xmlns:a="http://schemas.openxmlformats.org/drawingml/2006/main">
              <a:ext uri="{FF2B5EF4-FFF2-40B4-BE49-F238E27FC236}">
                <a16:creationId xmlns:a16="http://schemas.microsoft.com/office/drawing/2014/main" id="{2F374D17-3499-4C3A-9EF6-182FD24381D8}"/>
              </a:ext>
            </a:extLst>
          </p:cNvPr>
          <p:cNvSpPr>
            <a:spLocks xmlns:a="http://schemas.openxmlformats.org/drawingml/2006/main" noGrp="1"/>
          </p:cNvSpPr>
          <p:nvPr/>
        </p:nvSpPr>
        <p:spPr>
          <a:xfrm xmlns:a="http://schemas.openxmlformats.org/drawingml/2006/main">
            <a:off x="5200650" y="4010025"/>
            <a:ext cx="1771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246BFF"/>
                </a:solidFill>
                <a:latin typeface="Aptos"/>
                <a:ea typeface="Aptos"/>
                <a:cs typeface="Aptos"/>
              </a:defRPr>
            </a:pPr>
            <a:r>
              <a:rPr sz="1350" b="0">
                <a:solidFill>
                  <a:srgbClr val="246BFF"/>
                </a:solidFill>
                <a:latin typeface="Aptos"/>
                <a:ea typeface="Aptos"/>
                <a:cs typeface="Aptos"/>
              </a:rPr>
              <a:t>4  Nächster Schritt</a:t>
            </a:r>
          </a:p>
        </p:txBody>
      </p:sp>
      <p:sp>
        <p:nvSpPr>
          <p:cNvPr id="39" name="">
            <a:extLst xmlns:a="http://schemas.openxmlformats.org/drawingml/2006/main">
              <a:ext uri="{FF2B5EF4-FFF2-40B4-BE49-F238E27FC236}">
                <a16:creationId xmlns:a16="http://schemas.microsoft.com/office/drawing/2014/main" id="{51DDBA9A-AAC5-46F8-979B-FB45E4E63554}"/>
              </a:ext>
            </a:extLst>
          </p:cNvPr>
          <p:cNvSpPr>
            <a:spLocks xmlns:a="http://schemas.openxmlformats.org/drawingml/2006/main" noGrp="1"/>
          </p:cNvSpPr>
          <p:nvPr/>
        </p:nvSpPr>
        <p:spPr>
          <a:xfrm xmlns:a="http://schemas.openxmlformats.org/drawingml/2006/main">
            <a:off x="7024688" y="4700588"/>
            <a:ext cx="9525" cy="9525"/>
          </a:xfrm>
          <a:prstGeom xmlns:a="http://schemas.openxmlformats.org/drawingml/2006/main" prst="rect">
            <a:avLst/>
          </a:prstGeom>
          <a:noFill xmlns:a="http://schemas.openxmlformats.org/drawingml/2006/main"/>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956BE30-60DF-4760-BF3B-9504027A735F}"/>
              </a:ext>
            </a:extLst>
          </p:cNvPr>
          <p:cNvSpPr>
            <a:spLocks xmlns:a="http://schemas.openxmlformats.org/drawingml/2006/main" noGrp="1"/>
          </p:cNvSpPr>
          <p:nvPr/>
        </p:nvSpPr>
        <p:spPr>
          <a:xfrm xmlns:a="http://schemas.openxmlformats.org/drawingml/2006/main">
            <a:off x="8939213" y="47005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7" name=""/>
          <p:cNvCxnSpPr>
            <a:stCxn xmlns:a="http://schemas.openxmlformats.org/drawingml/2006/main" id="39" idx="3"/>
            <a:endCxn xmlns:a="http://schemas.openxmlformats.org/drawingml/2006/main" id="40" idx="1"/>
          </p:cNvCxnSpPr>
          <p:nvPr/>
        </p:nvCxnSpPr>
        <p:spPr>
          <a:xfrm xmlns:a="http://schemas.openxmlformats.org/drawingml/2006/main">
            <a:off x="7034213" y="4705351"/>
            <a:ext cx="1905000" cy="0"/>
          </a:xfrm>
          <a:prstGeom xmlns:a="http://schemas.openxmlformats.org/drawingml/2006/main" prst="straightConnector1">
            <a:avLst/>
          </a:prstGeom>
          <a:ln xmlns:a="http://schemas.openxmlformats.org/drawingml/2006/main" w="17145">
            <a:solidFill>
              <a:srgbClr val="246BFF"/>
            </a:solidFill>
            <a:prstDash val="solid"/>
            <a:tailEnd type="triangle" w="sm" len="sm"/>
          </a:ln>
        </p:spPr>
      </p:cxnSp>
      <p:sp>
        <p:nvSpPr>
          <p:cNvPr id="42" name="5  Nächster Schritt">
            <a:extLst xmlns:a="http://schemas.openxmlformats.org/drawingml/2006/main">
              <a:ext uri="{FF2B5EF4-FFF2-40B4-BE49-F238E27FC236}">
                <a16:creationId xmlns:a16="http://schemas.microsoft.com/office/drawing/2014/main" id="{EE7B7320-D58E-4056-9B1D-14461053A4CC}"/>
              </a:ext>
            </a:extLst>
          </p:cNvPr>
          <p:cNvSpPr>
            <a:spLocks xmlns:a="http://schemas.openxmlformats.org/drawingml/2006/main" noGrp="1"/>
          </p:cNvSpPr>
          <p:nvPr/>
        </p:nvSpPr>
        <p:spPr>
          <a:xfrm xmlns:a="http://schemas.openxmlformats.org/drawingml/2006/main">
            <a:off x="7115175" y="4429125"/>
            <a:ext cx="1771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246BFF"/>
                </a:solidFill>
                <a:latin typeface="Aptos"/>
                <a:ea typeface="Aptos"/>
                <a:cs typeface="Aptos"/>
              </a:defRPr>
            </a:pPr>
            <a:r>
              <a:rPr sz="1350" b="0">
                <a:solidFill>
                  <a:srgbClr val="246BFF"/>
                </a:solidFill>
                <a:latin typeface="Aptos"/>
                <a:ea typeface="Aptos"/>
                <a:cs typeface="Aptos"/>
              </a:rPr>
              <a:t>5  Nächster Schritt</a:t>
            </a:r>
          </a:p>
        </p:txBody>
      </p:sp>
      <p:sp>
        <p:nvSpPr>
          <p:cNvPr id="43" name="">
            <a:extLst xmlns:a="http://schemas.openxmlformats.org/drawingml/2006/main">
              <a:ext uri="{FF2B5EF4-FFF2-40B4-BE49-F238E27FC236}">
                <a16:creationId xmlns:a16="http://schemas.microsoft.com/office/drawing/2014/main" id="{0630035D-4E13-41B9-963B-10344807B9D8}"/>
              </a:ext>
            </a:extLst>
          </p:cNvPr>
          <p:cNvSpPr>
            <a:spLocks xmlns:a="http://schemas.openxmlformats.org/drawingml/2006/main" noGrp="1"/>
          </p:cNvSpPr>
          <p:nvPr/>
        </p:nvSpPr>
        <p:spPr>
          <a:xfrm xmlns:a="http://schemas.openxmlformats.org/drawingml/2006/main">
            <a:off x="8939213" y="5119688"/>
            <a:ext cx="9525" cy="9525"/>
          </a:xfrm>
          <a:prstGeom xmlns:a="http://schemas.openxmlformats.org/drawingml/2006/main" prst="rect">
            <a:avLst/>
          </a:prstGeom>
          <a:noFill xmlns:a="http://schemas.openxmlformats.org/drawingml/2006/main"/>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AF0C3E0C-BA0C-436C-B568-8B40A4F58369}"/>
              </a:ext>
            </a:extLst>
          </p:cNvPr>
          <p:cNvSpPr>
            <a:spLocks xmlns:a="http://schemas.openxmlformats.org/drawingml/2006/main" noGrp="1"/>
          </p:cNvSpPr>
          <p:nvPr/>
        </p:nvSpPr>
        <p:spPr>
          <a:xfrm xmlns:a="http://schemas.openxmlformats.org/drawingml/2006/main">
            <a:off x="10853738" y="51196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91" name=""/>
          <p:cNvCxnSpPr>
            <a:stCxn xmlns:a="http://schemas.openxmlformats.org/drawingml/2006/main" id="43" idx="3"/>
            <a:endCxn xmlns:a="http://schemas.openxmlformats.org/drawingml/2006/main" id="44" idx="1"/>
          </p:cNvCxnSpPr>
          <p:nvPr/>
        </p:nvCxnSpPr>
        <p:spPr>
          <a:xfrm xmlns:a="http://schemas.openxmlformats.org/drawingml/2006/main">
            <a:off x="8948738" y="5124451"/>
            <a:ext cx="1905000" cy="0"/>
          </a:xfrm>
          <a:prstGeom xmlns:a="http://schemas.openxmlformats.org/drawingml/2006/main" prst="straightConnector1">
            <a:avLst/>
          </a:prstGeom>
          <a:ln xmlns:a="http://schemas.openxmlformats.org/drawingml/2006/main" w="17145">
            <a:solidFill>
              <a:srgbClr val="246BFF"/>
            </a:solidFill>
            <a:prstDash val="solid"/>
            <a:tailEnd type="triangle" w="sm" len="sm"/>
          </a:ln>
        </p:spPr>
      </p:cxnSp>
      <p:sp>
        <p:nvSpPr>
          <p:cNvPr id="46" name="6  Mit Vorgängern">
            <a:extLst xmlns:a="http://schemas.openxmlformats.org/drawingml/2006/main">
              <a:ext uri="{FF2B5EF4-FFF2-40B4-BE49-F238E27FC236}">
                <a16:creationId xmlns:a16="http://schemas.microsoft.com/office/drawing/2014/main" id="{3CB3B49E-57ED-4610-8457-A81066B7778D}"/>
              </a:ext>
            </a:extLst>
          </p:cNvPr>
          <p:cNvSpPr>
            <a:spLocks xmlns:a="http://schemas.openxmlformats.org/drawingml/2006/main" noGrp="1"/>
          </p:cNvSpPr>
          <p:nvPr/>
        </p:nvSpPr>
        <p:spPr>
          <a:xfrm xmlns:a="http://schemas.openxmlformats.org/drawingml/2006/main">
            <a:off x="9029700" y="4848225"/>
            <a:ext cx="1771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246BFF"/>
                </a:solidFill>
                <a:latin typeface="Aptos"/>
                <a:ea typeface="Aptos"/>
                <a:cs typeface="Aptos"/>
              </a:defRPr>
            </a:pPr>
            <a:r>
              <a:rPr sz="1350" b="0">
                <a:solidFill>
                  <a:srgbClr val="246BFF"/>
                </a:solidFill>
                <a:latin typeface="Aptos"/>
                <a:ea typeface="Aptos"/>
                <a:cs typeface="Aptos"/>
              </a:rPr>
              <a:t>6  Mit Vorgängern</a:t>
            </a:r>
          </a:p>
        </p:txBody>
      </p:sp>
      <p:sp>
        <p:nvSpPr>
          <p:cNvPr id="47" name="Jeder Worker meldet RUNNING und sein Ergebnis an Management.">
            <a:extLst xmlns:a="http://schemas.openxmlformats.org/drawingml/2006/main">
              <a:ext uri="{FF2B5EF4-FFF2-40B4-BE49-F238E27FC236}">
                <a16:creationId xmlns:a16="http://schemas.microsoft.com/office/drawing/2014/main" id="{AC8FEFBF-B18A-4869-AF79-4FC927BD24FE}"/>
              </a:ext>
            </a:extLst>
          </p:cNvPr>
          <p:cNvSpPr>
            <a:spLocks xmlns:a="http://schemas.openxmlformats.org/drawingml/2006/main" noGrp="1"/>
          </p:cNvSpPr>
          <p:nvPr/>
        </p:nvSpPr>
        <p:spPr>
          <a:xfrm xmlns:a="http://schemas.openxmlformats.org/drawingml/2006/main">
            <a:off x="647700" y="5848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00AD77"/>
                </a:solidFill>
                <a:latin typeface="Aptos"/>
                <a:ea typeface="Aptos"/>
                <a:cs typeface="Aptos"/>
              </a:defRPr>
            </a:pPr>
            <a:r>
              <a:rPr sz="1950" b="0">
                <a:solidFill>
                  <a:srgbClr val="00AD77"/>
                </a:solidFill>
                <a:latin typeface="Aptos"/>
                <a:ea typeface="Aptos"/>
                <a:cs typeface="Aptos"/>
              </a:rPr>
              <a:t>Jeder Worker meldet RUNNING und sein Ergebnis an Management.</a:t>
            </a:r>
          </a:p>
        </p:txBody>
      </p:sp>
    </p:spTree>
    <p:extLst>
      <p:ext uri="{BB962C8B-B14F-4D97-AF65-F5344CB8AC3E}">
        <p14:creationId xmlns:p14="http://schemas.microsoft.com/office/powerpoint/2010/main" val="519772975"/>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B049910-503F-4050-80C8-18322AF5B99E}"/>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246BFE"/>
          </a:solidFill>
          <a:ln xmlns:a="http://schemas.openxmlformats.org/drawingml/2006/main" w="12700">
            <a:solidFill>
              <a:srgbClr val="246BFE">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Verteilungssicht">
            <a:extLst xmlns:a="http://schemas.openxmlformats.org/drawingml/2006/main">
              <a:ext uri="{FF2B5EF4-FFF2-40B4-BE49-F238E27FC236}">
                <a16:creationId xmlns:a16="http://schemas.microsoft.com/office/drawing/2014/main" id="{4405106A-66F9-474F-96B6-A6C8C95DD8E0}"/>
              </a:ext>
            </a:extLst>
          </p:cNvPr>
          <p:cNvSpPr>
            <a:spLocks xmlns:a="http://schemas.openxmlformats.org/drawingml/2006/main" noGrp="1"/>
          </p:cNvSpPr>
          <p:nvPr/>
        </p:nvSpPr>
        <p:spPr>
          <a:xfrm xmlns:a="http://schemas.openxmlformats.org/drawingml/2006/main">
            <a:off x="514350" y="3429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2440"/>
                </a:solidFill>
                <a:latin typeface="Aptos"/>
                <a:ea typeface="Aptos"/>
                <a:cs typeface="Aptos"/>
              </a:defRPr>
            </a:pPr>
            <a:r>
              <a:rPr sz="3000" b="1">
                <a:solidFill>
                  <a:srgbClr val="172440"/>
                </a:solidFill>
                <a:latin typeface="Aptos"/>
                <a:ea typeface="Aptos"/>
                <a:cs typeface="Aptos"/>
              </a:rPr>
              <a:t>Verteilungssicht</a:t>
            </a:r>
          </a:p>
        </p:txBody>
      </p:sp>
      <p:sp>
        <p:nvSpPr>
          <p:cNvPr id="4" name="Ein Docker-Host für die lokale Demonstration">
            <a:extLst xmlns:a="http://schemas.openxmlformats.org/drawingml/2006/main">
              <a:ext uri="{FF2B5EF4-FFF2-40B4-BE49-F238E27FC236}">
                <a16:creationId xmlns:a16="http://schemas.microsoft.com/office/drawing/2014/main" id="{2BD94A5D-C573-4954-812B-856F6179CE44}"/>
              </a:ext>
            </a:extLst>
          </p:cNvPr>
          <p:cNvSpPr>
            <a:spLocks xmlns:a="http://schemas.openxmlformats.org/drawingml/2006/main" noGrp="1"/>
          </p:cNvSpPr>
          <p:nvPr/>
        </p:nvSpPr>
        <p:spPr>
          <a:xfrm xmlns:a="http://schemas.openxmlformats.org/drawingml/2006/main">
            <a:off x="523875" y="990600"/>
            <a:ext cx="11029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B82"/>
                </a:solidFill>
                <a:latin typeface="Aptos"/>
                <a:ea typeface="Aptos"/>
                <a:cs typeface="Aptos"/>
              </a:defRPr>
            </a:pPr>
            <a:r>
              <a:rPr sz="1725" b="0">
                <a:solidFill>
                  <a:srgbClr val="5B6B82"/>
                </a:solidFill>
                <a:latin typeface="Aptos"/>
                <a:ea typeface="Aptos"/>
                <a:cs typeface="Aptos"/>
              </a:rPr>
              <a:t>Ein Docker-Host für die lokale Demonstration</a:t>
            </a:r>
          </a:p>
        </p:txBody>
      </p:sp>
      <p:sp>
        <p:nvSpPr>
          <p:cNvPr id="5" name="WirSchiffenDas  SEKA">
            <a:extLst xmlns:a="http://schemas.openxmlformats.org/drawingml/2006/main">
              <a:ext uri="{FF2B5EF4-FFF2-40B4-BE49-F238E27FC236}">
                <a16:creationId xmlns:a16="http://schemas.microsoft.com/office/drawing/2014/main" id="{07435CED-455F-4FCE-AF5C-07C97735A1AF}"/>
              </a:ext>
            </a:extLst>
          </p:cNvPr>
          <p:cNvSpPr>
            <a:spLocks xmlns:a="http://schemas.openxmlformats.org/drawingml/2006/main" noGrp="1"/>
          </p:cNvSpPr>
          <p:nvPr/>
        </p:nvSpPr>
        <p:spPr>
          <a:xfrm xmlns:a="http://schemas.openxmlformats.org/drawingml/2006/main">
            <a:off x="514350" y="64770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WirSchiffenDas  SEKA</a:t>
            </a:r>
          </a:p>
        </p:txBody>
      </p:sp>
      <p:sp>
        <p:nvSpPr>
          <p:cNvPr id="6" name="6/12">
            <a:extLst xmlns:a="http://schemas.openxmlformats.org/drawingml/2006/main">
              <a:ext uri="{FF2B5EF4-FFF2-40B4-BE49-F238E27FC236}">
                <a16:creationId xmlns:a16="http://schemas.microsoft.com/office/drawing/2014/main" id="{A643D03D-84F8-4763-B8C8-DFCBA4C8DB4B}"/>
              </a:ext>
            </a:extLst>
          </p:cNvPr>
          <p:cNvSpPr>
            <a:spLocks xmlns:a="http://schemas.openxmlformats.org/drawingml/2006/main" noGrp="1"/>
          </p:cNvSpPr>
          <p:nvPr/>
        </p:nvSpPr>
        <p:spPr>
          <a:xfrm xmlns:a="http://schemas.openxmlformats.org/drawingml/2006/main">
            <a:off x="10668000" y="64770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6/12</a:t>
            </a:r>
          </a:p>
        </p:txBody>
      </p:sp>
      <p:sp>
        <p:nvSpPr>
          <p:cNvPr id="7" name="«device» Browser">
            <a:extLst xmlns:a="http://schemas.openxmlformats.org/drawingml/2006/main">
              <a:ext uri="{FF2B5EF4-FFF2-40B4-BE49-F238E27FC236}">
                <a16:creationId xmlns:a16="http://schemas.microsoft.com/office/drawing/2014/main" id="{4216CA6D-B616-47DE-8A16-72C7161AE51D}"/>
              </a:ext>
            </a:extLst>
          </p:cNvPr>
          <p:cNvSpPr>
            <a:spLocks xmlns:a="http://schemas.openxmlformats.org/drawingml/2006/main" noGrp="1"/>
          </p:cNvSpPr>
          <p:nvPr/>
        </p:nvSpPr>
        <p:spPr>
          <a:xfrm xmlns:a="http://schemas.openxmlformats.org/drawingml/2006/main">
            <a:off x="619125" y="2286000"/>
            <a:ext cx="1952625" cy="895350"/>
          </a:xfrm>
          <a:prstGeom xmlns:a="http://schemas.openxmlformats.org/drawingml/2006/main" prst="rect">
            <a:avLst/>
          </a:prstGeom>
          <a:solidFill xmlns:a="http://schemas.openxmlformats.org/drawingml/2006/main">
            <a:srgbClr val="DCEAFF"/>
          </a:solidFill>
          <a:ln xmlns:a="http://schemas.openxmlformats.org/drawingml/2006/main" w="14288">
            <a:solidFill>
              <a:srgbClr val="246BFF"/>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800" b="0">
                <a:solidFill>
                  <a:srgbClr val="172440"/>
                </a:solidFill>
                <a:latin typeface="Aptos"/>
                <a:ea typeface="Aptos"/>
                <a:cs typeface="Aptos"/>
              </a:defRPr>
            </a:pPr>
            <a:r>
              <a:rPr sz="1800" b="0">
                <a:solidFill>
                  <a:srgbClr val="172440"/>
                </a:solidFill>
                <a:latin typeface="Aptos"/>
                <a:ea typeface="Aptos"/>
                <a:cs typeface="Aptos"/>
              </a:rPr>
              <a:t>«device»</a:t>
            </a:r>
          </a:p>
          <a:p xmlns:a="http://schemas.openxmlformats.org/drawingml/2006/main">
            <a:pPr algn="ctr">
              <a:defRPr sz="1800" b="0">
                <a:solidFill>
                  <a:srgbClr val="172440"/>
                </a:solidFill>
                <a:latin typeface="Aptos"/>
                <a:ea typeface="Aptos"/>
                <a:cs typeface="Aptos"/>
              </a:defRPr>
            </a:pPr>
            <a:r>
              <a:rPr sz="1800" b="0">
                <a:solidFill>
                  <a:srgbClr val="172440"/>
                </a:solidFill>
                <a:latin typeface="Aptos"/>
                <a:ea typeface="Aptos"/>
                <a:cs typeface="Aptos"/>
              </a:rPr>
              <a:t>Browser</a:t>
            </a:r>
          </a:p>
        </p:txBody>
      </p:sp>
      <p:sp>
        <p:nvSpPr>
          <p:cNvPr id="8" name="">
            <a:extLst xmlns:a="http://schemas.openxmlformats.org/drawingml/2006/main">
              <a:ext uri="{FF2B5EF4-FFF2-40B4-BE49-F238E27FC236}">
                <a16:creationId xmlns:a16="http://schemas.microsoft.com/office/drawing/2014/main" id="{65183AFA-025B-4996-B56B-459AA0C23EDB}"/>
              </a:ext>
            </a:extLst>
          </p:cNvPr>
          <p:cNvSpPr>
            <a:spLocks xmlns:a="http://schemas.openxmlformats.org/drawingml/2006/main" noGrp="1"/>
          </p:cNvSpPr>
          <p:nvPr/>
        </p:nvSpPr>
        <p:spPr>
          <a:xfrm xmlns:a="http://schemas.openxmlformats.org/drawingml/2006/main">
            <a:off x="3438525" y="1543050"/>
            <a:ext cx="8096250" cy="4419600"/>
          </a:xfrm>
          <a:prstGeom xmlns:a="http://schemas.openxmlformats.org/drawingml/2006/main" prst="rect">
            <a:avLst/>
          </a:prstGeom>
          <a:noFill xmlns:a="http://schemas.openxmlformats.org/drawingml/2006/main"/>
          <a:ln xmlns:a="http://schemas.openxmlformats.org/drawingml/2006/main" w="14288">
            <a:solidFill>
              <a:srgbClr val="9CAAC0"/>
            </a:solidFill>
          </a:ln>
        </p:spPr>
      </p:sp>
      <p:sp>
        <p:nvSpPr>
          <p:cNvPr id="9" name="«node» Docker-Host / Compose-Netzwerk">
            <a:extLst xmlns:a="http://schemas.openxmlformats.org/drawingml/2006/main">
              <a:ext uri="{FF2B5EF4-FFF2-40B4-BE49-F238E27FC236}">
                <a16:creationId xmlns:a16="http://schemas.microsoft.com/office/drawing/2014/main" id="{2D4E8068-9338-4690-8F07-53CF51C6FE7B}"/>
              </a:ext>
            </a:extLst>
          </p:cNvPr>
          <p:cNvSpPr>
            <a:spLocks xmlns:a="http://schemas.openxmlformats.org/drawingml/2006/main" noGrp="1"/>
          </p:cNvSpPr>
          <p:nvPr/>
        </p:nvSpPr>
        <p:spPr>
          <a:xfrm xmlns:a="http://schemas.openxmlformats.org/drawingml/2006/main">
            <a:off x="3648075" y="1724025"/>
            <a:ext cx="7572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2440"/>
                </a:solidFill>
                <a:latin typeface="Aptos"/>
                <a:ea typeface="Aptos"/>
                <a:cs typeface="Aptos"/>
              </a:defRPr>
            </a:pPr>
            <a:r>
              <a:rPr sz="1950" b="1">
                <a:solidFill>
                  <a:srgbClr val="172440"/>
                </a:solidFill>
                <a:latin typeface="Aptos"/>
                <a:ea typeface="Aptos"/>
                <a:cs typeface="Aptos"/>
              </a:rPr>
              <a:t>«node» Docker-Host / Compose-Netzwerk</a:t>
            </a:r>
          </a:p>
        </p:txBody>
      </p:sp>
      <p:sp>
        <p:nvSpPr>
          <p:cNvPr id="10" name="«container» Nginx + React 3000 : 80">
            <a:extLst xmlns:a="http://schemas.openxmlformats.org/drawingml/2006/main">
              <a:ext uri="{FF2B5EF4-FFF2-40B4-BE49-F238E27FC236}">
                <a16:creationId xmlns:a16="http://schemas.microsoft.com/office/drawing/2014/main" id="{2E75660E-4FBC-41E2-B934-DE4E246FC8DB}"/>
              </a:ext>
            </a:extLst>
          </p:cNvPr>
          <p:cNvSpPr>
            <a:spLocks xmlns:a="http://schemas.openxmlformats.org/drawingml/2006/main" noGrp="1"/>
          </p:cNvSpPr>
          <p:nvPr/>
        </p:nvSpPr>
        <p:spPr>
          <a:xfrm xmlns:a="http://schemas.openxmlformats.org/drawingml/2006/main">
            <a:off x="3914775" y="2352675"/>
            <a:ext cx="2190750" cy="990600"/>
          </a:xfrm>
          <a:prstGeom xmlns:a="http://schemas.openxmlformats.org/drawingml/2006/main" prst="rect">
            <a:avLst/>
          </a:prstGeom>
          <a:solidFill xmlns:a="http://schemas.openxmlformats.org/drawingml/2006/main">
            <a:srgbClr val="DCEAFF"/>
          </a:solidFill>
          <a:ln xmlns:a="http://schemas.openxmlformats.org/drawingml/2006/main" w="14288">
            <a:solidFill>
              <a:srgbClr val="246BFF"/>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575" b="0">
                <a:solidFill>
                  <a:srgbClr val="172440"/>
                </a:solidFill>
                <a:latin typeface="Aptos"/>
                <a:ea typeface="Aptos"/>
                <a:cs typeface="Aptos"/>
              </a:defRPr>
            </a:pPr>
            <a:r>
              <a:rPr sz="1575" b="0">
                <a:solidFill>
                  <a:srgbClr val="172440"/>
                </a:solidFill>
                <a:latin typeface="Aptos"/>
                <a:ea typeface="Aptos"/>
                <a:cs typeface="Aptos"/>
              </a:rPr>
              <a:t>«container»</a:t>
            </a:r>
          </a:p>
          <a:p xmlns:a="http://schemas.openxmlformats.org/drawingml/2006/main">
            <a:pPr algn="ctr">
              <a:defRPr sz="1575" b="0">
                <a:solidFill>
                  <a:srgbClr val="172440"/>
                </a:solidFill>
                <a:latin typeface="Aptos"/>
                <a:ea typeface="Aptos"/>
                <a:cs typeface="Aptos"/>
              </a:defRPr>
            </a:pPr>
            <a:r>
              <a:rPr sz="1575" b="0">
                <a:solidFill>
                  <a:srgbClr val="172440"/>
                </a:solidFill>
                <a:latin typeface="Aptos"/>
                <a:ea typeface="Aptos"/>
                <a:cs typeface="Aptos"/>
              </a:rPr>
              <a:t>Nginx + React</a:t>
            </a:r>
          </a:p>
          <a:p xmlns:a="http://schemas.openxmlformats.org/drawingml/2006/main">
            <a:pPr algn="ctr">
              <a:defRPr sz="1575" b="0">
                <a:solidFill>
                  <a:srgbClr val="172440"/>
                </a:solidFill>
                <a:latin typeface="Aptos"/>
                <a:ea typeface="Aptos"/>
                <a:cs typeface="Aptos"/>
              </a:defRPr>
            </a:pPr>
            <a:r>
              <a:rPr sz="1575" b="0">
                <a:solidFill>
                  <a:srgbClr val="172440"/>
                </a:solidFill>
                <a:latin typeface="Aptos"/>
                <a:ea typeface="Aptos"/>
                <a:cs typeface="Aptos"/>
              </a:rPr>
              <a:t>3000 : 80</a:t>
            </a:r>
          </a:p>
        </p:txBody>
      </p:sp>
      <p:sp>
        <p:nvSpPr>
          <p:cNvPr id="11" name="">
            <a:extLst xmlns:a="http://schemas.openxmlformats.org/drawingml/2006/main">
              <a:ext uri="{FF2B5EF4-FFF2-40B4-BE49-F238E27FC236}">
                <a16:creationId xmlns:a16="http://schemas.microsoft.com/office/drawing/2014/main" id="{E01AA588-7071-445D-8506-8705AAA2CC36}"/>
              </a:ext>
            </a:extLst>
          </p:cNvPr>
          <p:cNvSpPr>
            <a:spLocks xmlns:a="http://schemas.openxmlformats.org/drawingml/2006/main" noGrp="1"/>
          </p:cNvSpPr>
          <p:nvPr/>
        </p:nvSpPr>
        <p:spPr>
          <a:xfrm xmlns:a="http://schemas.openxmlformats.org/drawingml/2006/main">
            <a:off x="2566988" y="2738438"/>
            <a:ext cx="9525" cy="9525"/>
          </a:xfrm>
          <a:prstGeom xmlns:a="http://schemas.openxmlformats.org/drawingml/2006/main" prst="rect">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DD4732E-1CAA-4DDE-8C7C-3D661633397E}"/>
              </a:ext>
            </a:extLst>
          </p:cNvPr>
          <p:cNvSpPr>
            <a:spLocks xmlns:a="http://schemas.openxmlformats.org/drawingml/2006/main" noGrp="1"/>
          </p:cNvSpPr>
          <p:nvPr/>
        </p:nvSpPr>
        <p:spPr>
          <a:xfrm xmlns:a="http://schemas.openxmlformats.org/drawingml/2006/main">
            <a:off x="3910013" y="27384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2" name=""/>
          <p:cNvCxnSpPr>
            <a:stCxn xmlns:a="http://schemas.openxmlformats.org/drawingml/2006/main" id="11" idx="3"/>
            <a:endCxn xmlns:a="http://schemas.openxmlformats.org/drawingml/2006/main" id="12" idx="1"/>
          </p:cNvCxnSpPr>
          <p:nvPr/>
        </p:nvCxnSpPr>
        <p:spPr>
          <a:xfrm xmlns:a="http://schemas.openxmlformats.org/drawingml/2006/main">
            <a:off x="2576513" y="2743201"/>
            <a:ext cx="1333500" cy="0"/>
          </a:xfrm>
          <a:prstGeom xmlns:a="http://schemas.openxmlformats.org/drawingml/2006/main" prst="straightConnector1">
            <a:avLst/>
          </a:prstGeom>
          <a:ln xmlns:a="http://schemas.openxmlformats.org/drawingml/2006/main" w="17145">
            <a:solidFill>
              <a:srgbClr val="246BFF"/>
            </a:solidFill>
            <a:prstDash val="solid"/>
            <a:tailEnd type="triangle" w="sm" len="sm"/>
          </a:ln>
        </p:spPr>
      </p:cxnSp>
      <p:sp>
        <p:nvSpPr>
          <p:cNvPr id="14" name="HTTP">
            <a:extLst xmlns:a="http://schemas.openxmlformats.org/drawingml/2006/main">
              <a:ext uri="{FF2B5EF4-FFF2-40B4-BE49-F238E27FC236}">
                <a16:creationId xmlns:a16="http://schemas.microsoft.com/office/drawing/2014/main" id="{A205F209-891F-488E-AD9B-2BC103FECEAD}"/>
              </a:ext>
            </a:extLst>
          </p:cNvPr>
          <p:cNvSpPr>
            <a:spLocks xmlns:a="http://schemas.openxmlformats.org/drawingml/2006/main" noGrp="1"/>
          </p:cNvSpPr>
          <p:nvPr/>
        </p:nvSpPr>
        <p:spPr>
          <a:xfrm xmlns:a="http://schemas.openxmlformats.org/drawingml/2006/main">
            <a:off x="2695575" y="2381250"/>
            <a:ext cx="119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B6B82"/>
                </a:solidFill>
                <a:latin typeface="Aptos"/>
                <a:ea typeface="Aptos"/>
                <a:cs typeface="Aptos"/>
              </a:defRPr>
            </a:pPr>
            <a:r>
              <a:rPr sz="1575" b="0">
                <a:solidFill>
                  <a:srgbClr val="5B6B82"/>
                </a:solidFill>
                <a:latin typeface="Aptos"/>
                <a:ea typeface="Aptos"/>
                <a:cs typeface="Aptos"/>
              </a:rPr>
              <a:t>HTTP</a:t>
            </a:r>
          </a:p>
        </p:txBody>
      </p:sp>
      <p:sp>
        <p:nvSpPr>
          <p:cNvPr id="15" name="«container» Configuration :8081">
            <a:extLst xmlns:a="http://schemas.openxmlformats.org/drawingml/2006/main">
              <a:ext uri="{FF2B5EF4-FFF2-40B4-BE49-F238E27FC236}">
                <a16:creationId xmlns:a16="http://schemas.microsoft.com/office/drawing/2014/main" id="{842EB155-A7B8-452F-BBBE-EB963C03BF11}"/>
              </a:ext>
            </a:extLst>
          </p:cNvPr>
          <p:cNvSpPr>
            <a:spLocks xmlns:a="http://schemas.openxmlformats.org/drawingml/2006/main" noGrp="1"/>
          </p:cNvSpPr>
          <p:nvPr/>
        </p:nvSpPr>
        <p:spPr>
          <a:xfrm xmlns:a="http://schemas.openxmlformats.org/drawingml/2006/main">
            <a:off x="6581775" y="2352675"/>
            <a:ext cx="2105025" cy="990600"/>
          </a:xfrm>
          <a:prstGeom xmlns:a="http://schemas.openxmlformats.org/drawingml/2006/main" prst="rect">
            <a:avLst/>
          </a:prstGeom>
          <a:solidFill xmlns:a="http://schemas.openxmlformats.org/drawingml/2006/main">
            <a:srgbClr val="DCEAFF"/>
          </a:solidFill>
          <a:ln xmlns:a="http://schemas.openxmlformats.org/drawingml/2006/main" w="14288">
            <a:solidFill>
              <a:srgbClr val="246BFF"/>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500" b="0">
                <a:solidFill>
                  <a:srgbClr val="172440"/>
                </a:solidFill>
                <a:latin typeface="Aptos"/>
                <a:ea typeface="Aptos"/>
                <a:cs typeface="Aptos"/>
              </a:defRPr>
            </a:pPr>
            <a:r>
              <a:rPr sz="1500" b="0">
                <a:solidFill>
                  <a:srgbClr val="172440"/>
                </a:solidFill>
                <a:latin typeface="Aptos"/>
                <a:ea typeface="Aptos"/>
                <a:cs typeface="Aptos"/>
              </a:rPr>
              <a:t>«container»</a:t>
            </a:r>
          </a:p>
          <a:p xmlns:a="http://schemas.openxmlformats.org/drawingml/2006/main">
            <a:pPr algn="ctr">
              <a:defRPr sz="1500" b="0">
                <a:solidFill>
                  <a:srgbClr val="172440"/>
                </a:solidFill>
                <a:latin typeface="Aptos"/>
                <a:ea typeface="Aptos"/>
                <a:cs typeface="Aptos"/>
              </a:defRPr>
            </a:pPr>
            <a:r>
              <a:rPr sz="1500" b="0">
                <a:solidFill>
                  <a:srgbClr val="172440"/>
                </a:solidFill>
                <a:latin typeface="Aptos"/>
                <a:ea typeface="Aptos"/>
                <a:cs typeface="Aptos"/>
              </a:rPr>
              <a:t>Configuration :8081</a:t>
            </a:r>
          </a:p>
        </p:txBody>
      </p:sp>
      <p:sp>
        <p:nvSpPr>
          <p:cNvPr id="16" name="«container» Management :8082">
            <a:extLst xmlns:a="http://schemas.openxmlformats.org/drawingml/2006/main">
              <a:ext uri="{FF2B5EF4-FFF2-40B4-BE49-F238E27FC236}">
                <a16:creationId xmlns:a16="http://schemas.microsoft.com/office/drawing/2014/main" id="{E9B7D96A-B187-45CE-903E-1C42FAB89E6E}"/>
              </a:ext>
            </a:extLst>
          </p:cNvPr>
          <p:cNvSpPr>
            <a:spLocks xmlns:a="http://schemas.openxmlformats.org/drawingml/2006/main" noGrp="1"/>
          </p:cNvSpPr>
          <p:nvPr/>
        </p:nvSpPr>
        <p:spPr>
          <a:xfrm xmlns:a="http://schemas.openxmlformats.org/drawingml/2006/main">
            <a:off x="9048750" y="2352675"/>
            <a:ext cx="2105025" cy="990600"/>
          </a:xfrm>
          <a:prstGeom xmlns:a="http://schemas.openxmlformats.org/drawingml/2006/main" prst="rect">
            <a:avLst/>
          </a:prstGeom>
          <a:solidFill xmlns:a="http://schemas.openxmlformats.org/drawingml/2006/main">
            <a:srgbClr val="E0F5EE"/>
          </a:solidFill>
          <a:ln xmlns:a="http://schemas.openxmlformats.org/drawingml/2006/main" w="14288">
            <a:solidFill>
              <a:srgbClr val="00AD77"/>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500" b="0">
                <a:solidFill>
                  <a:srgbClr val="172440"/>
                </a:solidFill>
                <a:latin typeface="Aptos"/>
                <a:ea typeface="Aptos"/>
                <a:cs typeface="Aptos"/>
              </a:defRPr>
            </a:pPr>
            <a:r>
              <a:rPr sz="1500" b="0">
                <a:solidFill>
                  <a:srgbClr val="172440"/>
                </a:solidFill>
                <a:latin typeface="Aptos"/>
                <a:ea typeface="Aptos"/>
                <a:cs typeface="Aptos"/>
              </a:rPr>
              <a:t>«container»</a:t>
            </a:r>
          </a:p>
          <a:p xmlns:a="http://schemas.openxmlformats.org/drawingml/2006/main">
            <a:pPr algn="ctr">
              <a:defRPr sz="1500" b="0">
                <a:solidFill>
                  <a:srgbClr val="172440"/>
                </a:solidFill>
                <a:latin typeface="Aptos"/>
                <a:ea typeface="Aptos"/>
                <a:cs typeface="Aptos"/>
              </a:defRPr>
            </a:pPr>
            <a:r>
              <a:rPr sz="1500" b="0">
                <a:solidFill>
                  <a:srgbClr val="172440"/>
                </a:solidFill>
                <a:latin typeface="Aptos"/>
                <a:ea typeface="Aptos"/>
                <a:cs typeface="Aptos"/>
              </a:rPr>
              <a:t>Management :8082</a:t>
            </a:r>
          </a:p>
        </p:txBody>
      </p:sp>
      <p:sp>
        <p:nvSpPr>
          <p:cNvPr id="17" name="«containers»  Analyse-Worker Fluid :8083   Thermal :8084 Electrical :8085   Engine Management :8086">
            <a:extLst xmlns:a="http://schemas.openxmlformats.org/drawingml/2006/main">
              <a:ext uri="{FF2B5EF4-FFF2-40B4-BE49-F238E27FC236}">
                <a16:creationId xmlns:a16="http://schemas.microsoft.com/office/drawing/2014/main" id="{E1EEFF2C-571E-4930-BE2F-333BEC612C0C}"/>
              </a:ext>
            </a:extLst>
          </p:cNvPr>
          <p:cNvSpPr>
            <a:spLocks xmlns:a="http://schemas.openxmlformats.org/drawingml/2006/main" noGrp="1"/>
          </p:cNvSpPr>
          <p:nvPr/>
        </p:nvSpPr>
        <p:spPr>
          <a:xfrm xmlns:a="http://schemas.openxmlformats.org/drawingml/2006/main">
            <a:off x="3914775" y="3743325"/>
            <a:ext cx="7239000" cy="1066800"/>
          </a:xfrm>
          <a:prstGeom xmlns:a="http://schemas.openxmlformats.org/drawingml/2006/main" prst="rect">
            <a:avLst/>
          </a:prstGeom>
          <a:solidFill xmlns:a="http://schemas.openxmlformats.org/drawingml/2006/main">
            <a:srgbClr val="FFF2CC"/>
          </a:solidFill>
          <a:ln xmlns:a="http://schemas.openxmlformats.org/drawingml/2006/main" w="14288">
            <a:solidFill>
              <a:srgbClr val="EFA500"/>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725" b="0">
                <a:solidFill>
                  <a:srgbClr val="172440"/>
                </a:solidFill>
                <a:latin typeface="Aptos"/>
                <a:ea typeface="Aptos"/>
                <a:cs typeface="Aptos"/>
              </a:defRPr>
            </a:pPr>
            <a:r>
              <a:rPr sz="1725" b="0">
                <a:solidFill>
                  <a:srgbClr val="172440"/>
                </a:solidFill>
                <a:latin typeface="Aptos"/>
                <a:ea typeface="Aptos"/>
                <a:cs typeface="Aptos"/>
              </a:rPr>
              <a:t>«containers»  Analyse-Worker</a:t>
            </a:r>
          </a:p>
          <a:p xmlns:a="http://schemas.openxmlformats.org/drawingml/2006/main">
            <a:pPr algn="ctr">
              <a:defRPr sz="1725" b="0">
                <a:solidFill>
                  <a:srgbClr val="172440"/>
                </a:solidFill>
                <a:latin typeface="Aptos"/>
                <a:ea typeface="Aptos"/>
                <a:cs typeface="Aptos"/>
              </a:defRPr>
            </a:pPr>
            <a:r>
              <a:rPr sz="1725" b="0">
                <a:solidFill>
                  <a:srgbClr val="172440"/>
                </a:solidFill>
                <a:latin typeface="Aptos"/>
                <a:ea typeface="Aptos"/>
                <a:cs typeface="Aptos"/>
              </a:rPr>
              <a:t>Fluid :8083   Thermal :8084</a:t>
            </a:r>
          </a:p>
          <a:p xmlns:a="http://schemas.openxmlformats.org/drawingml/2006/main">
            <a:pPr algn="ctr">
              <a:defRPr sz="1725" b="0">
                <a:solidFill>
                  <a:srgbClr val="172440"/>
                </a:solidFill>
                <a:latin typeface="Aptos"/>
                <a:ea typeface="Aptos"/>
                <a:cs typeface="Aptos"/>
              </a:defRPr>
            </a:pPr>
            <a:r>
              <a:rPr sz="1725" b="0">
                <a:solidFill>
                  <a:srgbClr val="172440"/>
                </a:solidFill>
                <a:latin typeface="Aptos"/>
                <a:ea typeface="Aptos"/>
                <a:cs typeface="Aptos"/>
              </a:rPr>
              <a:t>Electrical :8085   Engine Management :8086</a:t>
            </a:r>
          </a:p>
        </p:txBody>
      </p:sp>
      <p:sp>
        <p:nvSpPr>
          <p:cNvPr id="18" name="«volume» configuration-data">
            <a:extLst xmlns:a="http://schemas.openxmlformats.org/drawingml/2006/main">
              <a:ext uri="{FF2B5EF4-FFF2-40B4-BE49-F238E27FC236}">
                <a16:creationId xmlns:a16="http://schemas.microsoft.com/office/drawing/2014/main" id="{7893A222-3437-49F4-A7AE-FFB9237A0510}"/>
              </a:ext>
            </a:extLst>
          </p:cNvPr>
          <p:cNvSpPr>
            <a:spLocks xmlns:a="http://schemas.openxmlformats.org/drawingml/2006/main" noGrp="1"/>
          </p:cNvSpPr>
          <p:nvPr/>
        </p:nvSpPr>
        <p:spPr>
          <a:xfrm xmlns:a="http://schemas.openxmlformats.org/drawingml/2006/main">
            <a:off x="4505325" y="5124450"/>
            <a:ext cx="2552700" cy="609600"/>
          </a:xfrm>
          <a:prstGeom xmlns:a="http://schemas.openxmlformats.org/drawingml/2006/main" prst="rect">
            <a:avLst/>
          </a:prstGeom>
          <a:solidFill xmlns:a="http://schemas.openxmlformats.org/drawingml/2006/main">
            <a:srgbClr val="DCEAFF"/>
          </a:solidFill>
          <a:ln xmlns:a="http://schemas.openxmlformats.org/drawingml/2006/main" w="14288">
            <a:solidFill>
              <a:srgbClr val="246BFF"/>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500" b="0">
                <a:solidFill>
                  <a:srgbClr val="172440"/>
                </a:solidFill>
                <a:latin typeface="Aptos"/>
                <a:ea typeface="Aptos"/>
                <a:cs typeface="Aptos"/>
              </a:defRPr>
            </a:pPr>
            <a:r>
              <a:rPr sz="1500" b="0">
                <a:solidFill>
                  <a:srgbClr val="172440"/>
                </a:solidFill>
                <a:latin typeface="Aptos"/>
                <a:ea typeface="Aptos"/>
                <a:cs typeface="Aptos"/>
              </a:rPr>
              <a:t>«volume»</a:t>
            </a:r>
          </a:p>
          <a:p xmlns:a="http://schemas.openxmlformats.org/drawingml/2006/main">
            <a:pPr algn="ctr">
              <a:defRPr sz="1500" b="0">
                <a:solidFill>
                  <a:srgbClr val="172440"/>
                </a:solidFill>
                <a:latin typeface="Aptos"/>
                <a:ea typeface="Aptos"/>
                <a:cs typeface="Aptos"/>
              </a:defRPr>
            </a:pPr>
            <a:r>
              <a:rPr sz="1500" b="0">
                <a:solidFill>
                  <a:srgbClr val="172440"/>
                </a:solidFill>
                <a:latin typeface="Aptos"/>
                <a:ea typeface="Aptos"/>
                <a:cs typeface="Aptos"/>
              </a:rPr>
              <a:t>configuration-data</a:t>
            </a:r>
          </a:p>
        </p:txBody>
      </p:sp>
      <p:sp>
        <p:nvSpPr>
          <p:cNvPr id="19" name="«volume» analysis-data">
            <a:extLst xmlns:a="http://schemas.openxmlformats.org/drawingml/2006/main">
              <a:ext uri="{FF2B5EF4-FFF2-40B4-BE49-F238E27FC236}">
                <a16:creationId xmlns:a16="http://schemas.microsoft.com/office/drawing/2014/main" id="{76DBEEBA-0CBE-4B28-B379-80907F272DA4}"/>
              </a:ext>
            </a:extLst>
          </p:cNvPr>
          <p:cNvSpPr>
            <a:spLocks xmlns:a="http://schemas.openxmlformats.org/drawingml/2006/main" noGrp="1"/>
          </p:cNvSpPr>
          <p:nvPr/>
        </p:nvSpPr>
        <p:spPr>
          <a:xfrm xmlns:a="http://schemas.openxmlformats.org/drawingml/2006/main">
            <a:off x="8010525" y="5124450"/>
            <a:ext cx="2552700" cy="609600"/>
          </a:xfrm>
          <a:prstGeom xmlns:a="http://schemas.openxmlformats.org/drawingml/2006/main" prst="rect">
            <a:avLst/>
          </a:prstGeom>
          <a:solidFill xmlns:a="http://schemas.openxmlformats.org/drawingml/2006/main">
            <a:srgbClr val="E0F5EE"/>
          </a:solidFill>
          <a:ln xmlns:a="http://schemas.openxmlformats.org/drawingml/2006/main" w="14288">
            <a:solidFill>
              <a:srgbClr val="00AD77"/>
            </a:solidFill>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defRPr sz="1500" b="0">
                <a:solidFill>
                  <a:srgbClr val="172440"/>
                </a:solidFill>
                <a:latin typeface="Aptos"/>
                <a:ea typeface="Aptos"/>
                <a:cs typeface="Aptos"/>
              </a:defRPr>
            </a:pPr>
            <a:r>
              <a:rPr sz="1500" b="0">
                <a:solidFill>
                  <a:srgbClr val="172440"/>
                </a:solidFill>
                <a:latin typeface="Aptos"/>
                <a:ea typeface="Aptos"/>
                <a:cs typeface="Aptos"/>
              </a:rPr>
              <a:t>«volume»</a:t>
            </a:r>
          </a:p>
          <a:p xmlns:a="http://schemas.openxmlformats.org/drawingml/2006/main">
            <a:pPr algn="ctr">
              <a:defRPr sz="1500" b="0">
                <a:solidFill>
                  <a:srgbClr val="172440"/>
                </a:solidFill>
                <a:latin typeface="Aptos"/>
                <a:ea typeface="Aptos"/>
                <a:cs typeface="Aptos"/>
              </a:defRPr>
            </a:pPr>
            <a:r>
              <a:rPr sz="1500" b="0">
                <a:solidFill>
                  <a:srgbClr val="172440"/>
                </a:solidFill>
                <a:latin typeface="Aptos"/>
                <a:ea typeface="Aptos"/>
                <a:cs typeface="Aptos"/>
              </a:rPr>
              <a:t>analysis-data</a:t>
            </a:r>
          </a:p>
        </p:txBody>
      </p:sp>
      <p:sp>
        <p:nvSpPr>
          <p:cNvPr id="20" name="Build aus lokalen Quellen, feste npm-Abhängigkeiten und Readiness-Heal">
            <a:extLst xmlns:a="http://schemas.openxmlformats.org/drawingml/2006/main">
              <a:ext uri="{FF2B5EF4-FFF2-40B4-BE49-F238E27FC236}">
                <a16:creationId xmlns:a16="http://schemas.microsoft.com/office/drawing/2014/main" id="{841FB24A-DF7E-49A9-AA00-12234E92FB01}"/>
              </a:ext>
            </a:extLst>
          </p:cNvPr>
          <p:cNvSpPr>
            <a:spLocks xmlns:a="http://schemas.openxmlformats.org/drawingml/2006/main" noGrp="1"/>
          </p:cNvSpPr>
          <p:nvPr/>
        </p:nvSpPr>
        <p:spPr>
          <a:xfrm xmlns:a="http://schemas.openxmlformats.org/drawingml/2006/main">
            <a:off x="628650" y="611505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B82"/>
                </a:solidFill>
                <a:latin typeface="Aptos"/>
                <a:ea typeface="Aptos"/>
                <a:cs typeface="Aptos"/>
              </a:defRPr>
            </a:pPr>
            <a:r>
              <a:rPr sz="1650" b="0">
                <a:solidFill>
                  <a:srgbClr val="5B6B82"/>
                </a:solidFill>
                <a:latin typeface="Aptos"/>
                <a:ea typeface="Aptos"/>
                <a:cs typeface="Aptos"/>
              </a:rPr>
              <a:t>Build aus lokalen Quellen, feste npm-Abhängigkeiten und Readiness-Healthchecks</a:t>
            </a:r>
          </a:p>
        </p:txBody>
      </p:sp>
    </p:spTree>
    <p:extLst>
      <p:ext uri="{BB962C8B-B14F-4D97-AF65-F5344CB8AC3E}">
        <p14:creationId xmlns:p14="http://schemas.microsoft.com/office/powerpoint/2010/main" val="485414918"/>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63FFAA7-A2E0-4A3B-BA91-243783A6A588}"/>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246BFE"/>
          </a:solidFill>
          <a:ln xmlns:a="http://schemas.openxmlformats.org/drawingml/2006/main" w="12700">
            <a:solidFill>
              <a:srgbClr val="246BFE">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Entscheidung 1: Fachliche Services und Choreographie">
            <a:extLst xmlns:a="http://schemas.openxmlformats.org/drawingml/2006/main">
              <a:ext uri="{FF2B5EF4-FFF2-40B4-BE49-F238E27FC236}">
                <a16:creationId xmlns:a16="http://schemas.microsoft.com/office/drawing/2014/main" id="{E3E64936-241F-4D68-99B9-5D65BF8D57C7}"/>
              </a:ext>
            </a:extLst>
          </p:cNvPr>
          <p:cNvSpPr>
            <a:spLocks xmlns:a="http://schemas.openxmlformats.org/drawingml/2006/main" noGrp="1"/>
          </p:cNvSpPr>
          <p:nvPr/>
        </p:nvSpPr>
        <p:spPr>
          <a:xfrm xmlns:a="http://schemas.openxmlformats.org/drawingml/2006/main">
            <a:off x="514350" y="3429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2440"/>
                </a:solidFill>
                <a:latin typeface="Aptos"/>
                <a:ea typeface="Aptos"/>
                <a:cs typeface="Aptos"/>
              </a:defRPr>
            </a:pPr>
            <a:r>
              <a:rPr sz="1950" b="1">
                <a:solidFill>
                  <a:srgbClr val="172440"/>
                </a:solidFill>
                <a:latin typeface="Aptos"/>
                <a:ea typeface="Aptos"/>
                <a:cs typeface="Aptos"/>
              </a:rPr>
              <a:t>Entscheidung 1: Fachliche Services und Choreographie</a:t>
            </a:r>
          </a:p>
        </p:txBody>
      </p:sp>
      <p:sp>
        <p:nvSpPr>
          <p:cNvPr id="4" name="WirSchiffenDas  SEKA">
            <a:extLst xmlns:a="http://schemas.openxmlformats.org/drawingml/2006/main">
              <a:ext uri="{FF2B5EF4-FFF2-40B4-BE49-F238E27FC236}">
                <a16:creationId xmlns:a16="http://schemas.microsoft.com/office/drawing/2014/main" id="{2A9342F2-4A96-41C4-BAB3-183AD04E2BCD}"/>
              </a:ext>
            </a:extLst>
          </p:cNvPr>
          <p:cNvSpPr>
            <a:spLocks xmlns:a="http://schemas.openxmlformats.org/drawingml/2006/main" noGrp="1"/>
          </p:cNvSpPr>
          <p:nvPr/>
        </p:nvSpPr>
        <p:spPr>
          <a:xfrm xmlns:a="http://schemas.openxmlformats.org/drawingml/2006/main">
            <a:off x="514350" y="64770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WirSchiffenDas  SEKA</a:t>
            </a:r>
          </a:p>
        </p:txBody>
      </p:sp>
      <p:sp>
        <p:nvSpPr>
          <p:cNvPr id="5" name="7/12">
            <a:extLst xmlns:a="http://schemas.openxmlformats.org/drawingml/2006/main">
              <a:ext uri="{FF2B5EF4-FFF2-40B4-BE49-F238E27FC236}">
                <a16:creationId xmlns:a16="http://schemas.microsoft.com/office/drawing/2014/main" id="{59AFB971-F77B-4F91-ACBE-668622D3AA74}"/>
              </a:ext>
            </a:extLst>
          </p:cNvPr>
          <p:cNvSpPr>
            <a:spLocks xmlns:a="http://schemas.openxmlformats.org/drawingml/2006/main" noGrp="1"/>
          </p:cNvSpPr>
          <p:nvPr/>
        </p:nvSpPr>
        <p:spPr>
          <a:xfrm xmlns:a="http://schemas.openxmlformats.org/drawingml/2006/main">
            <a:off x="10668000" y="64770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7/12</a:t>
            </a:r>
          </a:p>
        </p:txBody>
      </p:sp>
      <p:sp>
        <p:nvSpPr>
          <p:cNvPr id="6" name="Gewählt">
            <a:extLst xmlns:a="http://schemas.openxmlformats.org/drawingml/2006/main">
              <a:ext uri="{FF2B5EF4-FFF2-40B4-BE49-F238E27FC236}">
                <a16:creationId xmlns:a16="http://schemas.microsoft.com/office/drawing/2014/main" id="{2747E52E-43AE-439F-A180-69093C1788DF}"/>
              </a:ext>
            </a:extLst>
          </p:cNvPr>
          <p:cNvSpPr>
            <a:spLocks xmlns:a="http://schemas.openxmlformats.org/drawingml/2006/main" noGrp="1"/>
          </p:cNvSpPr>
          <p:nvPr/>
        </p:nvSpPr>
        <p:spPr>
          <a:xfrm xmlns:a="http://schemas.openxmlformats.org/drawingml/2006/main">
            <a:off x="628650" y="1619250"/>
            <a:ext cx="5086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440"/>
                </a:solidFill>
                <a:latin typeface="Aptos"/>
                <a:ea typeface="Aptos"/>
                <a:cs typeface="Aptos"/>
              </a:defRPr>
            </a:pPr>
            <a:r>
              <a:rPr sz="2025" b="1">
                <a:solidFill>
                  <a:srgbClr val="172440"/>
                </a:solidFill>
                <a:latin typeface="Aptos"/>
                <a:ea typeface="Aptos"/>
                <a:cs typeface="Aptos"/>
              </a:rPr>
              <a:t>Gewählt</a:t>
            </a:r>
          </a:p>
        </p:txBody>
      </p:sp>
      <p:sp>
        <p:nvSpPr>
          <p:cNvPr id="7" name="Configuration und Analysis Management besitzen ihre Daten. Vier Worker">
            <a:extLst xmlns:a="http://schemas.openxmlformats.org/drawingml/2006/main">
              <a:ext uri="{FF2B5EF4-FFF2-40B4-BE49-F238E27FC236}">
                <a16:creationId xmlns:a16="http://schemas.microsoft.com/office/drawing/2014/main" id="{8F198C24-6B45-4204-A68D-A1DC4D747D3A}"/>
              </a:ext>
            </a:extLst>
          </p:cNvPr>
          <p:cNvSpPr>
            <a:spLocks xmlns:a="http://schemas.openxmlformats.org/drawingml/2006/main" noGrp="1"/>
          </p:cNvSpPr>
          <p:nvPr/>
        </p:nvSpPr>
        <p:spPr>
          <a:xfrm xmlns:a="http://schemas.openxmlformats.org/drawingml/2006/main">
            <a:off x="628650" y="2047875"/>
            <a:ext cx="50863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Configuration und Analysis Management besitzen ihre Daten. Vier Worker verantworten ihre fachlichen Prüfungen.</a:t>
            </a:r>
          </a:p>
        </p:txBody>
      </p:sp>
      <p:sp>
        <p:nvSpPr>
          <p:cNvPr id="8" name="Begründung">
            <a:extLst xmlns:a="http://schemas.openxmlformats.org/drawingml/2006/main">
              <a:ext uri="{FF2B5EF4-FFF2-40B4-BE49-F238E27FC236}">
                <a16:creationId xmlns:a16="http://schemas.microsoft.com/office/drawing/2014/main" id="{8987D4DF-23AF-4805-9A72-73B824FA35E4}"/>
              </a:ext>
            </a:extLst>
          </p:cNvPr>
          <p:cNvSpPr>
            <a:spLocks xmlns:a="http://schemas.openxmlformats.org/drawingml/2006/main" noGrp="1"/>
          </p:cNvSpPr>
          <p:nvPr/>
        </p:nvSpPr>
        <p:spPr>
          <a:xfrm xmlns:a="http://schemas.openxmlformats.org/drawingml/2006/main">
            <a:off x="6419850" y="1619250"/>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440"/>
                </a:solidFill>
                <a:latin typeface="Aptos"/>
                <a:ea typeface="Aptos"/>
                <a:cs typeface="Aptos"/>
              </a:defRPr>
            </a:pPr>
            <a:r>
              <a:rPr sz="2025" b="1">
                <a:solidFill>
                  <a:srgbClr val="172440"/>
                </a:solidFill>
                <a:latin typeface="Aptos"/>
                <a:ea typeface="Aptos"/>
                <a:cs typeface="Aptos"/>
              </a:rPr>
              <a:t>Begründung</a:t>
            </a:r>
          </a:p>
        </p:txBody>
      </p:sp>
      <p:sp>
        <p:nvSpPr>
          <p:cNvPr id="9" name="Die Zerlegung folgt den Analyseaufgaben. REST-Weitergabe erfüllt die Ü">
            <a:extLst xmlns:a="http://schemas.openxmlformats.org/drawingml/2006/main">
              <a:ext uri="{FF2B5EF4-FFF2-40B4-BE49-F238E27FC236}">
                <a16:creationId xmlns:a16="http://schemas.microsoft.com/office/drawing/2014/main" id="{99F55B06-8604-4F05-8FFD-5F841D9E57DB}"/>
              </a:ext>
            </a:extLst>
          </p:cNvPr>
          <p:cNvSpPr>
            <a:spLocks xmlns:a="http://schemas.openxmlformats.org/drawingml/2006/main" noGrp="1"/>
          </p:cNvSpPr>
          <p:nvPr/>
        </p:nvSpPr>
        <p:spPr>
          <a:xfrm xmlns:a="http://schemas.openxmlformats.org/drawingml/2006/main">
            <a:off x="6419850" y="2047875"/>
            <a:ext cx="5105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Die Zerlegung folgt den Analyseaufgaben. REST-Weitergabe erfüllt die Übungsanforderung und bleibt im Code sichtbar.</a:t>
            </a:r>
          </a:p>
        </p:txBody>
      </p:sp>
      <p:sp>
        <p:nvSpPr>
          <p:cNvPr id="10" name="Alternativen">
            <a:extLst xmlns:a="http://schemas.openxmlformats.org/drawingml/2006/main">
              <a:ext uri="{FF2B5EF4-FFF2-40B4-BE49-F238E27FC236}">
                <a16:creationId xmlns:a16="http://schemas.microsoft.com/office/drawing/2014/main" id="{24E802AF-9A9F-467C-8E14-FE07FA5BBBA7}"/>
              </a:ext>
            </a:extLst>
          </p:cNvPr>
          <p:cNvSpPr>
            <a:spLocks xmlns:a="http://schemas.openxmlformats.org/drawingml/2006/main" noGrp="1"/>
          </p:cNvSpPr>
          <p:nvPr/>
        </p:nvSpPr>
        <p:spPr>
          <a:xfrm xmlns:a="http://schemas.openxmlformats.org/drawingml/2006/main">
            <a:off x="628650" y="3733800"/>
            <a:ext cx="5086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440"/>
                </a:solidFill>
                <a:latin typeface="Aptos"/>
                <a:ea typeface="Aptos"/>
                <a:cs typeface="Aptos"/>
              </a:defRPr>
            </a:pPr>
            <a:r>
              <a:rPr sz="2025" b="1">
                <a:solidFill>
                  <a:srgbClr val="172440"/>
                </a:solidFill>
                <a:latin typeface="Aptos"/>
                <a:ea typeface="Aptos"/>
                <a:cs typeface="Aptos"/>
              </a:rPr>
              <a:t>Alternativen</a:t>
            </a:r>
          </a:p>
        </p:txBody>
      </p:sp>
      <p:sp>
        <p:nvSpPr>
          <p:cNvPr id="11" name="Ein modularer Monolith spart Betriebskosten. Ein zentraler Orchestrato">
            <a:extLst xmlns:a="http://schemas.openxmlformats.org/drawingml/2006/main">
              <a:ext uri="{FF2B5EF4-FFF2-40B4-BE49-F238E27FC236}">
                <a16:creationId xmlns:a16="http://schemas.microsoft.com/office/drawing/2014/main" id="{B0FE3412-62C4-48BE-A59E-CF2385B6AE95}"/>
              </a:ext>
            </a:extLst>
          </p:cNvPr>
          <p:cNvSpPr>
            <a:spLocks xmlns:a="http://schemas.openxmlformats.org/drawingml/2006/main" noGrp="1"/>
          </p:cNvSpPr>
          <p:nvPr/>
        </p:nvSpPr>
        <p:spPr>
          <a:xfrm xmlns:a="http://schemas.openxmlformats.org/drawingml/2006/main">
            <a:off x="628650" y="4162425"/>
            <a:ext cx="50863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Ein modularer Monolith spart Betriebskosten. Ein zentraler Orchestrator macht verzweigte Abläufe übersichtlicher.</a:t>
            </a:r>
          </a:p>
        </p:txBody>
      </p:sp>
      <p:sp>
        <p:nvSpPr>
          <p:cNvPr id="12" name="Preis der Entscheidung">
            <a:extLst xmlns:a="http://schemas.openxmlformats.org/drawingml/2006/main">
              <a:ext uri="{FF2B5EF4-FFF2-40B4-BE49-F238E27FC236}">
                <a16:creationId xmlns:a16="http://schemas.microsoft.com/office/drawing/2014/main" id="{D7948B43-737B-40D8-BC54-6B6A5E7284FE}"/>
              </a:ext>
            </a:extLst>
          </p:cNvPr>
          <p:cNvSpPr>
            <a:spLocks xmlns:a="http://schemas.openxmlformats.org/drawingml/2006/main" noGrp="1"/>
          </p:cNvSpPr>
          <p:nvPr/>
        </p:nvSpPr>
        <p:spPr>
          <a:xfrm xmlns:a="http://schemas.openxmlformats.org/drawingml/2006/main">
            <a:off x="6419850" y="3733800"/>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440"/>
                </a:solidFill>
                <a:latin typeface="Aptos"/>
                <a:ea typeface="Aptos"/>
                <a:cs typeface="Aptos"/>
              </a:defRPr>
            </a:pPr>
            <a:r>
              <a:rPr sz="2025" b="1">
                <a:solidFill>
                  <a:srgbClr val="172440"/>
                </a:solidFill>
                <a:latin typeface="Aptos"/>
                <a:ea typeface="Aptos"/>
                <a:cs typeface="Aptos"/>
              </a:rPr>
              <a:t>Preis der Entscheidung</a:t>
            </a:r>
          </a:p>
        </p:txBody>
      </p:sp>
      <p:sp>
        <p:nvSpPr>
          <p:cNvPr id="13" name="Nachfolger und JSON-Verträge koppeln die Worker. DDD ist teilweise umg">
            <a:extLst xmlns:a="http://schemas.openxmlformats.org/drawingml/2006/main">
              <a:ext uri="{FF2B5EF4-FFF2-40B4-BE49-F238E27FC236}">
                <a16:creationId xmlns:a16="http://schemas.microsoft.com/office/drawing/2014/main" id="{75C90847-C36C-428B-A4A8-0027C3388029}"/>
              </a:ext>
            </a:extLst>
          </p:cNvPr>
          <p:cNvSpPr>
            <a:spLocks xmlns:a="http://schemas.openxmlformats.org/drawingml/2006/main" noGrp="1"/>
          </p:cNvSpPr>
          <p:nvPr/>
        </p:nvSpPr>
        <p:spPr>
          <a:xfrm xmlns:a="http://schemas.openxmlformats.org/drawingml/2006/main">
            <a:off x="6419850" y="4162425"/>
            <a:ext cx="5105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Nachfolger und JSON-Verträge koppeln die Worker. DDD ist teilweise umgesetzt: Worker nutzen einfache DTOs und Maps.</a:t>
            </a:r>
          </a:p>
        </p:txBody>
      </p:sp>
    </p:spTree>
    <p:extLst>
      <p:ext uri="{BB962C8B-B14F-4D97-AF65-F5344CB8AC3E}">
        <p14:creationId xmlns:p14="http://schemas.microsoft.com/office/powerpoint/2010/main" val="1896912357"/>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32F7692-6F2E-408C-AFD0-6C2C3E026A4B}"/>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246BFE"/>
          </a:solidFill>
          <a:ln xmlns:a="http://schemas.openxmlformats.org/drawingml/2006/main" w="12700">
            <a:solidFill>
              <a:srgbClr val="246BFE">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Entscheidung 2: Sichere Zustände bei Übertragungsfehlern">
            <a:extLst xmlns:a="http://schemas.openxmlformats.org/drawingml/2006/main">
              <a:ext uri="{FF2B5EF4-FFF2-40B4-BE49-F238E27FC236}">
                <a16:creationId xmlns:a16="http://schemas.microsoft.com/office/drawing/2014/main" id="{3BFD7357-AAF3-4922-8C43-629EC7170F62}"/>
              </a:ext>
            </a:extLst>
          </p:cNvPr>
          <p:cNvSpPr>
            <a:spLocks xmlns:a="http://schemas.openxmlformats.org/drawingml/2006/main" noGrp="1"/>
          </p:cNvSpPr>
          <p:nvPr/>
        </p:nvSpPr>
        <p:spPr>
          <a:xfrm xmlns:a="http://schemas.openxmlformats.org/drawingml/2006/main">
            <a:off x="514350" y="3429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2440"/>
                </a:solidFill>
                <a:latin typeface="Aptos"/>
                <a:ea typeface="Aptos"/>
                <a:cs typeface="Aptos"/>
              </a:defRPr>
            </a:pPr>
            <a:r>
              <a:rPr sz="1950" b="1">
                <a:solidFill>
                  <a:srgbClr val="172440"/>
                </a:solidFill>
                <a:latin typeface="Aptos"/>
                <a:ea typeface="Aptos"/>
                <a:cs typeface="Aptos"/>
              </a:rPr>
              <a:t>Entscheidung 2: Sichere Zustände bei Übertragungsfehlern</a:t>
            </a:r>
          </a:p>
        </p:txBody>
      </p:sp>
      <p:sp>
        <p:nvSpPr>
          <p:cNvPr id="4" name="WirSchiffenDas  SEKA">
            <a:extLst xmlns:a="http://schemas.openxmlformats.org/drawingml/2006/main">
              <a:ext uri="{FF2B5EF4-FFF2-40B4-BE49-F238E27FC236}">
                <a16:creationId xmlns:a16="http://schemas.microsoft.com/office/drawing/2014/main" id="{05276DC4-A985-400F-B610-065272A0C5C8}"/>
              </a:ext>
            </a:extLst>
          </p:cNvPr>
          <p:cNvSpPr>
            <a:spLocks xmlns:a="http://schemas.openxmlformats.org/drawingml/2006/main" noGrp="1"/>
          </p:cNvSpPr>
          <p:nvPr/>
        </p:nvSpPr>
        <p:spPr>
          <a:xfrm xmlns:a="http://schemas.openxmlformats.org/drawingml/2006/main">
            <a:off x="514350" y="64770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WirSchiffenDas  SEKA</a:t>
            </a:r>
          </a:p>
        </p:txBody>
      </p:sp>
      <p:sp>
        <p:nvSpPr>
          <p:cNvPr id="5" name="8/12">
            <a:extLst xmlns:a="http://schemas.openxmlformats.org/drawingml/2006/main">
              <a:ext uri="{FF2B5EF4-FFF2-40B4-BE49-F238E27FC236}">
                <a16:creationId xmlns:a16="http://schemas.microsoft.com/office/drawing/2014/main" id="{50A1208B-B21D-4DF2-9C39-E080705F319E}"/>
              </a:ext>
            </a:extLst>
          </p:cNvPr>
          <p:cNvSpPr>
            <a:spLocks xmlns:a="http://schemas.openxmlformats.org/drawingml/2006/main" noGrp="1"/>
          </p:cNvSpPr>
          <p:nvPr/>
        </p:nvSpPr>
        <p:spPr>
          <a:xfrm xmlns:a="http://schemas.openxmlformats.org/drawingml/2006/main">
            <a:off x="10668000" y="64770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8/12</a:t>
            </a:r>
          </a:p>
        </p:txBody>
      </p:sp>
      <p:sp>
        <p:nvSpPr>
          <p:cNvPr id="6" name="Klare Ablehnung">
            <a:extLst xmlns:a="http://schemas.openxmlformats.org/drawingml/2006/main">
              <a:ext uri="{FF2B5EF4-FFF2-40B4-BE49-F238E27FC236}">
                <a16:creationId xmlns:a16="http://schemas.microsoft.com/office/drawing/2014/main" id="{68958E6A-C839-427A-8D50-2634DC6A6308}"/>
              </a:ext>
            </a:extLst>
          </p:cNvPr>
          <p:cNvSpPr>
            <a:spLocks xmlns:a="http://schemas.openxmlformats.org/drawingml/2006/main" noGrp="1"/>
          </p:cNvSpPr>
          <p:nvPr/>
        </p:nvSpPr>
        <p:spPr>
          <a:xfrm xmlns:a="http://schemas.openxmlformats.org/drawingml/2006/main">
            <a:off x="628650" y="1619250"/>
            <a:ext cx="5086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440"/>
                </a:solidFill>
                <a:latin typeface="Aptos"/>
                <a:ea typeface="Aptos"/>
                <a:cs typeface="Aptos"/>
              </a:defRPr>
            </a:pPr>
            <a:r>
              <a:rPr sz="2025" b="1">
                <a:solidFill>
                  <a:srgbClr val="172440"/>
                </a:solidFill>
                <a:latin typeface="Aptos"/>
                <a:ea typeface="Aptos"/>
                <a:cs typeface="Aptos"/>
              </a:rPr>
              <a:t>Klare Ablehnung</a:t>
            </a:r>
          </a:p>
        </p:txBody>
      </p:sp>
      <p:sp>
        <p:nvSpPr>
          <p:cNvPr id="7" name="Verbindung verweigert, Circuit Breaker offen oder HTTP 4xx: Zielschrit">
            <a:extLst xmlns:a="http://schemas.openxmlformats.org/drawingml/2006/main">
              <a:ext uri="{FF2B5EF4-FFF2-40B4-BE49-F238E27FC236}">
                <a16:creationId xmlns:a16="http://schemas.microsoft.com/office/drawing/2014/main" id="{0E019427-8B14-4753-82A5-9A1270BD7FD2}"/>
              </a:ext>
            </a:extLst>
          </p:cNvPr>
          <p:cNvSpPr>
            <a:spLocks xmlns:a="http://schemas.openxmlformats.org/drawingml/2006/main" noGrp="1"/>
          </p:cNvSpPr>
          <p:nvPr/>
        </p:nvSpPr>
        <p:spPr>
          <a:xfrm xmlns:a="http://schemas.openxmlformats.org/drawingml/2006/main">
            <a:off x="628650" y="2047875"/>
            <a:ext cx="50863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Verbindung verweigert, Circuit Breaker offen oder HTTP 4xx: Zielschritt wird FAILED und kann wiederholt werden.</a:t>
            </a:r>
          </a:p>
        </p:txBody>
      </p:sp>
      <p:sp>
        <p:nvSpPr>
          <p:cNvPr id="8" name="Unklarer Ausgang">
            <a:extLst xmlns:a="http://schemas.openxmlformats.org/drawingml/2006/main">
              <a:ext uri="{FF2B5EF4-FFF2-40B4-BE49-F238E27FC236}">
                <a16:creationId xmlns:a16="http://schemas.microsoft.com/office/drawing/2014/main" id="{7D0C17DF-1E1F-4803-96E4-E8D588DFDCD7}"/>
              </a:ext>
            </a:extLst>
          </p:cNvPr>
          <p:cNvSpPr>
            <a:spLocks xmlns:a="http://schemas.openxmlformats.org/drawingml/2006/main" noGrp="1"/>
          </p:cNvSpPr>
          <p:nvPr/>
        </p:nvSpPr>
        <p:spPr>
          <a:xfrm xmlns:a="http://schemas.openxmlformats.org/drawingml/2006/main">
            <a:off x="6419850" y="1619250"/>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440"/>
                </a:solidFill>
                <a:latin typeface="Aptos"/>
                <a:ea typeface="Aptos"/>
                <a:cs typeface="Aptos"/>
              </a:defRPr>
            </a:pPr>
            <a:r>
              <a:rPr sz="2025" b="1">
                <a:solidFill>
                  <a:srgbClr val="172440"/>
                </a:solidFill>
                <a:latin typeface="Aptos"/>
                <a:ea typeface="Aptos"/>
                <a:cs typeface="Aptos"/>
              </a:rPr>
              <a:t>Unklarer Ausgang</a:t>
            </a:r>
          </a:p>
        </p:txBody>
      </p:sp>
      <p:sp>
        <p:nvSpPr>
          <p:cNvPr id="9" name="Timeout oder HTTP 5xx: Ausführung kann bereits laufen. Status bleibt o">
            <a:extLst xmlns:a="http://schemas.openxmlformats.org/drawingml/2006/main">
              <a:ext uri="{FF2B5EF4-FFF2-40B4-BE49-F238E27FC236}">
                <a16:creationId xmlns:a16="http://schemas.microsoft.com/office/drawing/2014/main" id="{B1419512-C4E4-4696-B694-F4E12EE78294}"/>
              </a:ext>
            </a:extLst>
          </p:cNvPr>
          <p:cNvSpPr>
            <a:spLocks xmlns:a="http://schemas.openxmlformats.org/drawingml/2006/main" noGrp="1"/>
          </p:cNvSpPr>
          <p:nvPr/>
        </p:nvSpPr>
        <p:spPr>
          <a:xfrm xmlns:a="http://schemas.openxmlformats.org/drawingml/2006/main">
            <a:off x="6419850" y="2047875"/>
            <a:ext cx="5105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Timeout oder HTTP 5xx: Ausführung kann bereits laufen. Status bleibt offen, spätere Rückmeldung bleibt möglich.</a:t>
            </a:r>
          </a:p>
        </p:txBody>
      </p:sp>
      <p:sp>
        <p:nvSpPr>
          <p:cNvPr id="10" name="Absicherung">
            <a:extLst xmlns:a="http://schemas.openxmlformats.org/drawingml/2006/main">
              <a:ext uri="{FF2B5EF4-FFF2-40B4-BE49-F238E27FC236}">
                <a16:creationId xmlns:a16="http://schemas.microsoft.com/office/drawing/2014/main" id="{6ED5000A-999E-4DEF-9AC1-133FE876A2BA}"/>
              </a:ext>
            </a:extLst>
          </p:cNvPr>
          <p:cNvSpPr>
            <a:spLocks xmlns:a="http://schemas.openxmlformats.org/drawingml/2006/main" noGrp="1"/>
          </p:cNvSpPr>
          <p:nvPr/>
        </p:nvSpPr>
        <p:spPr>
          <a:xfrm xmlns:a="http://schemas.openxmlformats.org/drawingml/2006/main">
            <a:off x="628650" y="3771900"/>
            <a:ext cx="5086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440"/>
                </a:solidFill>
                <a:latin typeface="Aptos"/>
                <a:ea typeface="Aptos"/>
                <a:cs typeface="Aptos"/>
              </a:defRPr>
            </a:pPr>
            <a:r>
              <a:rPr sz="2025" b="1">
                <a:solidFill>
                  <a:srgbClr val="172440"/>
                </a:solidFill>
                <a:latin typeface="Aptos"/>
                <a:ea typeface="Aptos"/>
                <a:cs typeface="Aptos"/>
              </a:rPr>
              <a:t>Absicherung</a:t>
            </a:r>
          </a:p>
        </p:txBody>
      </p:sp>
      <p:sp>
        <p:nvSpPr>
          <p:cNvPr id="11" name="Breaker je Zielservice, begrenzte HTTP-Aufrufe und gespeicherter Inakt">
            <a:extLst xmlns:a="http://schemas.openxmlformats.org/drawingml/2006/main">
              <a:ext uri="{FF2B5EF4-FFF2-40B4-BE49-F238E27FC236}">
                <a16:creationId xmlns:a16="http://schemas.microsoft.com/office/drawing/2014/main" id="{A864153B-40B3-4C0D-9BA4-B023487FDCBE}"/>
              </a:ext>
            </a:extLst>
          </p:cNvPr>
          <p:cNvSpPr>
            <a:spLocks xmlns:a="http://schemas.openxmlformats.org/drawingml/2006/main" noGrp="1"/>
          </p:cNvSpPr>
          <p:nvPr/>
        </p:nvSpPr>
        <p:spPr>
          <a:xfrm xmlns:a="http://schemas.openxmlformats.org/drawingml/2006/main">
            <a:off x="628650" y="4200525"/>
            <a:ext cx="50863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Breaker je Zielservice, begrenzte HTTP-Aufrufe und gespeicherter Inaktivitätszeitpunkt. Jeder Retry erhält eine neue attemptId.</a:t>
            </a:r>
          </a:p>
        </p:txBody>
      </p:sp>
      <p:sp>
        <p:nvSpPr>
          <p:cNvPr id="12" name="Alternative und Grenze">
            <a:extLst xmlns:a="http://schemas.openxmlformats.org/drawingml/2006/main">
              <a:ext uri="{FF2B5EF4-FFF2-40B4-BE49-F238E27FC236}">
                <a16:creationId xmlns:a16="http://schemas.microsoft.com/office/drawing/2014/main" id="{3BEF9801-B215-4251-AFA9-1C31AA6DE9E3}"/>
              </a:ext>
            </a:extLst>
          </p:cNvPr>
          <p:cNvSpPr>
            <a:spLocks xmlns:a="http://schemas.openxmlformats.org/drawingml/2006/main" noGrp="1"/>
          </p:cNvSpPr>
          <p:nvPr/>
        </p:nvSpPr>
        <p:spPr>
          <a:xfrm xmlns:a="http://schemas.openxmlformats.org/drawingml/2006/main">
            <a:off x="6419850" y="3771900"/>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440"/>
                </a:solidFill>
                <a:latin typeface="Aptos"/>
                <a:ea typeface="Aptos"/>
                <a:cs typeface="Aptos"/>
              </a:defRPr>
            </a:pPr>
            <a:r>
              <a:rPr sz="2025" b="1">
                <a:solidFill>
                  <a:srgbClr val="172440"/>
                </a:solidFill>
                <a:latin typeface="Aptos"/>
                <a:ea typeface="Aptos"/>
                <a:cs typeface="Aptos"/>
              </a:rPr>
              <a:t>Alternative und Grenze</a:t>
            </a:r>
          </a:p>
        </p:txBody>
      </p:sp>
      <p:sp>
        <p:nvSpPr>
          <p:cNvPr id="13" name="Dauerhafte Nachrichten mit Outbox wären robuster. Der Prototyp nutzt C">
            <a:extLst xmlns:a="http://schemas.openxmlformats.org/drawingml/2006/main">
              <a:ext uri="{FF2B5EF4-FFF2-40B4-BE49-F238E27FC236}">
                <a16:creationId xmlns:a16="http://schemas.microsoft.com/office/drawing/2014/main" id="{3D424357-E187-4E5F-8A11-72962A605433}"/>
              </a:ext>
            </a:extLst>
          </p:cNvPr>
          <p:cNvSpPr>
            <a:spLocks xmlns:a="http://schemas.openxmlformats.org/drawingml/2006/main" noGrp="1"/>
          </p:cNvSpPr>
          <p:nvPr/>
        </p:nvSpPr>
        <p:spPr>
          <a:xfrm xmlns:a="http://schemas.openxmlformats.org/drawingml/2006/main">
            <a:off x="6419850" y="4200525"/>
            <a:ext cx="5105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Dauerhafte Nachrichten mit Outbox wären robuster. Der Prototyp nutzt Callback-Retries und einen Watchdog ohne Queue.</a:t>
            </a:r>
          </a:p>
        </p:txBody>
      </p:sp>
    </p:spTree>
    <p:extLst>
      <p:ext uri="{BB962C8B-B14F-4D97-AF65-F5344CB8AC3E}">
        <p14:creationId xmlns:p14="http://schemas.microsoft.com/office/powerpoint/2010/main" val="1537608299"/>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795FB52-EE6C-42AD-A1A2-92BA40071034}"/>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246BFE"/>
          </a:solidFill>
          <a:ln xmlns:a="http://schemas.openxmlformats.org/drawingml/2006/main" w="12700">
            <a:solidFill>
              <a:srgbClr val="246BFE">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ode-Walkthrough">
            <a:extLst xmlns:a="http://schemas.openxmlformats.org/drawingml/2006/main">
              <a:ext uri="{FF2B5EF4-FFF2-40B4-BE49-F238E27FC236}">
                <a16:creationId xmlns:a16="http://schemas.microsoft.com/office/drawing/2014/main" id="{584906C6-EF51-4A98-91BC-F39A36BA6ADF}"/>
              </a:ext>
            </a:extLst>
          </p:cNvPr>
          <p:cNvSpPr>
            <a:spLocks xmlns:a="http://schemas.openxmlformats.org/drawingml/2006/main" noGrp="1"/>
          </p:cNvSpPr>
          <p:nvPr/>
        </p:nvSpPr>
        <p:spPr>
          <a:xfrm xmlns:a="http://schemas.openxmlformats.org/drawingml/2006/main">
            <a:off x="514350" y="3429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2440"/>
                </a:solidFill>
                <a:latin typeface="Aptos"/>
                <a:ea typeface="Aptos"/>
                <a:cs typeface="Aptos"/>
              </a:defRPr>
            </a:pPr>
            <a:r>
              <a:rPr sz="3000" b="1">
                <a:solidFill>
                  <a:srgbClr val="172440"/>
                </a:solidFill>
                <a:latin typeface="Aptos"/>
                <a:ea typeface="Aptos"/>
                <a:cs typeface="Aptos"/>
              </a:rPr>
              <a:t>Code-Walkthrough</a:t>
            </a:r>
          </a:p>
        </p:txBody>
      </p:sp>
      <p:sp>
        <p:nvSpPr>
          <p:cNvPr id="4" name="Drei Stellen erklären Fachlogik und Fehlerbehandlung">
            <a:extLst xmlns:a="http://schemas.openxmlformats.org/drawingml/2006/main">
              <a:ext uri="{FF2B5EF4-FFF2-40B4-BE49-F238E27FC236}">
                <a16:creationId xmlns:a16="http://schemas.microsoft.com/office/drawing/2014/main" id="{81207A4C-7D18-4061-9DC0-E428580C8C20}"/>
              </a:ext>
            </a:extLst>
          </p:cNvPr>
          <p:cNvSpPr>
            <a:spLocks xmlns:a="http://schemas.openxmlformats.org/drawingml/2006/main" noGrp="1"/>
          </p:cNvSpPr>
          <p:nvPr/>
        </p:nvSpPr>
        <p:spPr>
          <a:xfrm xmlns:a="http://schemas.openxmlformats.org/drawingml/2006/main">
            <a:off x="523875" y="990600"/>
            <a:ext cx="11029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B82"/>
                </a:solidFill>
                <a:latin typeface="Aptos"/>
                <a:ea typeface="Aptos"/>
                <a:cs typeface="Aptos"/>
              </a:defRPr>
            </a:pPr>
            <a:r>
              <a:rPr sz="1725" b="0">
                <a:solidFill>
                  <a:srgbClr val="5B6B82"/>
                </a:solidFill>
                <a:latin typeface="Aptos"/>
                <a:ea typeface="Aptos"/>
                <a:cs typeface="Aptos"/>
              </a:rPr>
              <a:t>Drei Stellen erklären Fachlogik und Fehlerbehandlung</a:t>
            </a:r>
          </a:p>
        </p:txBody>
      </p:sp>
      <p:sp>
        <p:nvSpPr>
          <p:cNvPr id="5" name="WirSchiffenDas  SEKA">
            <a:extLst xmlns:a="http://schemas.openxmlformats.org/drawingml/2006/main">
              <a:ext uri="{FF2B5EF4-FFF2-40B4-BE49-F238E27FC236}">
                <a16:creationId xmlns:a16="http://schemas.microsoft.com/office/drawing/2014/main" id="{FCD3B545-CF35-40FB-972A-F7FA4A86218B}"/>
              </a:ext>
            </a:extLst>
          </p:cNvPr>
          <p:cNvSpPr>
            <a:spLocks xmlns:a="http://schemas.openxmlformats.org/drawingml/2006/main" noGrp="1"/>
          </p:cNvSpPr>
          <p:nvPr/>
        </p:nvSpPr>
        <p:spPr>
          <a:xfrm xmlns:a="http://schemas.openxmlformats.org/drawingml/2006/main">
            <a:off x="514350" y="64770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WirSchiffenDas  SEKA</a:t>
            </a:r>
          </a:p>
        </p:txBody>
      </p:sp>
      <p:sp>
        <p:nvSpPr>
          <p:cNvPr id="6" name="9/12">
            <a:extLst xmlns:a="http://schemas.openxmlformats.org/drawingml/2006/main">
              <a:ext uri="{FF2B5EF4-FFF2-40B4-BE49-F238E27FC236}">
                <a16:creationId xmlns:a16="http://schemas.microsoft.com/office/drawing/2014/main" id="{E2E74665-EAD2-446C-BE0E-62760F047A45}"/>
              </a:ext>
            </a:extLst>
          </p:cNvPr>
          <p:cNvSpPr>
            <a:spLocks xmlns:a="http://schemas.openxmlformats.org/drawingml/2006/main" noGrp="1"/>
          </p:cNvSpPr>
          <p:nvPr/>
        </p:nvSpPr>
        <p:spPr>
          <a:xfrm xmlns:a="http://schemas.openxmlformats.org/drawingml/2006/main">
            <a:off x="10668000" y="64770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9/12</a:t>
            </a:r>
          </a:p>
        </p:txBody>
      </p:sp>
      <p:sp>
        <p:nvSpPr>
          <p:cNvPr id="7" name="1  AnalysisWorker (Fluid)">
            <a:extLst xmlns:a="http://schemas.openxmlformats.org/drawingml/2006/main">
              <a:ext uri="{FF2B5EF4-FFF2-40B4-BE49-F238E27FC236}">
                <a16:creationId xmlns:a16="http://schemas.microsoft.com/office/drawing/2014/main" id="{46A93428-69FE-4004-9463-6CF27AD2030E}"/>
              </a:ext>
            </a:extLst>
          </p:cNvPr>
          <p:cNvSpPr>
            <a:spLocks xmlns:a="http://schemas.openxmlformats.org/drawingml/2006/main" noGrp="1"/>
          </p:cNvSpPr>
          <p:nvPr/>
        </p:nvSpPr>
        <p:spPr>
          <a:xfrm xmlns:a="http://schemas.openxmlformats.org/drawingml/2006/main">
            <a:off x="657225" y="16954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46BFF"/>
                </a:solidFill>
                <a:latin typeface="Aptos"/>
                <a:ea typeface="Aptos"/>
                <a:cs typeface="Aptos"/>
              </a:defRPr>
            </a:pPr>
            <a:r>
              <a:rPr sz="2175" b="1">
                <a:solidFill>
                  <a:srgbClr val="246BFF"/>
                </a:solidFill>
                <a:latin typeface="Aptos"/>
                <a:ea typeface="Aptos"/>
                <a:cs typeface="Aptos"/>
              </a:rPr>
              <a:t>1  AnalysisWorker (Fluid)</a:t>
            </a:r>
          </a:p>
        </p:txBody>
      </p:sp>
      <p:sp>
        <p:nvSpPr>
          <p:cNvPr id="8" name="Prüft Öl und Kraftstoff separat. Meldet vollständige Equipment-Ergebni">
            <a:extLst xmlns:a="http://schemas.openxmlformats.org/drawingml/2006/main">
              <a:ext uri="{FF2B5EF4-FFF2-40B4-BE49-F238E27FC236}">
                <a16:creationId xmlns:a16="http://schemas.microsoft.com/office/drawing/2014/main" id="{593892E6-55B5-46C0-B0CD-813E8620959F}"/>
              </a:ext>
            </a:extLst>
          </p:cNvPr>
          <p:cNvSpPr>
            <a:spLocks xmlns:a="http://schemas.openxmlformats.org/drawingml/2006/main" noGrp="1"/>
          </p:cNvSpPr>
          <p:nvPr/>
        </p:nvSpPr>
        <p:spPr>
          <a:xfrm xmlns:a="http://schemas.openxmlformats.org/drawingml/2006/main">
            <a:off x="657225" y="219075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B6B82"/>
                </a:solidFill>
                <a:latin typeface="Aptos"/>
                <a:ea typeface="Aptos"/>
                <a:cs typeface="Aptos"/>
              </a:defRPr>
            </a:pPr>
            <a:r>
              <a:rPr sz="1950" b="0">
                <a:solidFill>
                  <a:srgbClr val="5B6B82"/>
                </a:solidFill>
                <a:latin typeface="Aptos"/>
                <a:ea typeface="Aptos"/>
                <a:cs typeface="Aptos"/>
              </a:rPr>
              <a:t>Prüft Öl und Kraftstoff separat. Meldet vollständige Equipment-Ergebnisse und gibt bei Erfolg weiter.</a:t>
            </a:r>
          </a:p>
        </p:txBody>
      </p:sp>
      <p:sp>
        <p:nvSpPr>
          <p:cNvPr id="9" name="2  AnalysisRun / AlgorithmExecution">
            <a:extLst xmlns:a="http://schemas.openxmlformats.org/drawingml/2006/main">
              <a:ext uri="{FF2B5EF4-FFF2-40B4-BE49-F238E27FC236}">
                <a16:creationId xmlns:a16="http://schemas.microsoft.com/office/drawing/2014/main" id="{0BF2514C-5CB1-4E2E-A269-B6A747364D6A}"/>
              </a:ext>
            </a:extLst>
          </p:cNvPr>
          <p:cNvSpPr>
            <a:spLocks xmlns:a="http://schemas.openxmlformats.org/drawingml/2006/main" noGrp="1"/>
          </p:cNvSpPr>
          <p:nvPr/>
        </p:nvSpPr>
        <p:spPr>
          <a:xfrm xmlns:a="http://schemas.openxmlformats.org/drawingml/2006/main">
            <a:off x="657225" y="31051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440"/>
                </a:solidFill>
                <a:latin typeface="Aptos"/>
                <a:ea typeface="Aptos"/>
                <a:cs typeface="Aptos"/>
              </a:defRPr>
            </a:pPr>
            <a:r>
              <a:rPr sz="2175" b="1">
                <a:solidFill>
                  <a:srgbClr val="172440"/>
                </a:solidFill>
                <a:latin typeface="Aptos"/>
                <a:ea typeface="Aptos"/>
                <a:cs typeface="Aptos"/>
              </a:rPr>
              <a:t>2  AnalysisRun / AlgorithmExecution</a:t>
            </a:r>
          </a:p>
        </p:txBody>
      </p:sp>
      <p:sp>
        <p:nvSpPr>
          <p:cNvPr id="10" name="Prüft vollständige Ergebnisse und zulässige Übergänge. Retry ersetzt V">
            <a:extLst xmlns:a="http://schemas.openxmlformats.org/drawingml/2006/main">
              <a:ext uri="{FF2B5EF4-FFF2-40B4-BE49-F238E27FC236}">
                <a16:creationId xmlns:a16="http://schemas.microsoft.com/office/drawing/2014/main" id="{CC1C5782-E180-476F-A179-440002A457FE}"/>
              </a:ext>
            </a:extLst>
          </p:cNvPr>
          <p:cNvSpPr>
            <a:spLocks xmlns:a="http://schemas.openxmlformats.org/drawingml/2006/main" noGrp="1"/>
          </p:cNvSpPr>
          <p:nvPr/>
        </p:nvSpPr>
        <p:spPr>
          <a:xfrm xmlns:a="http://schemas.openxmlformats.org/drawingml/2006/main">
            <a:off x="657225" y="360045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B6B82"/>
                </a:solidFill>
                <a:latin typeface="Aptos"/>
                <a:ea typeface="Aptos"/>
                <a:cs typeface="Aptos"/>
              </a:defRPr>
            </a:pPr>
            <a:r>
              <a:rPr sz="1950" b="0">
                <a:solidFill>
                  <a:srgbClr val="5B6B82"/>
                </a:solidFill>
                <a:latin typeface="Aptos"/>
                <a:ea typeface="Aptos"/>
                <a:cs typeface="Aptos"/>
              </a:rPr>
              <a:t>Prüft vollständige Ergebnisse und zulässige Übergänge. Retry ersetzt Versuch-IDs ab dem gewählten Schritt.</a:t>
            </a:r>
          </a:p>
        </p:txBody>
      </p:sp>
      <p:sp>
        <p:nvSpPr>
          <p:cNvPr id="11" name="3  NextServiceClient">
            <a:extLst xmlns:a="http://schemas.openxmlformats.org/drawingml/2006/main">
              <a:ext uri="{FF2B5EF4-FFF2-40B4-BE49-F238E27FC236}">
                <a16:creationId xmlns:a16="http://schemas.microsoft.com/office/drawing/2014/main" id="{BD2E581F-92F4-4407-A788-D39E55241884}"/>
              </a:ext>
            </a:extLst>
          </p:cNvPr>
          <p:cNvSpPr>
            <a:spLocks xmlns:a="http://schemas.openxmlformats.org/drawingml/2006/main" noGrp="1"/>
          </p:cNvSpPr>
          <p:nvPr/>
        </p:nvSpPr>
        <p:spPr>
          <a:xfrm xmlns:a="http://schemas.openxmlformats.org/drawingml/2006/main">
            <a:off x="657225" y="45148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440"/>
                </a:solidFill>
                <a:latin typeface="Aptos"/>
                <a:ea typeface="Aptos"/>
                <a:cs typeface="Aptos"/>
              </a:defRPr>
            </a:pPr>
            <a:r>
              <a:rPr sz="2175" b="1">
                <a:solidFill>
                  <a:srgbClr val="172440"/>
                </a:solidFill>
                <a:latin typeface="Aptos"/>
                <a:ea typeface="Aptos"/>
                <a:cs typeface="Aptos"/>
              </a:rPr>
              <a:t>3  NextServiceClient</a:t>
            </a:r>
          </a:p>
        </p:txBody>
      </p:sp>
      <p:sp>
        <p:nvSpPr>
          <p:cNvPr id="12" name="Unterscheidet Ablehnung von unklarer Annahme. Der Circuit Breaker schü">
            <a:extLst xmlns:a="http://schemas.openxmlformats.org/drawingml/2006/main">
              <a:ext uri="{FF2B5EF4-FFF2-40B4-BE49-F238E27FC236}">
                <a16:creationId xmlns:a16="http://schemas.microsoft.com/office/drawing/2014/main" id="{55210E65-4664-47F1-9D1E-53DD65D3FBB9}"/>
              </a:ext>
            </a:extLst>
          </p:cNvPr>
          <p:cNvSpPr>
            <a:spLocks xmlns:a="http://schemas.openxmlformats.org/drawingml/2006/main" noGrp="1"/>
          </p:cNvSpPr>
          <p:nvPr/>
        </p:nvSpPr>
        <p:spPr>
          <a:xfrm xmlns:a="http://schemas.openxmlformats.org/drawingml/2006/main">
            <a:off x="657225" y="501015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B6B82"/>
                </a:solidFill>
                <a:latin typeface="Aptos"/>
                <a:ea typeface="Aptos"/>
                <a:cs typeface="Aptos"/>
              </a:defRPr>
            </a:pPr>
            <a:r>
              <a:rPr sz="1950" b="0">
                <a:solidFill>
                  <a:srgbClr val="5B6B82"/>
                </a:solidFill>
                <a:latin typeface="Aptos"/>
                <a:ea typeface="Aptos"/>
                <a:cs typeface="Aptos"/>
              </a:rPr>
              <a:t>Unterscheidet Ablehnung von unklarer Annahme. Der Circuit Breaker schützt genau diese Übergabe.</a:t>
            </a:r>
          </a:p>
        </p:txBody>
      </p:sp>
    </p:spTree>
    <p:extLst>
      <p:ext uri="{BB962C8B-B14F-4D97-AF65-F5344CB8AC3E}">
        <p14:creationId xmlns:p14="http://schemas.microsoft.com/office/powerpoint/2010/main" val="1412513020"/>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82469BB-7C45-488C-8C8F-4F2F5DB88511}"/>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246BFF"/>
          </a:solidFill>
          <a:ln xmlns:a="http://schemas.openxmlformats.org/drawingml/2006/main" w="0">
            <a:noFill/>
          </a:ln>
        </p:spPr>
      </p:sp>
      <p:sp>
        <p:nvSpPr>
          <p:cNvPr id="2" name="Live-Demo">
            <a:extLst xmlns:a="http://schemas.openxmlformats.org/drawingml/2006/main">
              <a:ext uri="{FF2B5EF4-FFF2-40B4-BE49-F238E27FC236}">
                <a16:creationId xmlns:a16="http://schemas.microsoft.com/office/drawing/2014/main" id="{53E977EC-97D3-4F94-B710-636902D5F3EF}"/>
              </a:ext>
            </a:extLst>
          </p:cNvPr>
          <p:cNvSpPr>
            <a:spLocks xmlns:a="http://schemas.openxmlformats.org/drawingml/2006/main" noGrp="1"/>
          </p:cNvSpPr>
          <p:nvPr/>
        </p:nvSpPr>
        <p:spPr>
          <a:xfrm xmlns:a="http://schemas.openxmlformats.org/drawingml/2006/main">
            <a:off x="514350" y="3429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2440"/>
                </a:solidFill>
                <a:latin typeface="Aptos"/>
                <a:ea typeface="Aptos"/>
                <a:cs typeface="Aptos"/>
              </a:defRPr>
            </a:pPr>
            <a:r>
              <a:rPr sz="3000" b="1">
                <a:solidFill>
                  <a:srgbClr val="172440"/>
                </a:solidFill>
                <a:latin typeface="Aptos"/>
                <a:ea typeface="Aptos"/>
                <a:cs typeface="Aptos"/>
              </a:rPr>
              <a:t>Live-Demo</a:t>
            </a:r>
          </a:p>
        </p:txBody>
      </p:sp>
      <p:sp>
        <p:nvSpPr>
          <p:cNvPr id="3" name="Vier Fälle zeigen die fachlichen und technischen Grenzen">
            <a:extLst xmlns:a="http://schemas.openxmlformats.org/drawingml/2006/main">
              <a:ext uri="{FF2B5EF4-FFF2-40B4-BE49-F238E27FC236}">
                <a16:creationId xmlns:a16="http://schemas.microsoft.com/office/drawing/2014/main" id="{DD15A362-4A16-4995-A11F-E0CD164058DF}"/>
              </a:ext>
            </a:extLst>
          </p:cNvPr>
          <p:cNvSpPr>
            <a:spLocks xmlns:a="http://schemas.openxmlformats.org/drawingml/2006/main" noGrp="1"/>
          </p:cNvSpPr>
          <p:nvPr/>
        </p:nvSpPr>
        <p:spPr>
          <a:xfrm xmlns:a="http://schemas.openxmlformats.org/drawingml/2006/main">
            <a:off x="523875" y="990600"/>
            <a:ext cx="11029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B82"/>
                </a:solidFill>
                <a:latin typeface="Aptos"/>
                <a:ea typeface="Aptos"/>
                <a:cs typeface="Aptos"/>
              </a:defRPr>
            </a:pPr>
            <a:r>
              <a:rPr sz="1725" b="0">
                <a:solidFill>
                  <a:srgbClr val="5B6B82"/>
                </a:solidFill>
                <a:latin typeface="Aptos"/>
                <a:ea typeface="Aptos"/>
                <a:cs typeface="Aptos"/>
              </a:rPr>
              <a:t>Vier Fälle zeigen die fachlichen und technischen Grenzen</a:t>
            </a:r>
          </a:p>
        </p:txBody>
      </p:sp>
      <p:sp>
        <p:nvSpPr>
          <p:cNvPr id="4" name="WirSchiffenDas  SEKA">
            <a:extLst xmlns:a="http://schemas.openxmlformats.org/drawingml/2006/main">
              <a:ext uri="{FF2B5EF4-FFF2-40B4-BE49-F238E27FC236}">
                <a16:creationId xmlns:a16="http://schemas.microsoft.com/office/drawing/2014/main" id="{4B6B046C-B7A2-4FB1-B476-29FF0E861D96}"/>
              </a:ext>
            </a:extLst>
          </p:cNvPr>
          <p:cNvSpPr>
            <a:spLocks xmlns:a="http://schemas.openxmlformats.org/drawingml/2006/main" noGrp="1"/>
          </p:cNvSpPr>
          <p:nvPr/>
        </p:nvSpPr>
        <p:spPr>
          <a:xfrm xmlns:a="http://schemas.openxmlformats.org/drawingml/2006/main">
            <a:off x="514350" y="64770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WirSchiffenDas  SEKA</a:t>
            </a:r>
          </a:p>
        </p:txBody>
      </p:sp>
      <p:sp>
        <p:nvSpPr>
          <p:cNvPr id="5" name="10/12">
            <a:extLst xmlns:a="http://schemas.openxmlformats.org/drawingml/2006/main">
              <a:ext uri="{FF2B5EF4-FFF2-40B4-BE49-F238E27FC236}">
                <a16:creationId xmlns:a16="http://schemas.microsoft.com/office/drawing/2014/main" id="{3B7189BD-75FE-46AA-90FC-AD38610D3E81}"/>
              </a:ext>
            </a:extLst>
          </p:cNvPr>
          <p:cNvSpPr>
            <a:spLocks xmlns:a="http://schemas.openxmlformats.org/drawingml/2006/main" noGrp="1"/>
          </p:cNvSpPr>
          <p:nvPr/>
        </p:nvSpPr>
        <p:spPr>
          <a:xfrm xmlns:a="http://schemas.openxmlformats.org/drawingml/2006/main">
            <a:off x="10668000" y="64770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10/12</a:t>
            </a:r>
          </a:p>
        </p:txBody>
      </p:sp>
      <p:sp>
        <p:nvSpPr>
          <p:cNvPr id="6" name="1">
            <a:extLst xmlns:a="http://schemas.openxmlformats.org/drawingml/2006/main">
              <a:ext uri="{FF2B5EF4-FFF2-40B4-BE49-F238E27FC236}">
                <a16:creationId xmlns:a16="http://schemas.microsoft.com/office/drawing/2014/main" id="{81F04AB0-0A5C-4449-866A-AA66B8583072}"/>
              </a:ext>
            </a:extLst>
          </p:cNvPr>
          <p:cNvSpPr>
            <a:spLocks xmlns:a="http://schemas.openxmlformats.org/drawingml/2006/main" noGrp="1"/>
          </p:cNvSpPr>
          <p:nvPr/>
        </p:nvSpPr>
        <p:spPr>
          <a:xfrm xmlns:a="http://schemas.openxmlformats.org/drawingml/2006/main">
            <a:off x="638175" y="1685925"/>
            <a:ext cx="51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246BFF"/>
                </a:solidFill>
                <a:latin typeface="Aptos"/>
                <a:ea typeface="Aptos"/>
                <a:cs typeface="Aptos"/>
              </a:defRPr>
            </a:pPr>
            <a:r>
              <a:rPr sz="2925" b="1">
                <a:solidFill>
                  <a:srgbClr val="246BFF"/>
                </a:solidFill>
                <a:latin typeface="Aptos"/>
                <a:ea typeface="Aptos"/>
                <a:cs typeface="Aptos"/>
              </a:rPr>
              <a:t>1</a:t>
            </a:r>
          </a:p>
        </p:txBody>
      </p:sp>
      <p:sp>
        <p:nvSpPr>
          <p:cNvPr id="7" name="Gültige Konfiguration">
            <a:extLst xmlns:a="http://schemas.openxmlformats.org/drawingml/2006/main">
              <a:ext uri="{FF2B5EF4-FFF2-40B4-BE49-F238E27FC236}">
                <a16:creationId xmlns:a16="http://schemas.microsoft.com/office/drawing/2014/main" id="{F8337B2B-452B-495A-AF90-06D0BF9311DC}"/>
              </a:ext>
            </a:extLst>
          </p:cNvPr>
          <p:cNvSpPr>
            <a:spLocks xmlns:a="http://schemas.openxmlformats.org/drawingml/2006/main" noGrp="1"/>
          </p:cNvSpPr>
          <p:nvPr/>
        </p:nvSpPr>
        <p:spPr>
          <a:xfrm xmlns:a="http://schemas.openxmlformats.org/drawingml/2006/main">
            <a:off x="1352550" y="1666875"/>
            <a:ext cx="10144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440"/>
                </a:solidFill>
                <a:latin typeface="Aptos"/>
                <a:ea typeface="Aptos"/>
                <a:cs typeface="Aptos"/>
              </a:defRPr>
            </a:pPr>
            <a:r>
              <a:rPr sz="2025" b="1">
                <a:solidFill>
                  <a:srgbClr val="172440"/>
                </a:solidFill>
                <a:latin typeface="Aptos"/>
                <a:ea typeface="Aptos"/>
                <a:cs typeface="Aptos"/>
              </a:rPr>
              <a:t>Gültige Konfiguration</a:t>
            </a:r>
          </a:p>
        </p:txBody>
      </p:sp>
      <p:sp>
        <p:nvSpPr>
          <p:cNvPr id="8" name="Vier READY-Ergebnisse, fünf Equipment-Resultate OK, Gesamt-OK">
            <a:extLst xmlns:a="http://schemas.openxmlformats.org/drawingml/2006/main">
              <a:ext uri="{FF2B5EF4-FFF2-40B4-BE49-F238E27FC236}">
                <a16:creationId xmlns:a16="http://schemas.microsoft.com/office/drawing/2014/main" id="{F4DF9B5E-72B5-4CC3-A58F-8A5D1CB00C36}"/>
              </a:ext>
            </a:extLst>
          </p:cNvPr>
          <p:cNvSpPr>
            <a:spLocks xmlns:a="http://schemas.openxmlformats.org/drawingml/2006/main" noGrp="1"/>
          </p:cNvSpPr>
          <p:nvPr/>
        </p:nvSpPr>
        <p:spPr>
          <a:xfrm xmlns:a="http://schemas.openxmlformats.org/drawingml/2006/main">
            <a:off x="1352550" y="2066925"/>
            <a:ext cx="10144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Vier READY-Ergebnisse, fünf Equipment-Resultate OK, Gesamt-OK</a:t>
            </a:r>
          </a:p>
        </p:txBody>
      </p:sp>
      <p:sp>
        <p:nvSpPr>
          <p:cNvPr id="9" name="2">
            <a:extLst xmlns:a="http://schemas.openxmlformats.org/drawingml/2006/main">
              <a:ext uri="{FF2B5EF4-FFF2-40B4-BE49-F238E27FC236}">
                <a16:creationId xmlns:a16="http://schemas.microsoft.com/office/drawing/2014/main" id="{31FF0C67-97FE-49B1-B60A-3B4EF9888AE3}"/>
              </a:ext>
            </a:extLst>
          </p:cNvPr>
          <p:cNvSpPr>
            <a:spLocks xmlns:a="http://schemas.openxmlformats.org/drawingml/2006/main" noGrp="1"/>
          </p:cNvSpPr>
          <p:nvPr/>
        </p:nvSpPr>
        <p:spPr>
          <a:xfrm xmlns:a="http://schemas.openxmlformats.org/drawingml/2006/main">
            <a:off x="638175" y="2743200"/>
            <a:ext cx="51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246BFF"/>
                </a:solidFill>
                <a:latin typeface="Aptos"/>
                <a:ea typeface="Aptos"/>
                <a:cs typeface="Aptos"/>
              </a:defRPr>
            </a:pPr>
            <a:r>
              <a:rPr sz="2925" b="1">
                <a:solidFill>
                  <a:srgbClr val="246BFF"/>
                </a:solidFill>
                <a:latin typeface="Aptos"/>
                <a:ea typeface="Aptos"/>
                <a:cs typeface="Aptos"/>
              </a:rPr>
              <a:t>2</a:t>
            </a:r>
          </a:p>
        </p:txBody>
      </p:sp>
      <p:sp>
        <p:nvSpPr>
          <p:cNvPr id="10" name="Ungültiges Ölsystem">
            <a:extLst xmlns:a="http://schemas.openxmlformats.org/drawingml/2006/main">
              <a:ext uri="{FF2B5EF4-FFF2-40B4-BE49-F238E27FC236}">
                <a16:creationId xmlns:a16="http://schemas.microsoft.com/office/drawing/2014/main" id="{0D58B835-FA01-429A-9159-448382EC6AEE}"/>
              </a:ext>
            </a:extLst>
          </p:cNvPr>
          <p:cNvSpPr>
            <a:spLocks xmlns:a="http://schemas.openxmlformats.org/drawingml/2006/main" noGrp="1"/>
          </p:cNvSpPr>
          <p:nvPr/>
        </p:nvSpPr>
        <p:spPr>
          <a:xfrm xmlns:a="http://schemas.openxmlformats.org/drawingml/2006/main">
            <a:off x="1352550" y="2724150"/>
            <a:ext cx="10144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440"/>
                </a:solidFill>
                <a:latin typeface="Aptos"/>
                <a:ea typeface="Aptos"/>
                <a:cs typeface="Aptos"/>
              </a:defRPr>
            </a:pPr>
            <a:r>
              <a:rPr sz="2025" b="1">
                <a:solidFill>
                  <a:srgbClr val="172440"/>
                </a:solidFill>
                <a:latin typeface="Aptos"/>
                <a:ea typeface="Aptos"/>
                <a:cs typeface="Aptos"/>
              </a:rPr>
              <a:t>Ungültiges Ölsystem</a:t>
            </a:r>
          </a:p>
        </p:txBody>
      </p:sp>
      <p:sp>
        <p:nvSpPr>
          <p:cNvPr id="11" name="Öl FAILED, Kraftstoff OK. Der Fluid-Service liefert beide Einzelresult">
            <a:extLst xmlns:a="http://schemas.openxmlformats.org/drawingml/2006/main">
              <a:ext uri="{FF2B5EF4-FFF2-40B4-BE49-F238E27FC236}">
                <a16:creationId xmlns:a16="http://schemas.microsoft.com/office/drawing/2014/main" id="{07E99462-4ACE-4DAF-B98E-B7F467451D09}"/>
              </a:ext>
            </a:extLst>
          </p:cNvPr>
          <p:cNvSpPr>
            <a:spLocks xmlns:a="http://schemas.openxmlformats.org/drawingml/2006/main" noGrp="1"/>
          </p:cNvSpPr>
          <p:nvPr/>
        </p:nvSpPr>
        <p:spPr>
          <a:xfrm xmlns:a="http://schemas.openxmlformats.org/drawingml/2006/main">
            <a:off x="1352550" y="3124200"/>
            <a:ext cx="10144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Öl FAILED, Kraftstoff OK. Der Fluid-Service liefert beide Einzelresultate.</a:t>
            </a:r>
          </a:p>
        </p:txBody>
      </p:sp>
      <p:sp>
        <p:nvSpPr>
          <p:cNvPr id="12" name="3">
            <a:extLst xmlns:a="http://schemas.openxmlformats.org/drawingml/2006/main">
              <a:ext uri="{FF2B5EF4-FFF2-40B4-BE49-F238E27FC236}">
                <a16:creationId xmlns:a16="http://schemas.microsoft.com/office/drawing/2014/main" id="{2F037E1A-5757-4846-8E75-B115A79F235F}"/>
              </a:ext>
            </a:extLst>
          </p:cNvPr>
          <p:cNvSpPr>
            <a:spLocks xmlns:a="http://schemas.openxmlformats.org/drawingml/2006/main" noGrp="1"/>
          </p:cNvSpPr>
          <p:nvPr/>
        </p:nvSpPr>
        <p:spPr>
          <a:xfrm xmlns:a="http://schemas.openxmlformats.org/drawingml/2006/main">
            <a:off x="638175" y="3800475"/>
            <a:ext cx="51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ED4755"/>
                </a:solidFill>
                <a:latin typeface="Aptos"/>
                <a:ea typeface="Aptos"/>
                <a:cs typeface="Aptos"/>
              </a:defRPr>
            </a:pPr>
            <a:r>
              <a:rPr sz="2925" b="1">
                <a:solidFill>
                  <a:srgbClr val="ED4755"/>
                </a:solidFill>
                <a:latin typeface="Aptos"/>
                <a:ea typeface="Aptos"/>
                <a:cs typeface="Aptos"/>
              </a:rPr>
              <a:t>3</a:t>
            </a:r>
          </a:p>
        </p:txBody>
      </p:sp>
      <p:sp>
        <p:nvSpPr>
          <p:cNvPr id="13" name="Thermal-Service gestoppt">
            <a:extLst xmlns:a="http://schemas.openxmlformats.org/drawingml/2006/main">
              <a:ext uri="{FF2B5EF4-FFF2-40B4-BE49-F238E27FC236}">
                <a16:creationId xmlns:a16="http://schemas.microsoft.com/office/drawing/2014/main" id="{44AC46B5-C3A0-4967-8C27-540E323EB8BF}"/>
              </a:ext>
            </a:extLst>
          </p:cNvPr>
          <p:cNvSpPr>
            <a:spLocks xmlns:a="http://schemas.openxmlformats.org/drawingml/2006/main" noGrp="1"/>
          </p:cNvSpPr>
          <p:nvPr/>
        </p:nvSpPr>
        <p:spPr>
          <a:xfrm xmlns:a="http://schemas.openxmlformats.org/drawingml/2006/main">
            <a:off x="1352550" y="3781425"/>
            <a:ext cx="10144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440"/>
                </a:solidFill>
                <a:latin typeface="Aptos"/>
                <a:ea typeface="Aptos"/>
                <a:cs typeface="Aptos"/>
              </a:defRPr>
            </a:pPr>
            <a:r>
              <a:rPr sz="2025" b="1">
                <a:solidFill>
                  <a:srgbClr val="172440"/>
                </a:solidFill>
                <a:latin typeface="Aptos"/>
                <a:ea typeface="Aptos"/>
                <a:cs typeface="Aptos"/>
              </a:rPr>
              <a:t>Thermal-Service gestoppt</a:t>
            </a:r>
          </a:p>
        </p:txBody>
      </p:sp>
      <p:sp>
        <p:nvSpPr>
          <p:cNvPr id="14" name="Neue gültige Analyse starten. Fluid bleibt OK, Thermal schlägt fehl. B">
            <a:extLst xmlns:a="http://schemas.openxmlformats.org/drawingml/2006/main">
              <a:ext uri="{FF2B5EF4-FFF2-40B4-BE49-F238E27FC236}">
                <a16:creationId xmlns:a16="http://schemas.microsoft.com/office/drawing/2014/main" id="{13C5FFC6-A913-45E8-AD3C-398079E8E9F3}"/>
              </a:ext>
            </a:extLst>
          </p:cNvPr>
          <p:cNvSpPr>
            <a:spLocks xmlns:a="http://schemas.openxmlformats.org/drawingml/2006/main" noGrp="1"/>
          </p:cNvSpPr>
          <p:nvPr/>
        </p:nvSpPr>
        <p:spPr>
          <a:xfrm xmlns:a="http://schemas.openxmlformats.org/drawingml/2006/main">
            <a:off x="1352550" y="4181475"/>
            <a:ext cx="10144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Neue gültige Analyse starten. Fluid bleibt OK, Thermal schlägt fehl. Breaker der Weitergabe öffnen.</a:t>
            </a:r>
          </a:p>
        </p:txBody>
      </p:sp>
      <p:sp>
        <p:nvSpPr>
          <p:cNvPr id="15" name="4">
            <a:extLst xmlns:a="http://schemas.openxmlformats.org/drawingml/2006/main">
              <a:ext uri="{FF2B5EF4-FFF2-40B4-BE49-F238E27FC236}">
                <a16:creationId xmlns:a16="http://schemas.microsoft.com/office/drawing/2014/main" id="{2FD430E3-0874-486E-B9EF-08A6E5C2725E}"/>
              </a:ext>
            </a:extLst>
          </p:cNvPr>
          <p:cNvSpPr>
            <a:spLocks xmlns:a="http://schemas.openxmlformats.org/drawingml/2006/main" noGrp="1"/>
          </p:cNvSpPr>
          <p:nvPr/>
        </p:nvSpPr>
        <p:spPr>
          <a:xfrm xmlns:a="http://schemas.openxmlformats.org/drawingml/2006/main">
            <a:off x="638175" y="4857750"/>
            <a:ext cx="51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246BFF"/>
                </a:solidFill>
                <a:latin typeface="Aptos"/>
                <a:ea typeface="Aptos"/>
                <a:cs typeface="Aptos"/>
              </a:defRPr>
            </a:pPr>
            <a:r>
              <a:rPr sz="2925" b="1">
                <a:solidFill>
                  <a:srgbClr val="246BFF"/>
                </a:solidFill>
                <a:latin typeface="Aptos"/>
                <a:ea typeface="Aptos"/>
                <a:cs typeface="Aptos"/>
              </a:rPr>
              <a:t>4</a:t>
            </a:r>
          </a:p>
        </p:txBody>
      </p:sp>
      <p:sp>
        <p:nvSpPr>
          <p:cNvPr id="16" name="Wiederanlauf und Retry">
            <a:extLst xmlns:a="http://schemas.openxmlformats.org/drawingml/2006/main">
              <a:ext uri="{FF2B5EF4-FFF2-40B4-BE49-F238E27FC236}">
                <a16:creationId xmlns:a16="http://schemas.microsoft.com/office/drawing/2014/main" id="{33CD5FBE-0D58-48B0-AE0E-3DD36DE19005}"/>
              </a:ext>
            </a:extLst>
          </p:cNvPr>
          <p:cNvSpPr>
            <a:spLocks xmlns:a="http://schemas.openxmlformats.org/drawingml/2006/main" noGrp="1"/>
          </p:cNvSpPr>
          <p:nvPr/>
        </p:nvSpPr>
        <p:spPr>
          <a:xfrm xmlns:a="http://schemas.openxmlformats.org/drawingml/2006/main">
            <a:off x="1352550" y="4838700"/>
            <a:ext cx="10144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440"/>
                </a:solidFill>
                <a:latin typeface="Aptos"/>
                <a:ea typeface="Aptos"/>
                <a:cs typeface="Aptos"/>
              </a:defRPr>
            </a:pPr>
            <a:r>
              <a:rPr sz="2025" b="1">
                <a:solidFill>
                  <a:srgbClr val="172440"/>
                </a:solidFill>
                <a:latin typeface="Aptos"/>
                <a:ea typeface="Aptos"/>
                <a:cs typeface="Aptos"/>
              </a:rPr>
              <a:t>Wiederanlauf und Retry</a:t>
            </a:r>
          </a:p>
        </p:txBody>
      </p:sp>
      <p:sp>
        <p:nvSpPr>
          <p:cNvPr id="17" name="Thermal starten, Retry ausführen. Anschließend neuen Gesamtlauf als Pr">
            <a:extLst xmlns:a="http://schemas.openxmlformats.org/drawingml/2006/main">
              <a:ext uri="{FF2B5EF4-FFF2-40B4-BE49-F238E27FC236}">
                <a16:creationId xmlns:a16="http://schemas.microsoft.com/office/drawing/2014/main" id="{12BD4800-74C5-4792-8D68-35D4C1923407}"/>
              </a:ext>
            </a:extLst>
          </p:cNvPr>
          <p:cNvSpPr>
            <a:spLocks xmlns:a="http://schemas.openxmlformats.org/drawingml/2006/main" noGrp="1"/>
          </p:cNvSpPr>
          <p:nvPr/>
        </p:nvSpPr>
        <p:spPr>
          <a:xfrm xmlns:a="http://schemas.openxmlformats.org/drawingml/2006/main">
            <a:off x="1352550" y="5238750"/>
            <a:ext cx="10144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Thermal starten, Retry ausführen. Anschließend neuen Gesamtlauf als Probe der ursprünglichen Kante starten.</a:t>
            </a:r>
          </a:p>
        </p:txBody>
      </p:sp>
    </p:spTree>
    <p:extLst>
      <p:ext uri="{BB962C8B-B14F-4D97-AF65-F5344CB8AC3E}">
        <p14:creationId xmlns:p14="http://schemas.microsoft.com/office/powerpoint/2010/main" val="684302926"/>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09DEBC8-6A5E-412E-9051-4DC74586F3E0}"/>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246BFF"/>
          </a:solidFill>
          <a:ln xmlns:a="http://schemas.openxmlformats.org/drawingml/2006/main" w="0">
            <a:noFill/>
          </a:ln>
        </p:spPr>
      </p:sp>
      <p:sp>
        <p:nvSpPr>
          <p:cNvPr id="2" name="Bewertung mit Literatur und Tests">
            <a:extLst xmlns:a="http://schemas.openxmlformats.org/drawingml/2006/main">
              <a:ext uri="{FF2B5EF4-FFF2-40B4-BE49-F238E27FC236}">
                <a16:creationId xmlns:a16="http://schemas.microsoft.com/office/drawing/2014/main" id="{E5C97E5C-C73A-4C70-AEE1-E3A94C297836}"/>
              </a:ext>
            </a:extLst>
          </p:cNvPr>
          <p:cNvSpPr>
            <a:spLocks xmlns:a="http://schemas.openxmlformats.org/drawingml/2006/main" noGrp="1"/>
          </p:cNvSpPr>
          <p:nvPr/>
        </p:nvSpPr>
        <p:spPr>
          <a:xfrm xmlns:a="http://schemas.openxmlformats.org/drawingml/2006/main">
            <a:off x="514350" y="3429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2440"/>
                </a:solidFill>
                <a:latin typeface="Aptos"/>
                <a:ea typeface="Aptos"/>
                <a:cs typeface="Aptos"/>
              </a:defRPr>
            </a:pPr>
            <a:r>
              <a:rPr sz="3000" b="1">
                <a:solidFill>
                  <a:srgbClr val="172440"/>
                </a:solidFill>
                <a:latin typeface="Aptos"/>
                <a:ea typeface="Aptos"/>
                <a:cs typeface="Aptos"/>
              </a:rPr>
              <a:t>Bewertung mit Literatur und Tests</a:t>
            </a:r>
          </a:p>
        </p:txBody>
      </p:sp>
      <p:sp>
        <p:nvSpPr>
          <p:cNvPr id="3" name="WirSchiffenDas  SEKA">
            <a:extLst xmlns:a="http://schemas.openxmlformats.org/drawingml/2006/main">
              <a:ext uri="{FF2B5EF4-FFF2-40B4-BE49-F238E27FC236}">
                <a16:creationId xmlns:a16="http://schemas.microsoft.com/office/drawing/2014/main" id="{8C79DB03-0056-47D1-A1E6-6CC2DEC2709D}"/>
              </a:ext>
            </a:extLst>
          </p:cNvPr>
          <p:cNvSpPr>
            <a:spLocks xmlns:a="http://schemas.openxmlformats.org/drawingml/2006/main" noGrp="1"/>
          </p:cNvSpPr>
          <p:nvPr/>
        </p:nvSpPr>
        <p:spPr>
          <a:xfrm xmlns:a="http://schemas.openxmlformats.org/drawingml/2006/main">
            <a:off x="514350" y="64770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WirSchiffenDas  SEKA</a:t>
            </a:r>
          </a:p>
        </p:txBody>
      </p:sp>
      <p:sp>
        <p:nvSpPr>
          <p:cNvPr id="4" name="11/12">
            <a:extLst xmlns:a="http://schemas.openxmlformats.org/drawingml/2006/main">
              <a:ext uri="{FF2B5EF4-FFF2-40B4-BE49-F238E27FC236}">
                <a16:creationId xmlns:a16="http://schemas.microsoft.com/office/drawing/2014/main" id="{9262F6D5-3873-42DF-9F65-46591F2123EC}"/>
              </a:ext>
            </a:extLst>
          </p:cNvPr>
          <p:cNvSpPr>
            <a:spLocks xmlns:a="http://schemas.openxmlformats.org/drawingml/2006/main" noGrp="1"/>
          </p:cNvSpPr>
          <p:nvPr/>
        </p:nvSpPr>
        <p:spPr>
          <a:xfrm xmlns:a="http://schemas.openxmlformats.org/drawingml/2006/main">
            <a:off x="10668000" y="64770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11/12</a:t>
            </a:r>
          </a:p>
        </p:txBody>
      </p:sp>
      <p:sp>
        <p:nvSpPr>
          <p:cNvPr id="5" name="Shared Persistence">
            <a:extLst xmlns:a="http://schemas.openxmlformats.org/drawingml/2006/main">
              <a:ext uri="{FF2B5EF4-FFF2-40B4-BE49-F238E27FC236}">
                <a16:creationId xmlns:a16="http://schemas.microsoft.com/office/drawing/2014/main" id="{09FE71E4-8563-40FE-A7DB-EA36A3266665}"/>
              </a:ext>
            </a:extLst>
          </p:cNvPr>
          <p:cNvSpPr>
            <a:spLocks xmlns:a="http://schemas.openxmlformats.org/drawingml/2006/main" noGrp="1"/>
          </p:cNvSpPr>
          <p:nvPr/>
        </p:nvSpPr>
        <p:spPr>
          <a:xfrm xmlns:a="http://schemas.openxmlformats.org/drawingml/2006/main">
            <a:off x="628650" y="1638300"/>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440"/>
                </a:solidFill>
                <a:latin typeface="Aptos"/>
                <a:ea typeface="Aptos"/>
                <a:cs typeface="Aptos"/>
              </a:defRPr>
            </a:pPr>
            <a:r>
              <a:rPr sz="2025" b="1">
                <a:solidFill>
                  <a:srgbClr val="172440"/>
                </a:solidFill>
                <a:latin typeface="Aptos"/>
                <a:ea typeface="Aptos"/>
                <a:cs typeface="Aptos"/>
              </a:rPr>
              <a:t>Shared Persistence</a:t>
            </a:r>
          </a:p>
        </p:txBody>
      </p:sp>
      <p:sp>
        <p:nvSpPr>
          <p:cNvPr id="6" name="Separate Datenhoheit für Konfigurationen und Analyseläufe. Kein Servic">
            <a:extLst xmlns:a="http://schemas.openxmlformats.org/drawingml/2006/main">
              <a:ext uri="{FF2B5EF4-FFF2-40B4-BE49-F238E27FC236}">
                <a16:creationId xmlns:a16="http://schemas.microsoft.com/office/drawing/2014/main" id="{CA0AEAD6-7573-480B-87BA-B76DDDFF39BC}"/>
              </a:ext>
            </a:extLst>
          </p:cNvPr>
          <p:cNvSpPr>
            <a:spLocks xmlns:a="http://schemas.openxmlformats.org/drawingml/2006/main" noGrp="1"/>
          </p:cNvSpPr>
          <p:nvPr/>
        </p:nvSpPr>
        <p:spPr>
          <a:xfrm xmlns:a="http://schemas.openxmlformats.org/drawingml/2006/main">
            <a:off x="628650" y="2066925"/>
            <a:ext cx="5143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Separate Datenhoheit für Konfigurationen und Analyseläufe. Kein Service liest die Datenbank eines anderen.</a:t>
            </a:r>
          </a:p>
        </p:txBody>
      </p:sp>
      <p:sp>
        <p:nvSpPr>
          <p:cNvPr id="7" name="Timeouts und Failure Isolation">
            <a:extLst xmlns:a="http://schemas.openxmlformats.org/drawingml/2006/main">
              <a:ext uri="{FF2B5EF4-FFF2-40B4-BE49-F238E27FC236}">
                <a16:creationId xmlns:a16="http://schemas.microsoft.com/office/drawing/2014/main" id="{BFFFFE61-8905-4634-ADDA-46FF3722BF41}"/>
              </a:ext>
            </a:extLst>
          </p:cNvPr>
          <p:cNvSpPr>
            <a:spLocks xmlns:a="http://schemas.openxmlformats.org/drawingml/2006/main" noGrp="1"/>
          </p:cNvSpPr>
          <p:nvPr/>
        </p:nvSpPr>
        <p:spPr>
          <a:xfrm xmlns:a="http://schemas.openxmlformats.org/drawingml/2006/main">
            <a:off x="6419850" y="1638300"/>
            <a:ext cx="51339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440"/>
                </a:solidFill>
                <a:latin typeface="Aptos"/>
                <a:ea typeface="Aptos"/>
                <a:cs typeface="Aptos"/>
              </a:defRPr>
            </a:pPr>
            <a:r>
              <a:rPr sz="2025" b="1">
                <a:solidFill>
                  <a:srgbClr val="172440"/>
                </a:solidFill>
                <a:latin typeface="Aptos"/>
                <a:ea typeface="Aptos"/>
                <a:cs typeface="Aptos"/>
              </a:rPr>
              <a:t>Timeouts und Failure Isolation</a:t>
            </a:r>
          </a:p>
        </p:txBody>
      </p:sp>
      <p:sp>
        <p:nvSpPr>
          <p:cNvPr id="8" name="Begrenzte HTTP-Aufrufe, getrennte Breaker und Watchdog begrenzen Fehle">
            <a:extLst xmlns:a="http://schemas.openxmlformats.org/drawingml/2006/main">
              <a:ext uri="{FF2B5EF4-FFF2-40B4-BE49-F238E27FC236}">
                <a16:creationId xmlns:a16="http://schemas.microsoft.com/office/drawing/2014/main" id="{85E0F759-AC3C-46FB-9B50-7867D87A232E}"/>
              </a:ext>
            </a:extLst>
          </p:cNvPr>
          <p:cNvSpPr>
            <a:spLocks xmlns:a="http://schemas.openxmlformats.org/drawingml/2006/main" noGrp="1"/>
          </p:cNvSpPr>
          <p:nvPr/>
        </p:nvSpPr>
        <p:spPr>
          <a:xfrm xmlns:a="http://schemas.openxmlformats.org/drawingml/2006/main">
            <a:off x="6419850" y="2066925"/>
            <a:ext cx="51339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Begrenzte HTTP-Aufrufe, getrennte Breaker und Watchdog begrenzen Fehlerfolgen. Ein ausgefallener Zielservice blockiert andere Breaker nicht.</a:t>
            </a:r>
          </a:p>
        </p:txBody>
      </p:sp>
      <p:sp>
        <p:nvSpPr>
          <p:cNvPr id="9" name="Prüfbare Eigenschaften">
            <a:extLst xmlns:a="http://schemas.openxmlformats.org/drawingml/2006/main">
              <a:ext uri="{FF2B5EF4-FFF2-40B4-BE49-F238E27FC236}">
                <a16:creationId xmlns:a16="http://schemas.microsoft.com/office/drawing/2014/main" id="{93AD9960-7F78-4819-8632-4D97693B05BC}"/>
              </a:ext>
            </a:extLst>
          </p:cNvPr>
          <p:cNvSpPr>
            <a:spLocks xmlns:a="http://schemas.openxmlformats.org/drawingml/2006/main" noGrp="1"/>
          </p:cNvSpPr>
          <p:nvPr/>
        </p:nvSpPr>
        <p:spPr>
          <a:xfrm xmlns:a="http://schemas.openxmlformats.org/drawingml/2006/main">
            <a:off x="628650" y="3886200"/>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440"/>
                </a:solidFill>
                <a:latin typeface="Aptos"/>
                <a:ea typeface="Aptos"/>
                <a:cs typeface="Aptos"/>
              </a:defRPr>
            </a:pPr>
            <a:r>
              <a:rPr sz="2025" b="1">
                <a:solidFill>
                  <a:srgbClr val="172440"/>
                </a:solidFill>
                <a:latin typeface="Aptos"/>
                <a:ea typeface="Aptos"/>
                <a:cs typeface="Aptos"/>
              </a:rPr>
              <a:t>Prüfbare Eigenschaften</a:t>
            </a:r>
          </a:p>
        </p:txBody>
      </p:sp>
      <p:sp>
        <p:nvSpPr>
          <p:cNvPr id="10" name="Tests für Ergebnisvollständigkeit, Versuch-IDs, parallele Änderungen, ">
            <a:extLst xmlns:a="http://schemas.openxmlformats.org/drawingml/2006/main">
              <a:ext uri="{FF2B5EF4-FFF2-40B4-BE49-F238E27FC236}">
                <a16:creationId xmlns:a16="http://schemas.microsoft.com/office/drawing/2014/main" id="{1D3D9404-D37C-49CA-A881-655FD0B83B2C}"/>
              </a:ext>
            </a:extLst>
          </p:cNvPr>
          <p:cNvSpPr>
            <a:spLocks xmlns:a="http://schemas.openxmlformats.org/drawingml/2006/main" noGrp="1"/>
          </p:cNvSpPr>
          <p:nvPr/>
        </p:nvSpPr>
        <p:spPr>
          <a:xfrm xmlns:a="http://schemas.openxmlformats.org/drawingml/2006/main">
            <a:off x="628650" y="4314825"/>
            <a:ext cx="5143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Tests für Ergebnisvollständigkeit, Versuch-IDs, parallele Änderungen, Callback-Wiederholung sowie Ausfall und Wiederanlauf.</a:t>
            </a:r>
          </a:p>
        </p:txBody>
      </p:sp>
      <p:sp>
        <p:nvSpPr>
          <p:cNvPr id="11" name="Offene Punkte">
            <a:extLst xmlns:a="http://schemas.openxmlformats.org/drawingml/2006/main">
              <a:ext uri="{FF2B5EF4-FFF2-40B4-BE49-F238E27FC236}">
                <a16:creationId xmlns:a16="http://schemas.microsoft.com/office/drawing/2014/main" id="{A37DFDF9-02FD-4F74-91D7-32D05316787D}"/>
              </a:ext>
            </a:extLst>
          </p:cNvPr>
          <p:cNvSpPr>
            <a:spLocks xmlns:a="http://schemas.openxmlformats.org/drawingml/2006/main" noGrp="1"/>
          </p:cNvSpPr>
          <p:nvPr/>
        </p:nvSpPr>
        <p:spPr>
          <a:xfrm xmlns:a="http://schemas.openxmlformats.org/drawingml/2006/main">
            <a:off x="6419850" y="3886200"/>
            <a:ext cx="51339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440"/>
                </a:solidFill>
                <a:latin typeface="Aptos"/>
                <a:ea typeface="Aptos"/>
                <a:cs typeface="Aptos"/>
              </a:defRPr>
            </a:pPr>
            <a:r>
              <a:rPr sz="2025" b="1">
                <a:solidFill>
                  <a:srgbClr val="172440"/>
                </a:solidFill>
                <a:latin typeface="Aptos"/>
                <a:ea typeface="Aptos"/>
                <a:cs typeface="Aptos"/>
              </a:rPr>
              <a:t>Offene Punkte</a:t>
            </a:r>
          </a:p>
        </p:txBody>
      </p:sp>
      <p:sp>
        <p:nvSpPr>
          <p:cNvPr id="12" name="Lokale Logs und Healthchecks ersetzen kein verteiltes Tracing. API-Ver">
            <a:extLst xmlns:a="http://schemas.openxmlformats.org/drawingml/2006/main">
              <a:ext uri="{FF2B5EF4-FFF2-40B4-BE49-F238E27FC236}">
                <a16:creationId xmlns:a16="http://schemas.microsoft.com/office/drawing/2014/main" id="{71C20F91-5F55-4E1B-8F5E-AF1BDBA144D5}"/>
              </a:ext>
            </a:extLst>
          </p:cNvPr>
          <p:cNvSpPr>
            <a:spLocks xmlns:a="http://schemas.openxmlformats.org/drawingml/2006/main" noGrp="1"/>
          </p:cNvSpPr>
          <p:nvPr/>
        </p:nvSpPr>
        <p:spPr>
          <a:xfrm xmlns:a="http://schemas.openxmlformats.org/drawingml/2006/main">
            <a:off x="6419850" y="4314825"/>
            <a:ext cx="51339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Lokale Logs und Healthchecks ersetzen kein verteiltes Tracing. API-Versionierung und automatische CI-Prüfungen fehlen noch.</a:t>
            </a:r>
          </a:p>
        </p:txBody>
      </p:sp>
    </p:spTree>
    <p:extLst>
      <p:ext uri="{BB962C8B-B14F-4D97-AF65-F5344CB8AC3E}">
        <p14:creationId xmlns:p14="http://schemas.microsoft.com/office/powerpoint/2010/main" val="489980099"/>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4C9640-D031-422C-9890-6325CAD28809}"/>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246BFF"/>
          </a:solidFill>
          <a:ln xmlns:a="http://schemas.openxmlformats.org/drawingml/2006/main" w="0">
            <a:noFill/>
          </a:ln>
        </p:spPr>
      </p:sp>
      <p:sp>
        <p:nvSpPr>
          <p:cNvPr id="2" name="Fazit und Grenzen">
            <a:extLst xmlns:a="http://schemas.openxmlformats.org/drawingml/2006/main">
              <a:ext uri="{FF2B5EF4-FFF2-40B4-BE49-F238E27FC236}">
                <a16:creationId xmlns:a16="http://schemas.microsoft.com/office/drawing/2014/main" id="{ACF9AAFB-54DB-4278-84DA-ADBDDC3B0C62}"/>
              </a:ext>
            </a:extLst>
          </p:cNvPr>
          <p:cNvSpPr>
            <a:spLocks xmlns:a="http://schemas.openxmlformats.org/drawingml/2006/main" noGrp="1"/>
          </p:cNvSpPr>
          <p:nvPr/>
        </p:nvSpPr>
        <p:spPr>
          <a:xfrm xmlns:a="http://schemas.openxmlformats.org/drawingml/2006/main">
            <a:off x="514350" y="3429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2440"/>
                </a:solidFill>
                <a:latin typeface="Aptos"/>
                <a:ea typeface="Aptos"/>
                <a:cs typeface="Aptos"/>
              </a:defRPr>
            </a:pPr>
            <a:r>
              <a:rPr sz="3000" b="1">
                <a:solidFill>
                  <a:srgbClr val="172440"/>
                </a:solidFill>
                <a:latin typeface="Aptos"/>
                <a:ea typeface="Aptos"/>
                <a:cs typeface="Aptos"/>
              </a:rPr>
              <a:t>Fazit und Grenzen</a:t>
            </a:r>
          </a:p>
        </p:txBody>
      </p:sp>
      <p:sp>
        <p:nvSpPr>
          <p:cNvPr id="3" name="WirSchiffenDas  SEKA">
            <a:extLst xmlns:a="http://schemas.openxmlformats.org/drawingml/2006/main">
              <a:ext uri="{FF2B5EF4-FFF2-40B4-BE49-F238E27FC236}">
                <a16:creationId xmlns:a16="http://schemas.microsoft.com/office/drawing/2014/main" id="{3BA8B97A-5D9E-4501-ACBC-B401C3E9785D}"/>
              </a:ext>
            </a:extLst>
          </p:cNvPr>
          <p:cNvSpPr>
            <a:spLocks xmlns:a="http://schemas.openxmlformats.org/drawingml/2006/main" noGrp="1"/>
          </p:cNvSpPr>
          <p:nvPr/>
        </p:nvSpPr>
        <p:spPr>
          <a:xfrm xmlns:a="http://schemas.openxmlformats.org/drawingml/2006/main">
            <a:off x="514350" y="64770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WirSchiffenDas  SEKA</a:t>
            </a:r>
          </a:p>
        </p:txBody>
      </p:sp>
      <p:sp>
        <p:nvSpPr>
          <p:cNvPr id="4" name="12/12">
            <a:extLst xmlns:a="http://schemas.openxmlformats.org/drawingml/2006/main">
              <a:ext uri="{FF2B5EF4-FFF2-40B4-BE49-F238E27FC236}">
                <a16:creationId xmlns:a16="http://schemas.microsoft.com/office/drawing/2014/main" id="{5371039C-DDF1-4FBD-8232-71CD55B1F47B}"/>
              </a:ext>
            </a:extLst>
          </p:cNvPr>
          <p:cNvSpPr>
            <a:spLocks xmlns:a="http://schemas.openxmlformats.org/drawingml/2006/main" noGrp="1"/>
          </p:cNvSpPr>
          <p:nvPr/>
        </p:nvSpPr>
        <p:spPr>
          <a:xfrm xmlns:a="http://schemas.openxmlformats.org/drawingml/2006/main">
            <a:off x="10668000" y="64770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B82"/>
                </a:solidFill>
                <a:latin typeface="Aptos"/>
                <a:ea typeface="Aptos"/>
                <a:cs typeface="Aptos"/>
              </a:defRPr>
            </a:pPr>
            <a:r>
              <a:rPr sz="975" b="0">
                <a:solidFill>
                  <a:srgbClr val="5B6B82"/>
                </a:solidFill>
                <a:latin typeface="Aptos"/>
                <a:ea typeface="Aptos"/>
                <a:cs typeface="Aptos"/>
              </a:rPr>
              <a:t>12/12</a:t>
            </a:r>
          </a:p>
        </p:txBody>
      </p:sp>
      <p:sp>
        <p:nvSpPr>
          <p:cNvPr id="5" name="Die Analyse liefert vollständige Einzelresultate und">
            <a:extLst xmlns:a="http://schemas.openxmlformats.org/drawingml/2006/main">
              <a:ext uri="{FF2B5EF4-FFF2-40B4-BE49-F238E27FC236}">
                <a16:creationId xmlns:a16="http://schemas.microsoft.com/office/drawing/2014/main" id="{A3630A3C-30E6-4E0D-A4A0-B2E7F70B51CD}"/>
              </a:ext>
            </a:extLst>
          </p:cNvPr>
          <p:cNvSpPr>
            <a:spLocks xmlns:a="http://schemas.openxmlformats.org/drawingml/2006/main" noGrp="1"/>
          </p:cNvSpPr>
          <p:nvPr/>
        </p:nvSpPr>
        <p:spPr>
          <a:xfrm xmlns:a="http://schemas.openxmlformats.org/drawingml/2006/main">
            <a:off x="638175" y="1638300"/>
            <a:ext cx="108013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46BFF"/>
                </a:solidFill>
                <a:latin typeface="Aptos"/>
                <a:ea typeface="Aptos"/>
                <a:cs typeface="Aptos"/>
              </a:defRPr>
            </a:pPr>
            <a:r>
              <a:rPr sz="2625" b="1">
                <a:solidFill>
                  <a:srgbClr val="246BFF"/>
                </a:solidFill>
                <a:latin typeface="Aptos"/>
                <a:ea typeface="Aptos"/>
                <a:cs typeface="Aptos"/>
              </a:rPr>
              <a:t>Die Analyse liefert vollständige Einzelresultate und</a:t>
            </a:r>
          </a:p>
          <a:p xmlns:a="http://schemas.openxmlformats.org/drawingml/2006/main">
            <a:pPr algn="l">
              <a:defRPr sz="2625" b="1">
                <a:solidFill>
                  <a:srgbClr val="246BFF"/>
                </a:solidFill>
                <a:latin typeface="Aptos"/>
                <a:ea typeface="Aptos"/>
                <a:cs typeface="Aptos"/>
              </a:defRPr>
            </a:pPr>
            <a:r>
              <a:rPr sz="2625" b="1">
                <a:solidFill>
                  <a:srgbClr val="246BFF"/>
                </a:solidFill>
                <a:latin typeface="Aptos"/>
                <a:ea typeface="Aptos"/>
                <a:cs typeface="Aptos"/>
              </a:rPr>
              <a:t>einen nachvollziehbaren Weg durch Fehler und Retry.</a:t>
            </a:r>
          </a:p>
        </p:txBody>
      </p:sp>
      <p:sp>
        <p:nvSpPr>
          <p:cNvPr id="6" name="Erkenntnis">
            <a:extLst xmlns:a="http://schemas.openxmlformats.org/drawingml/2006/main">
              <a:ext uri="{FF2B5EF4-FFF2-40B4-BE49-F238E27FC236}">
                <a16:creationId xmlns:a16="http://schemas.microsoft.com/office/drawing/2014/main" id="{DCC563A1-83CA-4F29-8013-2EDAF36D22BC}"/>
              </a:ext>
            </a:extLst>
          </p:cNvPr>
          <p:cNvSpPr>
            <a:spLocks xmlns:a="http://schemas.openxmlformats.org/drawingml/2006/main" noGrp="1"/>
          </p:cNvSpPr>
          <p:nvPr/>
        </p:nvSpPr>
        <p:spPr>
          <a:xfrm xmlns:a="http://schemas.openxmlformats.org/drawingml/2006/main">
            <a:off x="638175" y="3276600"/>
            <a:ext cx="506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440"/>
                </a:solidFill>
                <a:latin typeface="Aptos"/>
                <a:ea typeface="Aptos"/>
                <a:cs typeface="Aptos"/>
              </a:defRPr>
            </a:pPr>
            <a:r>
              <a:rPr sz="2025" b="1">
                <a:solidFill>
                  <a:srgbClr val="172440"/>
                </a:solidFill>
                <a:latin typeface="Aptos"/>
                <a:ea typeface="Aptos"/>
                <a:cs typeface="Aptos"/>
              </a:rPr>
              <a:t>Erkenntnis</a:t>
            </a:r>
          </a:p>
        </p:txBody>
      </p:sp>
      <p:sp>
        <p:nvSpPr>
          <p:cNvPr id="7" name="Servicegrenzen allein sichern keinen Ablauf. Dafür braucht es Ergebnis">
            <a:extLst xmlns:a="http://schemas.openxmlformats.org/drawingml/2006/main">
              <a:ext uri="{FF2B5EF4-FFF2-40B4-BE49-F238E27FC236}">
                <a16:creationId xmlns:a16="http://schemas.microsoft.com/office/drawing/2014/main" id="{B5B2415D-D927-49C7-B3CF-112A5A484B69}"/>
              </a:ext>
            </a:extLst>
          </p:cNvPr>
          <p:cNvSpPr>
            <a:spLocks xmlns:a="http://schemas.openxmlformats.org/drawingml/2006/main" noGrp="1"/>
          </p:cNvSpPr>
          <p:nvPr/>
        </p:nvSpPr>
        <p:spPr>
          <a:xfrm xmlns:a="http://schemas.openxmlformats.org/drawingml/2006/main">
            <a:off x="638175" y="3705225"/>
            <a:ext cx="5067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Servicegrenzen allein sichern keinen Ablauf. Dafür braucht es Ergebnisverträge, Versuch-IDs und Regeln für unklare Zustellung.</a:t>
            </a:r>
          </a:p>
        </p:txBody>
      </p:sp>
      <p:sp>
        <p:nvSpPr>
          <p:cNvPr id="8" name="Grenzen des Prototyps">
            <a:extLst xmlns:a="http://schemas.openxmlformats.org/drawingml/2006/main">
              <a:ext uri="{FF2B5EF4-FFF2-40B4-BE49-F238E27FC236}">
                <a16:creationId xmlns:a16="http://schemas.microsoft.com/office/drawing/2014/main" id="{2E067F45-6E2F-4362-A2E0-7714E0835E3F}"/>
              </a:ext>
            </a:extLst>
          </p:cNvPr>
          <p:cNvSpPr>
            <a:spLocks xmlns:a="http://schemas.openxmlformats.org/drawingml/2006/main" noGrp="1"/>
          </p:cNvSpPr>
          <p:nvPr/>
        </p:nvSpPr>
        <p:spPr>
          <a:xfrm xmlns:a="http://schemas.openxmlformats.org/drawingml/2006/main">
            <a:off x="6429375" y="3276600"/>
            <a:ext cx="506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440"/>
                </a:solidFill>
                <a:latin typeface="Aptos"/>
                <a:ea typeface="Aptos"/>
                <a:cs typeface="Aptos"/>
              </a:defRPr>
            </a:pPr>
            <a:r>
              <a:rPr sz="2025" b="1">
                <a:solidFill>
                  <a:srgbClr val="172440"/>
                </a:solidFill>
                <a:latin typeface="Aptos"/>
                <a:ea typeface="Aptos"/>
                <a:cs typeface="Aptos"/>
              </a:rPr>
              <a:t>Grenzen des Prototyps</a:t>
            </a:r>
          </a:p>
        </p:txBody>
      </p:sp>
      <p:sp>
        <p:nvSpPr>
          <p:cNvPr id="9" name="Simulierte Fachlogik, lokale Worker-Deduplizierung und ein einzelner D">
            <a:extLst xmlns:a="http://schemas.openxmlformats.org/drawingml/2006/main">
              <a:ext uri="{FF2B5EF4-FFF2-40B4-BE49-F238E27FC236}">
                <a16:creationId xmlns:a16="http://schemas.microsoft.com/office/drawing/2014/main" id="{D1081A30-6316-4D09-B7EE-C662B5BD9210}"/>
              </a:ext>
            </a:extLst>
          </p:cNvPr>
          <p:cNvSpPr>
            <a:spLocks xmlns:a="http://schemas.openxmlformats.org/drawingml/2006/main" noGrp="1"/>
          </p:cNvSpPr>
          <p:nvPr/>
        </p:nvSpPr>
        <p:spPr>
          <a:xfrm xmlns:a="http://schemas.openxmlformats.org/drawingml/2006/main">
            <a:off x="6429375" y="3705225"/>
            <a:ext cx="5067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B82"/>
                </a:solidFill>
                <a:latin typeface="Aptos"/>
                <a:ea typeface="Aptos"/>
                <a:cs typeface="Aptos"/>
              </a:defRPr>
            </a:pPr>
            <a:r>
              <a:rPr sz="1800" b="0">
                <a:solidFill>
                  <a:srgbClr val="5B6B82"/>
                </a:solidFill>
                <a:latin typeface="Aptos"/>
                <a:ea typeface="Aptos"/>
                <a:cs typeface="Aptos"/>
              </a:rPr>
              <a:t>Simulierte Fachlogik, lokale Worker-Deduplizierung und ein einzelner Docker-Host. Keine dauerhafte Queue und kein Hochverfügbarkeitsnachweis.</a:t>
            </a:r>
          </a:p>
        </p:txBody>
      </p:sp>
      <p:sp>
        <p:nvSpPr>
          <p:cNvPr id="10" name="Nächste sinnvolle Schritte: dauerhafte Zustellung und bessere Betriebs">
            <a:extLst xmlns:a="http://schemas.openxmlformats.org/drawingml/2006/main">
              <a:ext uri="{FF2B5EF4-FFF2-40B4-BE49-F238E27FC236}">
                <a16:creationId xmlns:a16="http://schemas.microsoft.com/office/drawing/2014/main" id="{805D471C-A98D-4EB8-9A08-CFB6838F7E1B}"/>
              </a:ext>
            </a:extLst>
          </p:cNvPr>
          <p:cNvSpPr>
            <a:spLocks xmlns:a="http://schemas.openxmlformats.org/drawingml/2006/main" noGrp="1"/>
          </p:cNvSpPr>
          <p:nvPr/>
        </p:nvSpPr>
        <p:spPr>
          <a:xfrm xmlns:a="http://schemas.openxmlformats.org/drawingml/2006/main">
            <a:off x="638175" y="56959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B6B82"/>
                </a:solidFill>
                <a:latin typeface="Aptos"/>
                <a:ea typeface="Aptos"/>
                <a:cs typeface="Aptos"/>
              </a:defRPr>
            </a:pPr>
            <a:r>
              <a:rPr sz="1875" b="0">
                <a:solidFill>
                  <a:srgbClr val="5B6B82"/>
                </a:solidFill>
                <a:latin typeface="Aptos"/>
                <a:ea typeface="Aptos"/>
                <a:cs typeface="Aptos"/>
              </a:rPr>
              <a:t>Nächste sinnvolle Schritte: dauerhafte Zustellung und bessere Betriebsbeobachtung</a:t>
            </a:r>
          </a:p>
        </p:txBody>
      </p:sp>
    </p:spTree>
    <p:extLst>
      <p:ext uri="{BB962C8B-B14F-4D97-AF65-F5344CB8AC3E}">
        <p14:creationId xmlns:p14="http://schemas.microsoft.com/office/powerpoint/2010/main" val="51787528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2026-09-16T15:27:51.3580000Z</dcterms:created>
  <dcterms:modified xsi:type="dcterms:W3CDTF">2026-09-16T15:27:51.3580000Z</dcterms:modified>
</coreProperties>
</file>